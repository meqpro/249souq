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8288000" cy="10287000"/>
  <p:notesSz cx="6858000" cy="9144000"/>
  <p:embeddedFontLst>
    <p:embeddedFont>
      <p:font typeface="Calibri (MS)" panose="020B0604020202020204" charset="0"/>
      <p:regular r:id="rId14"/>
    </p:embeddedFont>
    <p:embeddedFont>
      <p:font typeface="Calibri (MS) Bold" panose="020B0604020202020204" charset="0"/>
      <p:regular r:id="rId15"/>
    </p:embeddedFont>
    <p:embeddedFont>
      <p:font typeface="Calibri (MS) Bold Italics" panose="020B0604020202020204" charset="0"/>
      <p:regular r:id="rId16"/>
    </p:embeddedFont>
    <p:embeddedFont>
      <p:font typeface="Calibri (MS) Italics" panose="020B0604020202020204" charset="0"/>
      <p:regular r:id="rId17"/>
    </p:embeddedFont>
    <p:embeddedFont>
      <p:font typeface="Garamond Bold" panose="02020804030307010803" pitchFamily="18" charset="0"/>
      <p:regular r:id="rId18"/>
      <p:bold r:id="rId19"/>
    </p:embeddedFont>
    <p:embeddedFont>
      <p:font typeface="Garamond Bold Italics" panose="020B0604020202020204" charset="0"/>
      <p:regular r:id="rId20"/>
    </p:embeddedFont>
    <p:embeddedFont>
      <p:font typeface="Garamond Italics" panose="020B0604020202020204" charset="0"/>
      <p:regular r:id="rId21"/>
    </p:embeddedFont>
    <p:embeddedFont>
      <p:font typeface="Impact" panose="020B0806030902050204" pitchFamily="34" charset="0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1" d="100"/>
          <a:sy n="51" d="100"/>
        </p:scale>
        <p:origin x="898" y="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5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font" Target="fonts/font9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22-May-26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22-May-26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22-May-26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22-May-26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22-May-26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22-May-26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22-May-26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22-May-26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22-May-26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22-May-26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22-May-26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22-May-26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9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9999"/>
            </a:blip>
            <a:stretch>
              <a:fillRect t="-26" b="-26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0" y="0"/>
            <a:ext cx="109814" cy="10295039"/>
            <a:chOff x="0" y="0"/>
            <a:chExt cx="146418" cy="13726719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46431" cy="13726668"/>
            </a:xfrm>
            <a:custGeom>
              <a:avLst/>
              <a:gdLst/>
              <a:ahLst/>
              <a:cxnLst/>
              <a:rect l="l" t="t" r="r" b="b"/>
              <a:pathLst>
                <a:path w="146431" h="13726668">
                  <a:moveTo>
                    <a:pt x="0" y="0"/>
                  </a:moveTo>
                  <a:lnTo>
                    <a:pt x="146431" y="0"/>
                  </a:lnTo>
                  <a:lnTo>
                    <a:pt x="146431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B89650"/>
            </a:solidFill>
          </p:spPr>
        </p:sp>
      </p:grpSp>
      <p:grpSp>
        <p:nvGrpSpPr>
          <p:cNvPr id="5" name="Group 5"/>
          <p:cNvGrpSpPr/>
          <p:nvPr/>
        </p:nvGrpSpPr>
        <p:grpSpPr>
          <a:xfrm>
            <a:off x="6035953" y="0"/>
            <a:ext cx="12228921" cy="9987469"/>
            <a:chOff x="0" y="0"/>
            <a:chExt cx="8892984" cy="7262980"/>
          </a:xfrm>
        </p:grpSpPr>
        <p:sp>
          <p:nvSpPr>
            <p:cNvPr id="6" name="Freeform 6"/>
            <p:cNvSpPr/>
            <p:nvPr/>
          </p:nvSpPr>
          <p:spPr>
            <a:xfrm>
              <a:off x="12308" y="11036"/>
              <a:ext cx="8880677" cy="7249135"/>
            </a:xfrm>
            <a:custGeom>
              <a:avLst/>
              <a:gdLst/>
              <a:ahLst/>
              <a:cxnLst/>
              <a:rect l="l" t="t" r="r" b="b"/>
              <a:pathLst>
                <a:path w="8880677" h="7249135">
                  <a:moveTo>
                    <a:pt x="8852505" y="7231034"/>
                  </a:moveTo>
                  <a:cubicBezTo>
                    <a:pt x="6598804" y="7255754"/>
                    <a:pt x="4200629" y="7232196"/>
                    <a:pt x="1958919" y="7242506"/>
                  </a:cubicBezTo>
                  <a:cubicBezTo>
                    <a:pt x="1489715" y="7234229"/>
                    <a:pt x="982442" y="7257151"/>
                    <a:pt x="493252" y="7243377"/>
                  </a:cubicBezTo>
                  <a:cubicBezTo>
                    <a:pt x="383232" y="7234519"/>
                    <a:pt x="-142737" y="7335510"/>
                    <a:pt x="171376" y="6951655"/>
                  </a:cubicBezTo>
                  <a:cubicBezTo>
                    <a:pt x="307474" y="6888199"/>
                    <a:pt x="152342" y="6778277"/>
                    <a:pt x="198596" y="6678085"/>
                  </a:cubicBezTo>
                  <a:cubicBezTo>
                    <a:pt x="369337" y="6547399"/>
                    <a:pt x="171947" y="6351223"/>
                    <a:pt x="62117" y="6152580"/>
                  </a:cubicBezTo>
                  <a:cubicBezTo>
                    <a:pt x="52981" y="5987479"/>
                    <a:pt x="231716" y="5854614"/>
                    <a:pt x="121505" y="5678768"/>
                  </a:cubicBezTo>
                  <a:cubicBezTo>
                    <a:pt x="131594" y="5595274"/>
                    <a:pt x="125693" y="5448469"/>
                    <a:pt x="24238" y="5378334"/>
                  </a:cubicBezTo>
                  <a:cubicBezTo>
                    <a:pt x="-81777" y="5320396"/>
                    <a:pt x="196883" y="5143243"/>
                    <a:pt x="154245" y="4984386"/>
                  </a:cubicBezTo>
                  <a:cubicBezTo>
                    <a:pt x="166808" y="4838018"/>
                    <a:pt x="151580" y="4668415"/>
                    <a:pt x="113321" y="4495328"/>
                  </a:cubicBezTo>
                  <a:cubicBezTo>
                    <a:pt x="123028" y="4435938"/>
                    <a:pt x="165856" y="4381340"/>
                    <a:pt x="148915" y="4324274"/>
                  </a:cubicBezTo>
                  <a:cubicBezTo>
                    <a:pt x="154626" y="4241070"/>
                    <a:pt x="293008" y="4157867"/>
                    <a:pt x="190982" y="4088167"/>
                  </a:cubicBezTo>
                  <a:cubicBezTo>
                    <a:pt x="173280" y="4076405"/>
                    <a:pt x="193837" y="4056511"/>
                    <a:pt x="216108" y="4035166"/>
                  </a:cubicBezTo>
                  <a:cubicBezTo>
                    <a:pt x="200309" y="4024130"/>
                    <a:pt x="70683" y="3860191"/>
                    <a:pt x="127787" y="3792815"/>
                  </a:cubicBezTo>
                  <a:cubicBezTo>
                    <a:pt x="124551" y="3720066"/>
                    <a:pt x="238759" y="3728488"/>
                    <a:pt x="128168" y="3569776"/>
                  </a:cubicBezTo>
                  <a:cubicBezTo>
                    <a:pt x="54694" y="3554094"/>
                    <a:pt x="289010" y="3359371"/>
                    <a:pt x="389323" y="3214019"/>
                  </a:cubicBezTo>
                  <a:cubicBezTo>
                    <a:pt x="360010" y="3131250"/>
                    <a:pt x="434435" y="3060244"/>
                    <a:pt x="465842" y="2976605"/>
                  </a:cubicBezTo>
                  <a:cubicBezTo>
                    <a:pt x="499343" y="2854921"/>
                    <a:pt x="465461" y="2780284"/>
                    <a:pt x="639248" y="2671524"/>
                  </a:cubicBezTo>
                  <a:cubicBezTo>
                    <a:pt x="690261" y="2587304"/>
                    <a:pt x="561015" y="2491467"/>
                    <a:pt x="625733" y="2362958"/>
                  </a:cubicBezTo>
                  <a:cubicBezTo>
                    <a:pt x="597562" y="2345679"/>
                    <a:pt x="676936" y="2326221"/>
                    <a:pt x="625923" y="2296889"/>
                  </a:cubicBezTo>
                  <a:cubicBezTo>
                    <a:pt x="603272" y="2273656"/>
                    <a:pt x="557779" y="2278448"/>
                    <a:pt x="601940" y="2229949"/>
                  </a:cubicBezTo>
                  <a:cubicBezTo>
                    <a:pt x="586141" y="2210491"/>
                    <a:pt x="652953" y="2070656"/>
                    <a:pt x="617548" y="1969447"/>
                  </a:cubicBezTo>
                  <a:cubicBezTo>
                    <a:pt x="611457" y="1957249"/>
                    <a:pt x="711579" y="1913832"/>
                    <a:pt x="671797" y="1883919"/>
                  </a:cubicBezTo>
                  <a:cubicBezTo>
                    <a:pt x="716719" y="1814365"/>
                    <a:pt x="569771" y="1772691"/>
                    <a:pt x="694258" y="1613543"/>
                  </a:cubicBezTo>
                  <a:cubicBezTo>
                    <a:pt x="622307" y="1573902"/>
                    <a:pt x="648765" y="1526564"/>
                    <a:pt x="642484" y="1480098"/>
                  </a:cubicBezTo>
                  <a:cubicBezTo>
                    <a:pt x="726426" y="1404590"/>
                    <a:pt x="759737" y="1246169"/>
                    <a:pt x="946848" y="962289"/>
                  </a:cubicBezTo>
                  <a:cubicBezTo>
                    <a:pt x="1045828" y="863548"/>
                    <a:pt x="1033646" y="715146"/>
                    <a:pt x="1160226" y="463647"/>
                  </a:cubicBezTo>
                  <a:cubicBezTo>
                    <a:pt x="1121205" y="431556"/>
                    <a:pt x="1324685" y="442737"/>
                    <a:pt x="1462306" y="236978"/>
                  </a:cubicBezTo>
                  <a:cubicBezTo>
                    <a:pt x="1439083" y="159292"/>
                    <a:pt x="1592693" y="87414"/>
                    <a:pt x="1527785" y="0"/>
                  </a:cubicBezTo>
                  <a:cubicBezTo>
                    <a:pt x="2145649" y="11035"/>
                    <a:pt x="2896376" y="-872"/>
                    <a:pt x="3648244" y="2323"/>
                  </a:cubicBezTo>
                  <a:cubicBezTo>
                    <a:pt x="5168351" y="6534"/>
                    <a:pt x="6579008" y="3630"/>
                    <a:pt x="8078747" y="2613"/>
                  </a:cubicBezTo>
                  <a:cubicBezTo>
                    <a:pt x="9090861" y="107308"/>
                    <a:pt x="8786074" y="-600951"/>
                    <a:pt x="8880676" y="2612425"/>
                  </a:cubicBezTo>
                  <a:cubicBezTo>
                    <a:pt x="8829663" y="4117063"/>
                    <a:pt x="8900361" y="5808438"/>
                    <a:pt x="8852505" y="7231034"/>
                  </a:cubicBezTo>
                  <a:close/>
                </a:path>
              </a:pathLst>
            </a:custGeom>
            <a:blipFill>
              <a:blip r:embed="rId2"/>
              <a:stretch>
                <a:fillRect l="-49622" t="-304" b="-2675"/>
              </a:stretch>
            </a:blipFill>
          </p:spPr>
        </p:sp>
      </p:grpSp>
      <p:grpSp>
        <p:nvGrpSpPr>
          <p:cNvPr id="7" name="Group 7"/>
          <p:cNvGrpSpPr/>
          <p:nvPr/>
        </p:nvGrpSpPr>
        <p:grpSpPr>
          <a:xfrm>
            <a:off x="109814" y="9361627"/>
            <a:ext cx="18187911" cy="576520"/>
            <a:chOff x="0" y="0"/>
            <a:chExt cx="24250548" cy="768693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4250523" cy="768731"/>
            </a:xfrm>
            <a:custGeom>
              <a:avLst/>
              <a:gdLst/>
              <a:ahLst/>
              <a:cxnLst/>
              <a:rect l="l" t="t" r="r" b="b"/>
              <a:pathLst>
                <a:path w="24250523" h="768731">
                  <a:moveTo>
                    <a:pt x="0" y="0"/>
                  </a:moveTo>
                  <a:lnTo>
                    <a:pt x="24250523" y="0"/>
                  </a:lnTo>
                  <a:lnTo>
                    <a:pt x="24250523" y="768731"/>
                  </a:lnTo>
                  <a:lnTo>
                    <a:pt x="0" y="768731"/>
                  </a:lnTo>
                  <a:close/>
                </a:path>
              </a:pathLst>
            </a:custGeom>
            <a:solidFill>
              <a:srgbClr val="B89650"/>
            </a:solidFill>
          </p:spPr>
        </p:sp>
      </p:grpSp>
      <p:grpSp>
        <p:nvGrpSpPr>
          <p:cNvPr id="9" name="Group 9"/>
          <p:cNvGrpSpPr/>
          <p:nvPr/>
        </p:nvGrpSpPr>
        <p:grpSpPr>
          <a:xfrm>
            <a:off x="109814" y="9361627"/>
            <a:ext cx="18187911" cy="576520"/>
            <a:chOff x="0" y="0"/>
            <a:chExt cx="24250548" cy="768693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4250523" cy="768731"/>
            </a:xfrm>
            <a:custGeom>
              <a:avLst/>
              <a:gdLst/>
              <a:ahLst/>
              <a:cxnLst/>
              <a:rect l="l" t="t" r="r" b="b"/>
              <a:pathLst>
                <a:path w="24250523" h="768731">
                  <a:moveTo>
                    <a:pt x="0" y="0"/>
                  </a:moveTo>
                  <a:lnTo>
                    <a:pt x="24250523" y="0"/>
                  </a:lnTo>
                  <a:lnTo>
                    <a:pt x="24250523" y="768731"/>
                  </a:lnTo>
                  <a:lnTo>
                    <a:pt x="0" y="768731"/>
                  </a:lnTo>
                  <a:close/>
                </a:path>
              </a:pathLst>
            </a:custGeom>
            <a:solidFill>
              <a:srgbClr val="B89650"/>
            </a:solidFill>
          </p:spPr>
        </p:sp>
      </p:grpSp>
      <p:grpSp>
        <p:nvGrpSpPr>
          <p:cNvPr id="11" name="Group 11"/>
          <p:cNvGrpSpPr/>
          <p:nvPr/>
        </p:nvGrpSpPr>
        <p:grpSpPr>
          <a:xfrm>
            <a:off x="564799" y="4016721"/>
            <a:ext cx="3431677" cy="82363"/>
            <a:chOff x="0" y="0"/>
            <a:chExt cx="4575569" cy="109817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4575556" cy="109855"/>
            </a:xfrm>
            <a:custGeom>
              <a:avLst/>
              <a:gdLst/>
              <a:ahLst/>
              <a:cxnLst/>
              <a:rect l="l" t="t" r="r" b="b"/>
              <a:pathLst>
                <a:path w="4575556" h="109855">
                  <a:moveTo>
                    <a:pt x="0" y="0"/>
                  </a:moveTo>
                  <a:lnTo>
                    <a:pt x="4575556" y="0"/>
                  </a:lnTo>
                  <a:lnTo>
                    <a:pt x="4575556" y="109855"/>
                  </a:lnTo>
                  <a:lnTo>
                    <a:pt x="0" y="109855"/>
                  </a:lnTo>
                  <a:close/>
                </a:path>
              </a:pathLst>
            </a:custGeom>
            <a:solidFill>
              <a:srgbClr val="B89650"/>
            </a:solidFill>
          </p:spPr>
        </p:sp>
      </p:grpSp>
      <p:grpSp>
        <p:nvGrpSpPr>
          <p:cNvPr id="13" name="Group 13"/>
          <p:cNvGrpSpPr/>
          <p:nvPr/>
        </p:nvGrpSpPr>
        <p:grpSpPr>
          <a:xfrm>
            <a:off x="503244" y="5909487"/>
            <a:ext cx="7885781" cy="35846"/>
            <a:chOff x="0" y="0"/>
            <a:chExt cx="10066261" cy="45758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0066274" cy="45720"/>
            </a:xfrm>
            <a:custGeom>
              <a:avLst/>
              <a:gdLst/>
              <a:ahLst/>
              <a:cxnLst/>
              <a:rect l="l" t="t" r="r" b="b"/>
              <a:pathLst>
                <a:path w="10066274" h="45720">
                  <a:moveTo>
                    <a:pt x="0" y="0"/>
                  </a:moveTo>
                  <a:lnTo>
                    <a:pt x="10066274" y="0"/>
                  </a:lnTo>
                  <a:lnTo>
                    <a:pt x="10066274" y="45720"/>
                  </a:lnTo>
                  <a:lnTo>
                    <a:pt x="0" y="45720"/>
                  </a:lnTo>
                  <a:close/>
                </a:path>
              </a:pathLst>
            </a:custGeom>
            <a:solidFill>
              <a:srgbClr val="D8BE82"/>
            </a:solidFill>
          </p:spPr>
        </p:sp>
      </p:grpSp>
      <p:grpSp>
        <p:nvGrpSpPr>
          <p:cNvPr id="15" name="Group 15"/>
          <p:cNvGrpSpPr/>
          <p:nvPr/>
        </p:nvGrpSpPr>
        <p:grpSpPr>
          <a:xfrm>
            <a:off x="10173505" y="5910705"/>
            <a:ext cx="7617885" cy="34629"/>
            <a:chOff x="0" y="0"/>
            <a:chExt cx="10066261" cy="45758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0066274" cy="45720"/>
            </a:xfrm>
            <a:custGeom>
              <a:avLst/>
              <a:gdLst/>
              <a:ahLst/>
              <a:cxnLst/>
              <a:rect l="l" t="t" r="r" b="b"/>
              <a:pathLst>
                <a:path w="10066274" h="45720">
                  <a:moveTo>
                    <a:pt x="0" y="0"/>
                  </a:moveTo>
                  <a:lnTo>
                    <a:pt x="10066274" y="0"/>
                  </a:lnTo>
                  <a:lnTo>
                    <a:pt x="10066274" y="45720"/>
                  </a:lnTo>
                  <a:lnTo>
                    <a:pt x="0" y="45720"/>
                  </a:lnTo>
                  <a:close/>
                </a:path>
              </a:pathLst>
            </a:custGeom>
            <a:solidFill>
              <a:srgbClr val="D8BE82"/>
            </a:solidFill>
          </p:spPr>
        </p:sp>
      </p:grpSp>
      <p:grpSp>
        <p:nvGrpSpPr>
          <p:cNvPr id="17" name="Group 17"/>
          <p:cNvGrpSpPr/>
          <p:nvPr/>
        </p:nvGrpSpPr>
        <p:grpSpPr>
          <a:xfrm>
            <a:off x="8663564" y="5801201"/>
            <a:ext cx="274539" cy="274539"/>
            <a:chOff x="0" y="0"/>
            <a:chExt cx="366052" cy="366052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366014" cy="366014"/>
            </a:xfrm>
            <a:custGeom>
              <a:avLst/>
              <a:gdLst/>
              <a:ahLst/>
              <a:cxnLst/>
              <a:rect l="l" t="t" r="r" b="b"/>
              <a:pathLst>
                <a:path w="366014" h="366014">
                  <a:moveTo>
                    <a:pt x="0" y="183007"/>
                  </a:moveTo>
                  <a:cubicBezTo>
                    <a:pt x="0" y="81915"/>
                    <a:pt x="81915" y="0"/>
                    <a:pt x="183007" y="0"/>
                  </a:cubicBezTo>
                  <a:cubicBezTo>
                    <a:pt x="284099" y="0"/>
                    <a:pt x="366014" y="81915"/>
                    <a:pt x="366014" y="183007"/>
                  </a:cubicBezTo>
                  <a:cubicBezTo>
                    <a:pt x="366014" y="284099"/>
                    <a:pt x="284099" y="366014"/>
                    <a:pt x="183007" y="366014"/>
                  </a:cubicBezTo>
                  <a:cubicBezTo>
                    <a:pt x="81915" y="366014"/>
                    <a:pt x="0" y="284099"/>
                    <a:pt x="0" y="183007"/>
                  </a:cubicBezTo>
                  <a:close/>
                </a:path>
              </a:pathLst>
            </a:custGeom>
            <a:solidFill>
              <a:srgbClr val="B89650"/>
            </a:solidFill>
          </p:spPr>
        </p:sp>
      </p:grpSp>
      <p:grpSp>
        <p:nvGrpSpPr>
          <p:cNvPr id="19" name="Group 19"/>
          <p:cNvGrpSpPr/>
          <p:nvPr/>
        </p:nvGrpSpPr>
        <p:grpSpPr>
          <a:xfrm>
            <a:off x="9006730" y="5801201"/>
            <a:ext cx="274539" cy="274539"/>
            <a:chOff x="0" y="0"/>
            <a:chExt cx="366052" cy="366052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366014" cy="366014"/>
            </a:xfrm>
            <a:custGeom>
              <a:avLst/>
              <a:gdLst/>
              <a:ahLst/>
              <a:cxnLst/>
              <a:rect l="l" t="t" r="r" b="b"/>
              <a:pathLst>
                <a:path w="366014" h="366014">
                  <a:moveTo>
                    <a:pt x="0" y="183007"/>
                  </a:moveTo>
                  <a:cubicBezTo>
                    <a:pt x="0" y="81915"/>
                    <a:pt x="81915" y="0"/>
                    <a:pt x="183007" y="0"/>
                  </a:cubicBezTo>
                  <a:cubicBezTo>
                    <a:pt x="284099" y="0"/>
                    <a:pt x="366014" y="81915"/>
                    <a:pt x="366014" y="183007"/>
                  </a:cubicBezTo>
                  <a:cubicBezTo>
                    <a:pt x="366014" y="284099"/>
                    <a:pt x="284099" y="366014"/>
                    <a:pt x="183007" y="366014"/>
                  </a:cubicBezTo>
                  <a:cubicBezTo>
                    <a:pt x="81915" y="366014"/>
                    <a:pt x="0" y="284099"/>
                    <a:pt x="0" y="183007"/>
                  </a:cubicBezTo>
                  <a:close/>
                </a:path>
              </a:pathLst>
            </a:custGeom>
            <a:solidFill>
              <a:srgbClr val="B89650"/>
            </a:solidFill>
          </p:spPr>
        </p:sp>
      </p:grpSp>
      <p:grpSp>
        <p:nvGrpSpPr>
          <p:cNvPr id="21" name="Group 21"/>
          <p:cNvGrpSpPr/>
          <p:nvPr/>
        </p:nvGrpSpPr>
        <p:grpSpPr>
          <a:xfrm>
            <a:off x="9171456" y="5801201"/>
            <a:ext cx="274539" cy="274539"/>
            <a:chOff x="0" y="0"/>
            <a:chExt cx="366052" cy="366052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366014" cy="366014"/>
            </a:xfrm>
            <a:custGeom>
              <a:avLst/>
              <a:gdLst/>
              <a:ahLst/>
              <a:cxnLst/>
              <a:rect l="l" t="t" r="r" b="b"/>
              <a:pathLst>
                <a:path w="366014" h="366014">
                  <a:moveTo>
                    <a:pt x="0" y="183007"/>
                  </a:moveTo>
                  <a:cubicBezTo>
                    <a:pt x="0" y="81915"/>
                    <a:pt x="81915" y="0"/>
                    <a:pt x="183007" y="0"/>
                  </a:cubicBezTo>
                  <a:cubicBezTo>
                    <a:pt x="284099" y="0"/>
                    <a:pt x="366014" y="81915"/>
                    <a:pt x="366014" y="183007"/>
                  </a:cubicBezTo>
                  <a:cubicBezTo>
                    <a:pt x="366014" y="284099"/>
                    <a:pt x="284099" y="366014"/>
                    <a:pt x="183007" y="366014"/>
                  </a:cubicBezTo>
                  <a:cubicBezTo>
                    <a:pt x="81915" y="366014"/>
                    <a:pt x="0" y="284099"/>
                    <a:pt x="0" y="183007"/>
                  </a:cubicBezTo>
                  <a:close/>
                </a:path>
              </a:pathLst>
            </a:custGeom>
            <a:solidFill>
              <a:srgbClr val="B89650"/>
            </a:solidFill>
          </p:spPr>
        </p:sp>
      </p:grpSp>
      <p:grpSp>
        <p:nvGrpSpPr>
          <p:cNvPr id="23" name="Group 23"/>
          <p:cNvGrpSpPr/>
          <p:nvPr/>
        </p:nvGrpSpPr>
        <p:grpSpPr>
          <a:xfrm>
            <a:off x="9336172" y="5801201"/>
            <a:ext cx="274539" cy="274539"/>
            <a:chOff x="0" y="0"/>
            <a:chExt cx="366052" cy="366052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366014" cy="366014"/>
            </a:xfrm>
            <a:custGeom>
              <a:avLst/>
              <a:gdLst/>
              <a:ahLst/>
              <a:cxnLst/>
              <a:rect l="l" t="t" r="r" b="b"/>
              <a:pathLst>
                <a:path w="366014" h="366014">
                  <a:moveTo>
                    <a:pt x="0" y="183007"/>
                  </a:moveTo>
                  <a:cubicBezTo>
                    <a:pt x="0" y="81915"/>
                    <a:pt x="81915" y="0"/>
                    <a:pt x="183007" y="0"/>
                  </a:cubicBezTo>
                  <a:cubicBezTo>
                    <a:pt x="284099" y="0"/>
                    <a:pt x="366014" y="81915"/>
                    <a:pt x="366014" y="183007"/>
                  </a:cubicBezTo>
                  <a:cubicBezTo>
                    <a:pt x="366014" y="284099"/>
                    <a:pt x="284099" y="366014"/>
                    <a:pt x="183007" y="366014"/>
                  </a:cubicBezTo>
                  <a:cubicBezTo>
                    <a:pt x="81915" y="366014"/>
                    <a:pt x="0" y="284099"/>
                    <a:pt x="0" y="183007"/>
                  </a:cubicBezTo>
                  <a:close/>
                </a:path>
              </a:pathLst>
            </a:custGeom>
            <a:solidFill>
              <a:srgbClr val="B89650"/>
            </a:solidFill>
          </p:spPr>
        </p:sp>
      </p:grpSp>
      <p:grpSp>
        <p:nvGrpSpPr>
          <p:cNvPr id="25" name="Group 25"/>
          <p:cNvGrpSpPr/>
          <p:nvPr/>
        </p:nvGrpSpPr>
        <p:grpSpPr>
          <a:xfrm>
            <a:off x="9679338" y="5801201"/>
            <a:ext cx="274539" cy="274539"/>
            <a:chOff x="0" y="0"/>
            <a:chExt cx="366052" cy="366052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366014" cy="366014"/>
            </a:xfrm>
            <a:custGeom>
              <a:avLst/>
              <a:gdLst/>
              <a:ahLst/>
              <a:cxnLst/>
              <a:rect l="l" t="t" r="r" b="b"/>
              <a:pathLst>
                <a:path w="366014" h="366014">
                  <a:moveTo>
                    <a:pt x="0" y="183007"/>
                  </a:moveTo>
                  <a:cubicBezTo>
                    <a:pt x="0" y="81915"/>
                    <a:pt x="81915" y="0"/>
                    <a:pt x="183007" y="0"/>
                  </a:cubicBezTo>
                  <a:cubicBezTo>
                    <a:pt x="284099" y="0"/>
                    <a:pt x="366014" y="81915"/>
                    <a:pt x="366014" y="183007"/>
                  </a:cubicBezTo>
                  <a:cubicBezTo>
                    <a:pt x="366014" y="284099"/>
                    <a:pt x="284099" y="366014"/>
                    <a:pt x="183007" y="366014"/>
                  </a:cubicBezTo>
                  <a:cubicBezTo>
                    <a:pt x="81915" y="366014"/>
                    <a:pt x="0" y="284099"/>
                    <a:pt x="0" y="183007"/>
                  </a:cubicBezTo>
                  <a:close/>
                </a:path>
              </a:pathLst>
            </a:custGeom>
            <a:solidFill>
              <a:srgbClr val="B89650"/>
            </a:solidFill>
          </p:spPr>
        </p:sp>
      </p:grpSp>
      <p:grpSp>
        <p:nvGrpSpPr>
          <p:cNvPr id="27" name="Group 27"/>
          <p:cNvGrpSpPr/>
          <p:nvPr/>
        </p:nvGrpSpPr>
        <p:grpSpPr>
          <a:xfrm>
            <a:off x="16010816" y="0"/>
            <a:ext cx="2254058" cy="2254058"/>
            <a:chOff x="0" y="0"/>
            <a:chExt cx="3267621" cy="3267621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3267583" cy="3267583"/>
            </a:xfrm>
            <a:custGeom>
              <a:avLst/>
              <a:gdLst/>
              <a:ahLst/>
              <a:cxnLst/>
              <a:rect l="l" t="t" r="r" b="b"/>
              <a:pathLst>
                <a:path w="3267583" h="3267583">
                  <a:moveTo>
                    <a:pt x="0" y="0"/>
                  </a:moveTo>
                  <a:lnTo>
                    <a:pt x="3267583" y="0"/>
                  </a:lnTo>
                  <a:lnTo>
                    <a:pt x="3267583" y="3267583"/>
                  </a:lnTo>
                  <a:lnTo>
                    <a:pt x="0" y="32675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-1" b="-1"/>
              </a:stretch>
            </a:blipFill>
          </p:spPr>
        </p:sp>
      </p:grpSp>
      <p:sp>
        <p:nvSpPr>
          <p:cNvPr id="29" name="TextBox 29"/>
          <p:cNvSpPr txBox="1"/>
          <p:nvPr/>
        </p:nvSpPr>
        <p:spPr>
          <a:xfrm>
            <a:off x="503244" y="1223739"/>
            <a:ext cx="10798502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21"/>
              </a:lnSpc>
            </a:pPr>
            <a:r>
              <a:rPr lang="en-US" sz="1601" b="1">
                <a:solidFill>
                  <a:srgbClr val="7A5C1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PRESENTED BY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656239" y="2442696"/>
            <a:ext cx="12171169" cy="1276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087"/>
              </a:lnSpc>
            </a:pPr>
            <a:r>
              <a:rPr lang="en-US" sz="8406" b="1">
                <a:solidFill>
                  <a:srgbClr val="1A1408"/>
                </a:solidFill>
                <a:latin typeface="Garamond Bold"/>
                <a:ea typeface="Garamond Bold"/>
                <a:cs typeface="Garamond Bold"/>
                <a:sym typeface="Garamond Bold"/>
              </a:rPr>
              <a:t>Salwa Ahmed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656239" y="4282069"/>
            <a:ext cx="12171169" cy="409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 b="1">
                <a:solidFill>
                  <a:srgbClr val="3A2E1A"/>
                </a:solidFill>
                <a:latin typeface="Garamond Bold"/>
                <a:ea typeface="Garamond Bold"/>
                <a:cs typeface="Garamond Bold"/>
                <a:sym typeface="Garamond Bold"/>
              </a:rPr>
              <a:t>An Engineer  &amp;  Entrepreneur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656239" y="4893326"/>
            <a:ext cx="12171169" cy="361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 b="1" i="1">
                <a:solidFill>
                  <a:srgbClr val="8A7A60"/>
                </a:solidFill>
                <a:latin typeface="Calibri (MS) Bold Italics"/>
                <a:ea typeface="Calibri (MS) Bold Italics"/>
                <a:cs typeface="Calibri (MS) Bold Italics"/>
                <a:sym typeface="Calibri (MS) Bold Italics"/>
              </a:rPr>
              <a:t>Founder, Marka Di Fantasya General Trading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656239" y="6220625"/>
            <a:ext cx="12171169" cy="304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 b="1" i="1">
                <a:solidFill>
                  <a:srgbClr val="8A7A60"/>
                </a:solidFill>
                <a:latin typeface="Calibri (MS) Bold Italics"/>
                <a:ea typeface="Calibri (MS) Bold Italics"/>
                <a:cs typeface="Calibri (MS) Bold Italics"/>
                <a:sym typeface="Calibri (MS) Bold Italics"/>
              </a:rPr>
              <a:t>Presenting at: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656239" y="6715906"/>
            <a:ext cx="12171169" cy="1190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83"/>
              </a:lnSpc>
            </a:pPr>
            <a:r>
              <a:rPr lang="en-US" sz="3903" b="1">
                <a:solidFill>
                  <a:srgbClr val="7A5C1E"/>
                </a:solidFill>
                <a:latin typeface="Garamond Bold"/>
                <a:ea typeface="Garamond Bold"/>
                <a:cs typeface="Garamond Bold"/>
                <a:sym typeface="Garamond Bold"/>
              </a:rPr>
              <a:t>Atheer Al-Watar</a:t>
            </a:r>
          </a:p>
          <a:p>
            <a:pPr algn="l">
              <a:lnSpc>
                <a:spcPts val="4683"/>
              </a:lnSpc>
            </a:pPr>
            <a:r>
              <a:rPr lang="en-US" sz="3903" b="1">
                <a:solidFill>
                  <a:srgbClr val="7A5C1E"/>
                </a:solidFill>
                <a:latin typeface="Garamond Bold"/>
                <a:ea typeface="Garamond Bold"/>
                <a:cs typeface="Garamond Bold"/>
                <a:sym typeface="Garamond Bold"/>
              </a:rPr>
              <a:t>Businesswomen Forum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656239" y="8438817"/>
            <a:ext cx="4032780" cy="342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 b="1">
                <a:solidFill>
                  <a:srgbClr val="3A2E1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22 May 2026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503244" y="9466450"/>
            <a:ext cx="16975522" cy="323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1"/>
              </a:lnSpc>
            </a:pPr>
            <a:r>
              <a:rPr lang="en-US" sz="2101" b="1" i="1">
                <a:solidFill>
                  <a:srgbClr val="FFFFFF"/>
                </a:solidFill>
                <a:latin typeface="Garamond Bold Italics"/>
                <a:ea typeface="Garamond Bold Italics"/>
                <a:cs typeface="Garamond Bold Italics"/>
                <a:sym typeface="Garamond Bold Italics"/>
              </a:rPr>
              <a:t>							The taste of home, wherever you are		</a:t>
            </a:r>
            <a:r>
              <a:rPr lang="ar-EG" sz="2101" b="1" i="1">
                <a:solidFill>
                  <a:srgbClr val="FFFFFF"/>
                </a:solidFill>
                <a:latin typeface="Garamond Bold Italics"/>
                <a:ea typeface="Garamond Bold Italics"/>
                <a:cs typeface="Garamond Bold Italics"/>
                <a:sym typeface="Garamond Bold Italics"/>
                <a:rtl/>
              </a:rPr>
              <a:t>طعم البيت، وين ما مشيت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7387116" y="9841278"/>
            <a:ext cx="572091" cy="3119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441"/>
              </a:lnSpc>
            </a:pPr>
            <a:r>
              <a:rPr lang="en-US" sz="1200">
                <a:solidFill>
                  <a:srgbClr val="8A7A60"/>
                </a:solidFill>
                <a:latin typeface="Calibri (MS)"/>
                <a:ea typeface="Calibri (MS)"/>
                <a:cs typeface="Calibri (MS)"/>
                <a:sym typeface="Calibri (MS)"/>
              </a:rPr>
              <a:t>01 / 11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:fade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9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09814" cy="10295039"/>
            <a:chOff x="0" y="0"/>
            <a:chExt cx="146418" cy="1372671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46431" cy="13726668"/>
            </a:xfrm>
            <a:custGeom>
              <a:avLst/>
              <a:gdLst/>
              <a:ahLst/>
              <a:cxnLst/>
              <a:rect l="l" t="t" r="r" b="b"/>
              <a:pathLst>
                <a:path w="146431" h="13726668">
                  <a:moveTo>
                    <a:pt x="0" y="0"/>
                  </a:moveTo>
                  <a:lnTo>
                    <a:pt x="146431" y="0"/>
                  </a:lnTo>
                  <a:lnTo>
                    <a:pt x="146431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B89650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109814" y="9361627"/>
            <a:ext cx="18187911" cy="576520"/>
            <a:chOff x="0" y="0"/>
            <a:chExt cx="24250548" cy="768693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250523" cy="768731"/>
            </a:xfrm>
            <a:custGeom>
              <a:avLst/>
              <a:gdLst/>
              <a:ahLst/>
              <a:cxnLst/>
              <a:rect l="l" t="t" r="r" b="b"/>
              <a:pathLst>
                <a:path w="24250523" h="768731">
                  <a:moveTo>
                    <a:pt x="0" y="0"/>
                  </a:moveTo>
                  <a:lnTo>
                    <a:pt x="24250523" y="0"/>
                  </a:lnTo>
                  <a:lnTo>
                    <a:pt x="24250523" y="768731"/>
                  </a:lnTo>
                  <a:lnTo>
                    <a:pt x="0" y="768731"/>
                  </a:lnTo>
                  <a:close/>
                </a:path>
              </a:pathLst>
            </a:custGeom>
            <a:solidFill>
              <a:srgbClr val="B89650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411804" y="1784471"/>
            <a:ext cx="2745343" cy="82363"/>
            <a:chOff x="0" y="0"/>
            <a:chExt cx="3660458" cy="10981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3660521" cy="109855"/>
            </a:xfrm>
            <a:custGeom>
              <a:avLst/>
              <a:gdLst/>
              <a:ahLst/>
              <a:cxnLst/>
              <a:rect l="l" t="t" r="r" b="b"/>
              <a:pathLst>
                <a:path w="3660521" h="109855">
                  <a:moveTo>
                    <a:pt x="0" y="0"/>
                  </a:moveTo>
                  <a:lnTo>
                    <a:pt x="3660521" y="0"/>
                  </a:lnTo>
                  <a:lnTo>
                    <a:pt x="3660521" y="109855"/>
                  </a:lnTo>
                  <a:lnTo>
                    <a:pt x="0" y="109855"/>
                  </a:lnTo>
                  <a:close/>
                </a:path>
              </a:pathLst>
            </a:custGeom>
            <a:solidFill>
              <a:srgbClr val="B89650"/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411804" y="2964971"/>
            <a:ext cx="301990" cy="301990"/>
            <a:chOff x="0" y="0"/>
            <a:chExt cx="402654" cy="402654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402590" cy="402590"/>
            </a:xfrm>
            <a:custGeom>
              <a:avLst/>
              <a:gdLst/>
              <a:ahLst/>
              <a:cxnLst/>
              <a:rect l="l" t="t" r="r" b="b"/>
              <a:pathLst>
                <a:path w="402590" h="402590">
                  <a:moveTo>
                    <a:pt x="0" y="201295"/>
                  </a:moveTo>
                  <a:cubicBezTo>
                    <a:pt x="0" y="90170"/>
                    <a:pt x="90170" y="0"/>
                    <a:pt x="201295" y="0"/>
                  </a:cubicBezTo>
                  <a:cubicBezTo>
                    <a:pt x="312420" y="0"/>
                    <a:pt x="402590" y="90170"/>
                    <a:pt x="402590" y="201295"/>
                  </a:cubicBezTo>
                  <a:cubicBezTo>
                    <a:pt x="402590" y="312420"/>
                    <a:pt x="312547" y="402590"/>
                    <a:pt x="201295" y="402590"/>
                  </a:cubicBezTo>
                  <a:cubicBezTo>
                    <a:pt x="90043" y="402590"/>
                    <a:pt x="0" y="312547"/>
                    <a:pt x="0" y="201295"/>
                  </a:cubicBezTo>
                  <a:close/>
                </a:path>
              </a:pathLst>
            </a:custGeom>
            <a:solidFill>
              <a:srgbClr val="B89650"/>
            </a:solidFill>
          </p:spPr>
        </p:sp>
      </p:grpSp>
      <p:grpSp>
        <p:nvGrpSpPr>
          <p:cNvPr id="10" name="Group 10"/>
          <p:cNvGrpSpPr/>
          <p:nvPr/>
        </p:nvGrpSpPr>
        <p:grpSpPr>
          <a:xfrm>
            <a:off x="549069" y="3266961"/>
            <a:ext cx="27451" cy="521618"/>
            <a:chOff x="0" y="0"/>
            <a:chExt cx="36601" cy="69549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36576" cy="695452"/>
            </a:xfrm>
            <a:custGeom>
              <a:avLst/>
              <a:gdLst/>
              <a:ahLst/>
              <a:cxnLst/>
              <a:rect l="l" t="t" r="r" b="b"/>
              <a:pathLst>
                <a:path w="36576" h="695452">
                  <a:moveTo>
                    <a:pt x="0" y="0"/>
                  </a:moveTo>
                  <a:lnTo>
                    <a:pt x="36576" y="0"/>
                  </a:lnTo>
                  <a:lnTo>
                    <a:pt x="36576" y="695452"/>
                  </a:lnTo>
                  <a:lnTo>
                    <a:pt x="0" y="695452"/>
                  </a:lnTo>
                  <a:close/>
                </a:path>
              </a:pathLst>
            </a:custGeom>
            <a:solidFill>
              <a:srgbClr val="D8BE82"/>
            </a:solidFill>
          </p:spPr>
        </p:sp>
      </p:grpSp>
      <p:grpSp>
        <p:nvGrpSpPr>
          <p:cNvPr id="12" name="Group 12"/>
          <p:cNvGrpSpPr/>
          <p:nvPr/>
        </p:nvGrpSpPr>
        <p:grpSpPr>
          <a:xfrm>
            <a:off x="411804" y="3980755"/>
            <a:ext cx="301990" cy="301990"/>
            <a:chOff x="0" y="0"/>
            <a:chExt cx="402654" cy="402654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402590" cy="402590"/>
            </a:xfrm>
            <a:custGeom>
              <a:avLst/>
              <a:gdLst/>
              <a:ahLst/>
              <a:cxnLst/>
              <a:rect l="l" t="t" r="r" b="b"/>
              <a:pathLst>
                <a:path w="402590" h="402590">
                  <a:moveTo>
                    <a:pt x="0" y="201295"/>
                  </a:moveTo>
                  <a:cubicBezTo>
                    <a:pt x="0" y="90170"/>
                    <a:pt x="90170" y="0"/>
                    <a:pt x="201295" y="0"/>
                  </a:cubicBezTo>
                  <a:cubicBezTo>
                    <a:pt x="312420" y="0"/>
                    <a:pt x="402590" y="90170"/>
                    <a:pt x="402590" y="201295"/>
                  </a:cubicBezTo>
                  <a:cubicBezTo>
                    <a:pt x="402590" y="312420"/>
                    <a:pt x="312547" y="402590"/>
                    <a:pt x="201295" y="402590"/>
                  </a:cubicBezTo>
                  <a:cubicBezTo>
                    <a:pt x="90043" y="402590"/>
                    <a:pt x="0" y="312547"/>
                    <a:pt x="0" y="201295"/>
                  </a:cubicBezTo>
                  <a:close/>
                </a:path>
              </a:pathLst>
            </a:custGeom>
            <a:solidFill>
              <a:srgbClr val="B89650"/>
            </a:solidFill>
          </p:spPr>
        </p:sp>
      </p:grpSp>
      <p:grpSp>
        <p:nvGrpSpPr>
          <p:cNvPr id="14" name="Group 14"/>
          <p:cNvGrpSpPr/>
          <p:nvPr/>
        </p:nvGrpSpPr>
        <p:grpSpPr>
          <a:xfrm>
            <a:off x="549069" y="4282735"/>
            <a:ext cx="27451" cy="521618"/>
            <a:chOff x="0" y="0"/>
            <a:chExt cx="36601" cy="69549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36576" cy="695452"/>
            </a:xfrm>
            <a:custGeom>
              <a:avLst/>
              <a:gdLst/>
              <a:ahLst/>
              <a:cxnLst/>
              <a:rect l="l" t="t" r="r" b="b"/>
              <a:pathLst>
                <a:path w="36576" h="695452">
                  <a:moveTo>
                    <a:pt x="0" y="0"/>
                  </a:moveTo>
                  <a:lnTo>
                    <a:pt x="36576" y="0"/>
                  </a:lnTo>
                  <a:lnTo>
                    <a:pt x="36576" y="695452"/>
                  </a:lnTo>
                  <a:lnTo>
                    <a:pt x="0" y="695452"/>
                  </a:lnTo>
                  <a:close/>
                </a:path>
              </a:pathLst>
            </a:custGeom>
            <a:solidFill>
              <a:srgbClr val="D8BE82"/>
            </a:solidFill>
          </p:spPr>
        </p:sp>
      </p:grpSp>
      <p:grpSp>
        <p:nvGrpSpPr>
          <p:cNvPr id="16" name="Group 16"/>
          <p:cNvGrpSpPr/>
          <p:nvPr/>
        </p:nvGrpSpPr>
        <p:grpSpPr>
          <a:xfrm>
            <a:off x="411804" y="4996529"/>
            <a:ext cx="301990" cy="301990"/>
            <a:chOff x="0" y="0"/>
            <a:chExt cx="402654" cy="402654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402590" cy="402590"/>
            </a:xfrm>
            <a:custGeom>
              <a:avLst/>
              <a:gdLst/>
              <a:ahLst/>
              <a:cxnLst/>
              <a:rect l="l" t="t" r="r" b="b"/>
              <a:pathLst>
                <a:path w="402590" h="402590">
                  <a:moveTo>
                    <a:pt x="0" y="201295"/>
                  </a:moveTo>
                  <a:cubicBezTo>
                    <a:pt x="0" y="90170"/>
                    <a:pt x="90170" y="0"/>
                    <a:pt x="201295" y="0"/>
                  </a:cubicBezTo>
                  <a:cubicBezTo>
                    <a:pt x="312420" y="0"/>
                    <a:pt x="402590" y="90170"/>
                    <a:pt x="402590" y="201295"/>
                  </a:cubicBezTo>
                  <a:cubicBezTo>
                    <a:pt x="402590" y="312420"/>
                    <a:pt x="312547" y="402590"/>
                    <a:pt x="201295" y="402590"/>
                  </a:cubicBezTo>
                  <a:cubicBezTo>
                    <a:pt x="90043" y="402590"/>
                    <a:pt x="0" y="312547"/>
                    <a:pt x="0" y="201295"/>
                  </a:cubicBezTo>
                  <a:close/>
                </a:path>
              </a:pathLst>
            </a:custGeom>
            <a:solidFill>
              <a:srgbClr val="B89650"/>
            </a:solidFill>
          </p:spPr>
        </p:sp>
      </p:grpSp>
      <p:grpSp>
        <p:nvGrpSpPr>
          <p:cNvPr id="18" name="Group 18"/>
          <p:cNvGrpSpPr/>
          <p:nvPr/>
        </p:nvGrpSpPr>
        <p:grpSpPr>
          <a:xfrm>
            <a:off x="549069" y="5298519"/>
            <a:ext cx="27451" cy="521618"/>
            <a:chOff x="0" y="0"/>
            <a:chExt cx="36601" cy="69549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36576" cy="695452"/>
            </a:xfrm>
            <a:custGeom>
              <a:avLst/>
              <a:gdLst/>
              <a:ahLst/>
              <a:cxnLst/>
              <a:rect l="l" t="t" r="r" b="b"/>
              <a:pathLst>
                <a:path w="36576" h="695452">
                  <a:moveTo>
                    <a:pt x="0" y="0"/>
                  </a:moveTo>
                  <a:lnTo>
                    <a:pt x="36576" y="0"/>
                  </a:lnTo>
                  <a:lnTo>
                    <a:pt x="36576" y="695452"/>
                  </a:lnTo>
                  <a:lnTo>
                    <a:pt x="0" y="695452"/>
                  </a:lnTo>
                  <a:close/>
                </a:path>
              </a:pathLst>
            </a:custGeom>
            <a:solidFill>
              <a:srgbClr val="D8BE82"/>
            </a:solidFill>
          </p:spPr>
        </p:sp>
      </p:grpSp>
      <p:grpSp>
        <p:nvGrpSpPr>
          <p:cNvPr id="20" name="Group 20"/>
          <p:cNvGrpSpPr/>
          <p:nvPr/>
        </p:nvGrpSpPr>
        <p:grpSpPr>
          <a:xfrm>
            <a:off x="411804" y="6012304"/>
            <a:ext cx="301990" cy="301990"/>
            <a:chOff x="0" y="0"/>
            <a:chExt cx="402654" cy="402654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402590" cy="402590"/>
            </a:xfrm>
            <a:custGeom>
              <a:avLst/>
              <a:gdLst/>
              <a:ahLst/>
              <a:cxnLst/>
              <a:rect l="l" t="t" r="r" b="b"/>
              <a:pathLst>
                <a:path w="402590" h="402590">
                  <a:moveTo>
                    <a:pt x="0" y="201295"/>
                  </a:moveTo>
                  <a:cubicBezTo>
                    <a:pt x="0" y="90170"/>
                    <a:pt x="90170" y="0"/>
                    <a:pt x="201295" y="0"/>
                  </a:cubicBezTo>
                  <a:cubicBezTo>
                    <a:pt x="312420" y="0"/>
                    <a:pt x="402590" y="90170"/>
                    <a:pt x="402590" y="201295"/>
                  </a:cubicBezTo>
                  <a:cubicBezTo>
                    <a:pt x="402590" y="312420"/>
                    <a:pt x="312547" y="402590"/>
                    <a:pt x="201295" y="402590"/>
                  </a:cubicBezTo>
                  <a:cubicBezTo>
                    <a:pt x="90043" y="402590"/>
                    <a:pt x="0" y="312547"/>
                    <a:pt x="0" y="201295"/>
                  </a:cubicBezTo>
                  <a:close/>
                </a:path>
              </a:pathLst>
            </a:custGeom>
            <a:solidFill>
              <a:srgbClr val="B89650"/>
            </a:solidFill>
          </p:spPr>
        </p:sp>
      </p:grpSp>
      <p:grpSp>
        <p:nvGrpSpPr>
          <p:cNvPr id="22" name="Group 22"/>
          <p:cNvGrpSpPr/>
          <p:nvPr/>
        </p:nvGrpSpPr>
        <p:grpSpPr>
          <a:xfrm>
            <a:off x="549069" y="6314294"/>
            <a:ext cx="27451" cy="521618"/>
            <a:chOff x="0" y="0"/>
            <a:chExt cx="36601" cy="69549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36576" cy="695452"/>
            </a:xfrm>
            <a:custGeom>
              <a:avLst/>
              <a:gdLst/>
              <a:ahLst/>
              <a:cxnLst/>
              <a:rect l="l" t="t" r="r" b="b"/>
              <a:pathLst>
                <a:path w="36576" h="695452">
                  <a:moveTo>
                    <a:pt x="0" y="0"/>
                  </a:moveTo>
                  <a:lnTo>
                    <a:pt x="36576" y="0"/>
                  </a:lnTo>
                  <a:lnTo>
                    <a:pt x="36576" y="695452"/>
                  </a:lnTo>
                  <a:lnTo>
                    <a:pt x="0" y="695452"/>
                  </a:lnTo>
                  <a:close/>
                </a:path>
              </a:pathLst>
            </a:custGeom>
            <a:solidFill>
              <a:srgbClr val="D8BE82"/>
            </a:solidFill>
          </p:spPr>
        </p:sp>
      </p:grpSp>
      <p:grpSp>
        <p:nvGrpSpPr>
          <p:cNvPr id="24" name="Group 24"/>
          <p:cNvGrpSpPr/>
          <p:nvPr/>
        </p:nvGrpSpPr>
        <p:grpSpPr>
          <a:xfrm>
            <a:off x="411804" y="7028078"/>
            <a:ext cx="301990" cy="301990"/>
            <a:chOff x="0" y="0"/>
            <a:chExt cx="402654" cy="402654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402590" cy="402590"/>
            </a:xfrm>
            <a:custGeom>
              <a:avLst/>
              <a:gdLst/>
              <a:ahLst/>
              <a:cxnLst/>
              <a:rect l="l" t="t" r="r" b="b"/>
              <a:pathLst>
                <a:path w="402590" h="402590">
                  <a:moveTo>
                    <a:pt x="0" y="201295"/>
                  </a:moveTo>
                  <a:cubicBezTo>
                    <a:pt x="0" y="90170"/>
                    <a:pt x="90170" y="0"/>
                    <a:pt x="201295" y="0"/>
                  </a:cubicBezTo>
                  <a:cubicBezTo>
                    <a:pt x="312420" y="0"/>
                    <a:pt x="402590" y="90170"/>
                    <a:pt x="402590" y="201295"/>
                  </a:cubicBezTo>
                  <a:cubicBezTo>
                    <a:pt x="402590" y="312420"/>
                    <a:pt x="312547" y="402590"/>
                    <a:pt x="201295" y="402590"/>
                  </a:cubicBezTo>
                  <a:cubicBezTo>
                    <a:pt x="90043" y="402590"/>
                    <a:pt x="0" y="312547"/>
                    <a:pt x="0" y="201295"/>
                  </a:cubicBezTo>
                  <a:close/>
                </a:path>
              </a:pathLst>
            </a:custGeom>
            <a:solidFill>
              <a:srgbClr val="B89650"/>
            </a:solidFill>
          </p:spPr>
        </p:sp>
      </p:grpSp>
      <p:grpSp>
        <p:nvGrpSpPr>
          <p:cNvPr id="26" name="Group 26"/>
          <p:cNvGrpSpPr/>
          <p:nvPr/>
        </p:nvGrpSpPr>
        <p:grpSpPr>
          <a:xfrm>
            <a:off x="549069" y="7330069"/>
            <a:ext cx="27451" cy="521618"/>
            <a:chOff x="0" y="0"/>
            <a:chExt cx="36601" cy="69549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36576" cy="695452"/>
            </a:xfrm>
            <a:custGeom>
              <a:avLst/>
              <a:gdLst/>
              <a:ahLst/>
              <a:cxnLst/>
              <a:rect l="l" t="t" r="r" b="b"/>
              <a:pathLst>
                <a:path w="36576" h="695452">
                  <a:moveTo>
                    <a:pt x="0" y="0"/>
                  </a:moveTo>
                  <a:lnTo>
                    <a:pt x="36576" y="0"/>
                  </a:lnTo>
                  <a:lnTo>
                    <a:pt x="36576" y="695452"/>
                  </a:lnTo>
                  <a:lnTo>
                    <a:pt x="0" y="695452"/>
                  </a:lnTo>
                  <a:close/>
                </a:path>
              </a:pathLst>
            </a:custGeom>
            <a:solidFill>
              <a:srgbClr val="D8BE82"/>
            </a:solidFill>
          </p:spPr>
        </p:sp>
      </p:grpSp>
      <p:grpSp>
        <p:nvGrpSpPr>
          <p:cNvPr id="28" name="Group 28"/>
          <p:cNvGrpSpPr/>
          <p:nvPr/>
        </p:nvGrpSpPr>
        <p:grpSpPr>
          <a:xfrm>
            <a:off x="10289324" y="7475344"/>
            <a:ext cx="2550881" cy="1493930"/>
            <a:chOff x="0" y="0"/>
            <a:chExt cx="3401174" cy="1991906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3401187" cy="1991868"/>
            </a:xfrm>
            <a:custGeom>
              <a:avLst/>
              <a:gdLst/>
              <a:ahLst/>
              <a:cxnLst/>
              <a:rect l="l" t="t" r="r" b="b"/>
              <a:pathLst>
                <a:path w="3401187" h="1991868">
                  <a:moveTo>
                    <a:pt x="0" y="0"/>
                  </a:moveTo>
                  <a:lnTo>
                    <a:pt x="3401187" y="0"/>
                  </a:lnTo>
                  <a:lnTo>
                    <a:pt x="3401187" y="1991868"/>
                  </a:lnTo>
                  <a:lnTo>
                    <a:pt x="0" y="1991868"/>
                  </a:lnTo>
                  <a:close/>
                </a:path>
              </a:pathLst>
            </a:custGeom>
            <a:solidFill>
              <a:srgbClr val="FFFFFF"/>
            </a:solidFill>
            <a:ln w="11439" cap="sq">
              <a:solidFill>
                <a:srgbClr val="D8BE82"/>
              </a:solidFill>
              <a:prstDash val="solid"/>
              <a:miter/>
            </a:ln>
          </p:spPr>
        </p:sp>
      </p:grpSp>
      <p:grpSp>
        <p:nvGrpSpPr>
          <p:cNvPr id="30" name="Group 30"/>
          <p:cNvGrpSpPr/>
          <p:nvPr/>
        </p:nvGrpSpPr>
        <p:grpSpPr>
          <a:xfrm>
            <a:off x="10295039" y="7481068"/>
            <a:ext cx="2539441" cy="82363"/>
            <a:chOff x="0" y="0"/>
            <a:chExt cx="3385922" cy="109817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3385947" cy="109855"/>
            </a:xfrm>
            <a:custGeom>
              <a:avLst/>
              <a:gdLst/>
              <a:ahLst/>
              <a:cxnLst/>
              <a:rect l="l" t="t" r="r" b="b"/>
              <a:pathLst>
                <a:path w="3385947" h="109855">
                  <a:moveTo>
                    <a:pt x="0" y="0"/>
                  </a:moveTo>
                  <a:lnTo>
                    <a:pt x="3385947" y="0"/>
                  </a:lnTo>
                  <a:lnTo>
                    <a:pt x="3385947" y="109855"/>
                  </a:lnTo>
                  <a:lnTo>
                    <a:pt x="0" y="109855"/>
                  </a:lnTo>
                  <a:close/>
                </a:path>
              </a:pathLst>
            </a:custGeom>
            <a:solidFill>
              <a:srgbClr val="B89650"/>
            </a:solidFill>
          </p:spPr>
        </p:sp>
      </p:grpSp>
      <p:grpSp>
        <p:nvGrpSpPr>
          <p:cNvPr id="32" name="Group 32"/>
          <p:cNvGrpSpPr/>
          <p:nvPr/>
        </p:nvGrpSpPr>
        <p:grpSpPr>
          <a:xfrm>
            <a:off x="13007216" y="7475344"/>
            <a:ext cx="2550881" cy="1493930"/>
            <a:chOff x="0" y="0"/>
            <a:chExt cx="3401174" cy="1991906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3401187" cy="1991868"/>
            </a:xfrm>
            <a:custGeom>
              <a:avLst/>
              <a:gdLst/>
              <a:ahLst/>
              <a:cxnLst/>
              <a:rect l="l" t="t" r="r" b="b"/>
              <a:pathLst>
                <a:path w="3401187" h="1991868">
                  <a:moveTo>
                    <a:pt x="0" y="0"/>
                  </a:moveTo>
                  <a:lnTo>
                    <a:pt x="3401187" y="0"/>
                  </a:lnTo>
                  <a:lnTo>
                    <a:pt x="3401187" y="1991868"/>
                  </a:lnTo>
                  <a:lnTo>
                    <a:pt x="0" y="1991868"/>
                  </a:lnTo>
                  <a:close/>
                </a:path>
              </a:pathLst>
            </a:custGeom>
            <a:solidFill>
              <a:srgbClr val="FFFFFF"/>
            </a:solidFill>
            <a:ln w="11439" cap="sq">
              <a:solidFill>
                <a:srgbClr val="D8BE82"/>
              </a:solidFill>
              <a:prstDash val="solid"/>
              <a:miter/>
            </a:ln>
          </p:spPr>
        </p:sp>
      </p:grpSp>
      <p:grpSp>
        <p:nvGrpSpPr>
          <p:cNvPr id="34" name="Group 34"/>
          <p:cNvGrpSpPr/>
          <p:nvPr/>
        </p:nvGrpSpPr>
        <p:grpSpPr>
          <a:xfrm>
            <a:off x="13012931" y="7481068"/>
            <a:ext cx="2539441" cy="82363"/>
            <a:chOff x="0" y="0"/>
            <a:chExt cx="3385922" cy="109817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3385947" cy="109855"/>
            </a:xfrm>
            <a:custGeom>
              <a:avLst/>
              <a:gdLst/>
              <a:ahLst/>
              <a:cxnLst/>
              <a:rect l="l" t="t" r="r" b="b"/>
              <a:pathLst>
                <a:path w="3385947" h="109855">
                  <a:moveTo>
                    <a:pt x="0" y="0"/>
                  </a:moveTo>
                  <a:lnTo>
                    <a:pt x="3385947" y="0"/>
                  </a:lnTo>
                  <a:lnTo>
                    <a:pt x="3385947" y="109855"/>
                  </a:lnTo>
                  <a:lnTo>
                    <a:pt x="0" y="109855"/>
                  </a:lnTo>
                  <a:close/>
                </a:path>
              </a:pathLst>
            </a:custGeom>
            <a:solidFill>
              <a:srgbClr val="B89650"/>
            </a:solidFill>
          </p:spPr>
        </p:sp>
      </p:grpSp>
      <p:grpSp>
        <p:nvGrpSpPr>
          <p:cNvPr id="36" name="Group 36"/>
          <p:cNvGrpSpPr/>
          <p:nvPr/>
        </p:nvGrpSpPr>
        <p:grpSpPr>
          <a:xfrm>
            <a:off x="15725108" y="7475344"/>
            <a:ext cx="2550881" cy="1493930"/>
            <a:chOff x="0" y="0"/>
            <a:chExt cx="3401174" cy="1991906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3401187" cy="1991868"/>
            </a:xfrm>
            <a:custGeom>
              <a:avLst/>
              <a:gdLst/>
              <a:ahLst/>
              <a:cxnLst/>
              <a:rect l="l" t="t" r="r" b="b"/>
              <a:pathLst>
                <a:path w="3401187" h="1991868">
                  <a:moveTo>
                    <a:pt x="0" y="0"/>
                  </a:moveTo>
                  <a:lnTo>
                    <a:pt x="3401187" y="0"/>
                  </a:lnTo>
                  <a:lnTo>
                    <a:pt x="3401187" y="1991868"/>
                  </a:lnTo>
                  <a:lnTo>
                    <a:pt x="0" y="1991868"/>
                  </a:lnTo>
                  <a:close/>
                </a:path>
              </a:pathLst>
            </a:custGeom>
            <a:solidFill>
              <a:srgbClr val="FFFFFF"/>
            </a:solidFill>
            <a:ln w="11439" cap="sq">
              <a:solidFill>
                <a:srgbClr val="D8BE82"/>
              </a:solidFill>
              <a:prstDash val="solid"/>
              <a:miter/>
            </a:ln>
          </p:spPr>
        </p:sp>
      </p:grpSp>
      <p:grpSp>
        <p:nvGrpSpPr>
          <p:cNvPr id="38" name="Group 38"/>
          <p:cNvGrpSpPr/>
          <p:nvPr/>
        </p:nvGrpSpPr>
        <p:grpSpPr>
          <a:xfrm>
            <a:off x="15730823" y="7481068"/>
            <a:ext cx="2539441" cy="82363"/>
            <a:chOff x="0" y="0"/>
            <a:chExt cx="3385922" cy="109817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3385947" cy="109855"/>
            </a:xfrm>
            <a:custGeom>
              <a:avLst/>
              <a:gdLst/>
              <a:ahLst/>
              <a:cxnLst/>
              <a:rect l="l" t="t" r="r" b="b"/>
              <a:pathLst>
                <a:path w="3385947" h="109855">
                  <a:moveTo>
                    <a:pt x="0" y="0"/>
                  </a:moveTo>
                  <a:lnTo>
                    <a:pt x="3385947" y="0"/>
                  </a:lnTo>
                  <a:lnTo>
                    <a:pt x="3385947" y="109855"/>
                  </a:lnTo>
                  <a:lnTo>
                    <a:pt x="0" y="109855"/>
                  </a:lnTo>
                  <a:close/>
                </a:path>
              </a:pathLst>
            </a:custGeom>
            <a:solidFill>
              <a:srgbClr val="B89650"/>
            </a:solidFill>
          </p:spPr>
        </p:sp>
      </p:grpSp>
      <p:grpSp>
        <p:nvGrpSpPr>
          <p:cNvPr id="40" name="Group 40"/>
          <p:cNvGrpSpPr/>
          <p:nvPr/>
        </p:nvGrpSpPr>
        <p:grpSpPr>
          <a:xfrm>
            <a:off x="15544829" y="26956"/>
            <a:ext cx="2450716" cy="2450716"/>
            <a:chOff x="0" y="0"/>
            <a:chExt cx="3267621" cy="3267621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3267583" cy="3267583"/>
            </a:xfrm>
            <a:custGeom>
              <a:avLst/>
              <a:gdLst/>
              <a:ahLst/>
              <a:cxnLst/>
              <a:rect l="l" t="t" r="r" b="b"/>
              <a:pathLst>
                <a:path w="3267583" h="3267583">
                  <a:moveTo>
                    <a:pt x="0" y="0"/>
                  </a:moveTo>
                  <a:lnTo>
                    <a:pt x="3267583" y="0"/>
                  </a:lnTo>
                  <a:lnTo>
                    <a:pt x="3267583" y="3267583"/>
                  </a:lnTo>
                  <a:lnTo>
                    <a:pt x="0" y="32675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-1" b="-1"/>
              </a:stretch>
            </a:blipFill>
          </p:spPr>
        </p:sp>
      </p:grpSp>
      <p:sp>
        <p:nvSpPr>
          <p:cNvPr id="42" name="TextBox 42"/>
          <p:cNvSpPr txBox="1"/>
          <p:nvPr/>
        </p:nvSpPr>
        <p:spPr>
          <a:xfrm>
            <a:off x="640509" y="9452724"/>
            <a:ext cx="16975522" cy="323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 b="1" i="1">
                <a:solidFill>
                  <a:srgbClr val="FFFFFF"/>
                </a:solidFill>
                <a:latin typeface="Garamond Bold Italics"/>
                <a:ea typeface="Garamond Bold Italics"/>
                <a:cs typeface="Garamond Bold Italics"/>
                <a:sym typeface="Garamond Bold Italics"/>
              </a:rPr>
              <a:t>249Souq.com						The taste of home, wherever you are		</a:t>
            </a:r>
            <a:r>
              <a:rPr lang="ar-EG" sz="2101" b="1" i="1">
                <a:solidFill>
                  <a:srgbClr val="FFFFFF"/>
                </a:solidFill>
                <a:latin typeface="Garamond Bold Italics"/>
                <a:ea typeface="Garamond Bold Italics"/>
                <a:cs typeface="Garamond Bold Italics"/>
                <a:sym typeface="Garamond Bold Italics"/>
                <a:rtl/>
              </a:rPr>
              <a:t>طعم البيت، وين ما مشيت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17387116" y="9841278"/>
            <a:ext cx="572091" cy="3119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441"/>
              </a:lnSpc>
            </a:pPr>
            <a:r>
              <a:rPr lang="en-US" sz="1200">
                <a:solidFill>
                  <a:srgbClr val="8A7A60"/>
                </a:solidFill>
                <a:latin typeface="Calibri (MS)"/>
                <a:ea typeface="Calibri (MS)"/>
                <a:cs typeface="Calibri (MS)"/>
                <a:sym typeface="Calibri (MS)"/>
              </a:rPr>
              <a:t>02 / 11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503244" y="309610"/>
            <a:ext cx="5307806" cy="3310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 b="1">
                <a:solidFill>
                  <a:srgbClr val="B8965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ABOUT ME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503244" y="713003"/>
            <a:ext cx="9425826" cy="9159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205"/>
              </a:lnSpc>
            </a:pPr>
            <a:r>
              <a:rPr lang="en-US" sz="6004" b="1">
                <a:solidFill>
                  <a:srgbClr val="1A1408"/>
                </a:solidFill>
                <a:latin typeface="Garamond Bold"/>
                <a:ea typeface="Garamond Bold"/>
                <a:cs typeface="Garamond Bold"/>
                <a:sym typeface="Garamond Bold"/>
              </a:rPr>
              <a:t>My Story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503244" y="2002193"/>
            <a:ext cx="9425826" cy="676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>
                <a:solidFill>
                  <a:srgbClr val="3A2E1A"/>
                </a:solidFill>
                <a:latin typeface="Calibri (MS)"/>
                <a:ea typeface="Calibri (MS)"/>
                <a:cs typeface="Calibri (MS)"/>
                <a:sym typeface="Calibri (MS)"/>
              </a:rPr>
              <a:t>A Biomedical Engineer who built a business — and is now building a marketplace for 5 million people.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983675" y="2908163"/>
            <a:ext cx="9151296" cy="3679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 b="1">
                <a:solidFill>
                  <a:srgbClr val="7A5C1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Engineering Career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983675" y="3329483"/>
            <a:ext cx="9151296" cy="3584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3A2E1A"/>
                </a:solidFill>
                <a:latin typeface="Calibri (MS)"/>
                <a:ea typeface="Calibri (MS)"/>
                <a:cs typeface="Calibri (MS)"/>
                <a:sym typeface="Calibri (MS)"/>
              </a:rPr>
              <a:t>An Engineer, specialized in healthcare infrastructure projects across the UAE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983675" y="3923938"/>
            <a:ext cx="9151296" cy="3679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 b="1">
                <a:solidFill>
                  <a:srgbClr val="7A5C1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Learning Phase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983675" y="4345267"/>
            <a:ext cx="9151296" cy="3584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3A2E1A"/>
                </a:solidFill>
                <a:latin typeface="Calibri (MS)"/>
                <a:ea typeface="Calibri (MS)"/>
                <a:cs typeface="Calibri (MS)"/>
                <a:sym typeface="Calibri (MS)"/>
              </a:rPr>
              <a:t>2 years studying e-commerce, dropshipping, digital marketing &amp; online retail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983675" y="4939713"/>
            <a:ext cx="9151296" cy="3679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 b="1">
                <a:solidFill>
                  <a:srgbClr val="7A5C1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MDF Founded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983675" y="5361041"/>
            <a:ext cx="9151296" cy="3584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3A2E1A"/>
                </a:solidFill>
                <a:latin typeface="Calibri (MS)"/>
                <a:ea typeface="Calibri (MS)"/>
                <a:cs typeface="Calibri (MS)"/>
                <a:sym typeface="Calibri (MS)"/>
              </a:rPr>
              <a:t>2024, Registered Marka Di Fantasya General Trading (L.L.C &amp; S.P.C)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983675" y="5955497"/>
            <a:ext cx="9151296" cy="3679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 b="1">
                <a:solidFill>
                  <a:srgbClr val="7A5C1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First Venture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983675" y="6376816"/>
            <a:ext cx="9151296" cy="3584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3A2E1A"/>
                </a:solidFill>
                <a:latin typeface="Calibri (MS)"/>
                <a:ea typeface="Calibri (MS)"/>
                <a:cs typeface="Calibri (MS)"/>
                <a:sym typeface="Calibri (MS)"/>
              </a:rPr>
              <a:t>Launched an e-commerce brand — ran META ads, gained real hands-on experience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983675" y="6971271"/>
            <a:ext cx="9151296" cy="3679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 b="1">
                <a:solidFill>
                  <a:srgbClr val="7A5C1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Next Chapter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983675" y="7392600"/>
            <a:ext cx="9151296" cy="3584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3A2E1A"/>
                </a:solidFill>
                <a:latin typeface="Calibri (MS)"/>
                <a:ea typeface="Calibri (MS)"/>
                <a:cs typeface="Calibri (MS)"/>
                <a:sym typeface="Calibri (MS)"/>
              </a:rPr>
              <a:t>Building 249Souq.com, the first global marketplace for the Sudanese diaspora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10523753" y="7585891"/>
            <a:ext cx="915257" cy="5495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83"/>
              </a:lnSpc>
            </a:pPr>
            <a:r>
              <a:rPr lang="en-US" sz="3903" b="1">
                <a:solidFill>
                  <a:srgbClr val="7A5C1E"/>
                </a:solidFill>
                <a:latin typeface="Garamond Bold"/>
                <a:ea typeface="Garamond Bold"/>
                <a:cs typeface="Garamond Bold"/>
                <a:sym typeface="Garamond Bold"/>
              </a:rPr>
              <a:t>2+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10523753" y="8143370"/>
            <a:ext cx="2082032" cy="5136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3A2E1A"/>
                </a:solidFill>
                <a:latin typeface="Calibri (MS)"/>
                <a:ea typeface="Calibri (MS)"/>
                <a:cs typeface="Calibri (MS)"/>
                <a:sym typeface="Calibri (MS)"/>
              </a:rPr>
              <a:t>Years in E-commerce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13241645" y="7585891"/>
            <a:ext cx="915257" cy="5495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83"/>
              </a:lnSpc>
            </a:pPr>
            <a:r>
              <a:rPr lang="en-US" sz="3903" b="1">
                <a:solidFill>
                  <a:srgbClr val="7A5C1E"/>
                </a:solidFill>
                <a:latin typeface="Garamond Bold"/>
                <a:ea typeface="Garamond Bold"/>
                <a:cs typeface="Garamond Bold"/>
                <a:sym typeface="Garamond Bold"/>
              </a:rPr>
              <a:t>1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13241645" y="8143370"/>
            <a:ext cx="2082032" cy="5136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3A2E1A"/>
                </a:solidFill>
                <a:latin typeface="Calibri (MS)"/>
                <a:ea typeface="Calibri (MS)"/>
                <a:cs typeface="Calibri (MS)"/>
                <a:sym typeface="Calibri (MS)"/>
              </a:rPr>
              <a:t>Venture Launched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15959538" y="7585891"/>
            <a:ext cx="915257" cy="5495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83"/>
              </a:lnSpc>
            </a:pPr>
            <a:r>
              <a:rPr lang="en-US" sz="3903" b="1">
                <a:solidFill>
                  <a:srgbClr val="7A5C1E"/>
                </a:solidFill>
                <a:latin typeface="Garamond Bold"/>
                <a:ea typeface="Garamond Bold"/>
                <a:cs typeface="Garamond Bold"/>
                <a:sym typeface="Garamond Bold"/>
              </a:rPr>
              <a:t>2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15959538" y="8143370"/>
            <a:ext cx="2082032" cy="5136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3A2E1A"/>
                </a:solidFill>
                <a:latin typeface="Calibri (MS)"/>
                <a:ea typeface="Calibri (MS)"/>
                <a:cs typeface="Calibri (MS)"/>
                <a:sym typeface="Calibri (MS)"/>
              </a:rPr>
              <a:t>Industries Mastered</a:t>
            </a:r>
          </a:p>
        </p:txBody>
      </p:sp>
      <p:grpSp>
        <p:nvGrpSpPr>
          <p:cNvPr id="63" name="Group 63"/>
          <p:cNvGrpSpPr/>
          <p:nvPr/>
        </p:nvGrpSpPr>
        <p:grpSpPr>
          <a:xfrm>
            <a:off x="54907" y="9361627"/>
            <a:ext cx="18233093" cy="920877"/>
            <a:chOff x="0" y="0"/>
            <a:chExt cx="24310791" cy="1227836"/>
          </a:xfrm>
        </p:grpSpPr>
        <p:sp>
          <p:nvSpPr>
            <p:cNvPr id="64" name="Freeform 64"/>
            <p:cNvSpPr/>
            <p:nvPr/>
          </p:nvSpPr>
          <p:spPr>
            <a:xfrm>
              <a:off x="0" y="0"/>
              <a:ext cx="24310766" cy="1227874"/>
            </a:xfrm>
            <a:custGeom>
              <a:avLst/>
              <a:gdLst/>
              <a:ahLst/>
              <a:cxnLst/>
              <a:rect l="l" t="t" r="r" b="b"/>
              <a:pathLst>
                <a:path w="24310766" h="1227874">
                  <a:moveTo>
                    <a:pt x="0" y="0"/>
                  </a:moveTo>
                  <a:lnTo>
                    <a:pt x="24310766" y="0"/>
                  </a:lnTo>
                  <a:lnTo>
                    <a:pt x="24310766" y="1227874"/>
                  </a:lnTo>
                  <a:lnTo>
                    <a:pt x="0" y="1227874"/>
                  </a:lnTo>
                  <a:close/>
                </a:path>
              </a:pathLst>
            </a:custGeom>
            <a:solidFill>
              <a:srgbClr val="B89650"/>
            </a:solidFill>
          </p:spPr>
        </p:sp>
        <p:sp>
          <p:nvSpPr>
            <p:cNvPr id="65" name="TextBox 65"/>
            <p:cNvSpPr txBox="1"/>
            <p:nvPr/>
          </p:nvSpPr>
          <p:spPr>
            <a:xfrm>
              <a:off x="0" y="-19050"/>
              <a:ext cx="24310791" cy="124688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01"/>
                </a:lnSpc>
              </a:pPr>
              <a:r>
                <a:rPr lang="en-US" sz="3001" b="1" i="1">
                  <a:solidFill>
                    <a:srgbClr val="FFFFFF"/>
                  </a:solidFill>
                  <a:latin typeface="Garamond Bold Italics"/>
                  <a:ea typeface="Garamond Bold Italics"/>
                  <a:cs typeface="Garamond Bold Italics"/>
                  <a:sym typeface="Garamond Bold Italics"/>
                </a:rPr>
                <a:t>249Souq.com						The taste of home, wherever you are		</a:t>
              </a:r>
              <a:r>
                <a:rPr lang="ar-EG" sz="3001" b="1" i="1">
                  <a:solidFill>
                    <a:srgbClr val="FFFFFF"/>
                  </a:solidFill>
                  <a:latin typeface="Garamond Bold Italics"/>
                  <a:ea typeface="Garamond Bold Italics"/>
                  <a:cs typeface="Garamond Bold Italics"/>
                  <a:sym typeface="Garamond Bold Italics"/>
                  <a:rtl/>
                </a:rPr>
                <a:t>طعم البيت، وين ما مشيت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:fade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9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09814" cy="10295039"/>
            <a:chOff x="0" y="0"/>
            <a:chExt cx="146418" cy="1372671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46431" cy="13726668"/>
            </a:xfrm>
            <a:custGeom>
              <a:avLst/>
              <a:gdLst/>
              <a:ahLst/>
              <a:cxnLst/>
              <a:rect l="l" t="t" r="r" b="b"/>
              <a:pathLst>
                <a:path w="146431" h="13726668">
                  <a:moveTo>
                    <a:pt x="0" y="0"/>
                  </a:moveTo>
                  <a:lnTo>
                    <a:pt x="146431" y="0"/>
                  </a:lnTo>
                  <a:lnTo>
                    <a:pt x="146431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B89650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109814" y="9361627"/>
            <a:ext cx="18187911" cy="576520"/>
            <a:chOff x="0" y="0"/>
            <a:chExt cx="24250548" cy="768693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250523" cy="768731"/>
            </a:xfrm>
            <a:custGeom>
              <a:avLst/>
              <a:gdLst/>
              <a:ahLst/>
              <a:cxnLst/>
              <a:rect l="l" t="t" r="r" b="b"/>
              <a:pathLst>
                <a:path w="24250523" h="768731">
                  <a:moveTo>
                    <a:pt x="0" y="0"/>
                  </a:moveTo>
                  <a:lnTo>
                    <a:pt x="24250523" y="0"/>
                  </a:lnTo>
                  <a:lnTo>
                    <a:pt x="24250523" y="768731"/>
                  </a:lnTo>
                  <a:lnTo>
                    <a:pt x="0" y="768731"/>
                  </a:lnTo>
                  <a:close/>
                </a:path>
              </a:pathLst>
            </a:custGeom>
            <a:solidFill>
              <a:srgbClr val="B89650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640509" y="9452724"/>
            <a:ext cx="16975522" cy="3801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 b="1" i="1">
                <a:solidFill>
                  <a:srgbClr val="FFFFFF"/>
                </a:solidFill>
                <a:latin typeface="Garamond Bold Italics"/>
                <a:ea typeface="Garamond Bold Italics"/>
                <a:cs typeface="Garamond Bold Italics"/>
                <a:sym typeface="Garamond Bold Italics"/>
              </a:rPr>
              <a:t>249Souq.com						The taste of home, wherever you are		</a:t>
            </a:r>
            <a:r>
              <a:rPr lang="ar-EG" sz="2101" b="1" i="1">
                <a:solidFill>
                  <a:srgbClr val="FFFFFF"/>
                </a:solidFill>
                <a:latin typeface="Garamond Bold Italics"/>
                <a:ea typeface="Garamond Bold Italics"/>
                <a:cs typeface="Garamond Bold Italics"/>
                <a:sym typeface="Garamond Bold Italics"/>
                <a:rtl/>
              </a:rPr>
              <a:t>طعم البيت، وين ما مشيت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7387116" y="9841278"/>
            <a:ext cx="572091" cy="3119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441"/>
              </a:lnSpc>
            </a:pPr>
            <a:r>
              <a:rPr lang="en-US" sz="1200">
                <a:solidFill>
                  <a:srgbClr val="8A7A60"/>
                </a:solidFill>
                <a:latin typeface="Calibri (MS)"/>
                <a:ea typeface="Calibri (MS)"/>
                <a:cs typeface="Calibri (MS)"/>
                <a:sym typeface="Calibri (MS)"/>
              </a:rPr>
              <a:t>03 / 11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503244" y="309610"/>
            <a:ext cx="10798502" cy="3310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 b="1">
                <a:solidFill>
                  <a:srgbClr val="B8965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THE PROBLEM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03244" y="732053"/>
            <a:ext cx="10112159" cy="17104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485"/>
              </a:lnSpc>
            </a:pPr>
            <a:r>
              <a:rPr lang="en-US" sz="5404" b="1">
                <a:solidFill>
                  <a:srgbClr val="1A1408"/>
                </a:solidFill>
                <a:latin typeface="Garamond Bold"/>
                <a:ea typeface="Garamond Bold"/>
                <a:cs typeface="Garamond Bold"/>
                <a:sym typeface="Garamond Bold"/>
              </a:rPr>
              <a:t>A Community Without</a:t>
            </a:r>
          </a:p>
          <a:p>
            <a:pPr algn="l">
              <a:lnSpc>
                <a:spcPts val="6485"/>
              </a:lnSpc>
            </a:pPr>
            <a:r>
              <a:rPr lang="en-US" sz="5404" b="1">
                <a:solidFill>
                  <a:srgbClr val="1A1408"/>
                </a:solidFill>
                <a:latin typeface="Garamond Bold"/>
                <a:ea typeface="Garamond Bold"/>
                <a:cs typeface="Garamond Bold"/>
                <a:sym typeface="Garamond Bold"/>
              </a:rPr>
              <a:t>A Home Online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411804" y="2306088"/>
            <a:ext cx="2745343" cy="82363"/>
            <a:chOff x="0" y="0"/>
            <a:chExt cx="3660458" cy="109817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3660521" cy="109855"/>
            </a:xfrm>
            <a:custGeom>
              <a:avLst/>
              <a:gdLst/>
              <a:ahLst/>
              <a:cxnLst/>
              <a:rect l="l" t="t" r="r" b="b"/>
              <a:pathLst>
                <a:path w="3660521" h="109855">
                  <a:moveTo>
                    <a:pt x="0" y="0"/>
                  </a:moveTo>
                  <a:lnTo>
                    <a:pt x="3660521" y="0"/>
                  </a:lnTo>
                  <a:lnTo>
                    <a:pt x="3660521" y="109855"/>
                  </a:lnTo>
                  <a:lnTo>
                    <a:pt x="0" y="109855"/>
                  </a:lnTo>
                  <a:close/>
                </a:path>
              </a:pathLst>
            </a:custGeom>
            <a:solidFill>
              <a:srgbClr val="B89650"/>
            </a:solidFill>
          </p:spPr>
        </p:sp>
      </p:grpSp>
      <p:sp>
        <p:nvSpPr>
          <p:cNvPr id="12" name="TextBox 12"/>
          <p:cNvSpPr txBox="1"/>
          <p:nvPr/>
        </p:nvSpPr>
        <p:spPr>
          <a:xfrm>
            <a:off x="503244" y="2523811"/>
            <a:ext cx="11073032" cy="7523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>
                <a:solidFill>
                  <a:srgbClr val="3A2E1A"/>
                </a:solidFill>
                <a:latin typeface="Calibri (MS)"/>
                <a:ea typeface="Calibri (MS)"/>
                <a:cs typeface="Calibri (MS)"/>
                <a:sym typeface="Calibri (MS)"/>
              </a:rPr>
              <a:t>Over 4.5 million Sudanese people live outside Sudan — carrying their culture, their tastes and their memories. Yet no trusted digital marketplace exists to serve them.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407032" y="3591639"/>
            <a:ext cx="11265446" cy="1135123"/>
            <a:chOff x="0" y="0"/>
            <a:chExt cx="15020595" cy="1513497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5020544" cy="1513459"/>
            </a:xfrm>
            <a:custGeom>
              <a:avLst/>
              <a:gdLst/>
              <a:ahLst/>
              <a:cxnLst/>
              <a:rect l="l" t="t" r="r" b="b"/>
              <a:pathLst>
                <a:path w="15020544" h="1513459">
                  <a:moveTo>
                    <a:pt x="0" y="0"/>
                  </a:moveTo>
                  <a:lnTo>
                    <a:pt x="15020544" y="0"/>
                  </a:lnTo>
                  <a:lnTo>
                    <a:pt x="15020544" y="1513459"/>
                  </a:lnTo>
                  <a:lnTo>
                    <a:pt x="0" y="1513459"/>
                  </a:lnTo>
                  <a:close/>
                </a:path>
              </a:pathLst>
            </a:custGeom>
            <a:solidFill>
              <a:srgbClr val="FFFFFF"/>
            </a:solidFill>
            <a:ln w="9532" cap="sq">
              <a:solidFill>
                <a:srgbClr val="D8BE82"/>
              </a:solidFill>
              <a:prstDash val="solid"/>
              <a:miter/>
            </a:ln>
          </p:spPr>
        </p:sp>
      </p:grpSp>
      <p:grpSp>
        <p:nvGrpSpPr>
          <p:cNvPr id="15" name="Group 15"/>
          <p:cNvGrpSpPr/>
          <p:nvPr/>
        </p:nvGrpSpPr>
        <p:grpSpPr>
          <a:xfrm>
            <a:off x="411804" y="3596402"/>
            <a:ext cx="96088" cy="1125588"/>
            <a:chOff x="0" y="0"/>
            <a:chExt cx="128118" cy="1500784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28143" cy="1500759"/>
            </a:xfrm>
            <a:custGeom>
              <a:avLst/>
              <a:gdLst/>
              <a:ahLst/>
              <a:cxnLst/>
              <a:rect l="l" t="t" r="r" b="b"/>
              <a:pathLst>
                <a:path w="128143" h="1500759">
                  <a:moveTo>
                    <a:pt x="0" y="0"/>
                  </a:moveTo>
                  <a:lnTo>
                    <a:pt x="128143" y="0"/>
                  </a:lnTo>
                  <a:lnTo>
                    <a:pt x="128143" y="1500759"/>
                  </a:lnTo>
                  <a:lnTo>
                    <a:pt x="0" y="1500759"/>
                  </a:lnTo>
                  <a:close/>
                </a:path>
              </a:pathLst>
            </a:custGeom>
            <a:solidFill>
              <a:srgbClr val="B89650"/>
            </a:solidFill>
          </p:spPr>
        </p:sp>
      </p:grpSp>
      <p:grpSp>
        <p:nvGrpSpPr>
          <p:cNvPr id="17" name="Group 17"/>
          <p:cNvGrpSpPr/>
          <p:nvPr/>
        </p:nvGrpSpPr>
        <p:grpSpPr>
          <a:xfrm>
            <a:off x="598256" y="3837765"/>
            <a:ext cx="642871" cy="642871"/>
            <a:chOff x="0" y="0"/>
            <a:chExt cx="857161" cy="857161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57123" cy="857123"/>
            </a:xfrm>
            <a:custGeom>
              <a:avLst/>
              <a:gdLst/>
              <a:ahLst/>
              <a:cxnLst/>
              <a:rect l="l" t="t" r="r" b="b"/>
              <a:pathLst>
                <a:path w="857123" h="857123">
                  <a:moveTo>
                    <a:pt x="0" y="428625"/>
                  </a:moveTo>
                  <a:cubicBezTo>
                    <a:pt x="0" y="191897"/>
                    <a:pt x="191897" y="0"/>
                    <a:pt x="428625" y="0"/>
                  </a:cubicBezTo>
                  <a:cubicBezTo>
                    <a:pt x="665353" y="0"/>
                    <a:pt x="857123" y="191897"/>
                    <a:pt x="857123" y="428625"/>
                  </a:cubicBezTo>
                  <a:cubicBezTo>
                    <a:pt x="857123" y="665353"/>
                    <a:pt x="665226" y="857123"/>
                    <a:pt x="428625" y="857123"/>
                  </a:cubicBezTo>
                  <a:cubicBezTo>
                    <a:pt x="192024" y="857123"/>
                    <a:pt x="0" y="665226"/>
                    <a:pt x="0" y="428625"/>
                  </a:cubicBezTo>
                  <a:close/>
                </a:path>
              </a:pathLst>
            </a:custGeom>
            <a:solidFill>
              <a:srgbClr val="F5EEDC"/>
            </a:solidFill>
            <a:ln w="11439" cap="sq">
              <a:solidFill>
                <a:srgbClr val="B89650"/>
              </a:solidFill>
              <a:prstDash val="solid"/>
              <a:miter/>
            </a:ln>
          </p:spPr>
        </p:sp>
      </p:grpSp>
      <p:sp>
        <p:nvSpPr>
          <p:cNvPr id="19" name="TextBox 19"/>
          <p:cNvSpPr txBox="1"/>
          <p:nvPr/>
        </p:nvSpPr>
        <p:spPr>
          <a:xfrm>
            <a:off x="695420" y="3997090"/>
            <a:ext cx="448551" cy="3943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01"/>
              </a:lnSpc>
            </a:pPr>
            <a:r>
              <a:rPr lang="en-US" sz="1501" b="1">
                <a:solidFill>
                  <a:srgbClr val="7A5C1E"/>
                </a:solidFill>
                <a:latin typeface="Garamond Bold"/>
                <a:ea typeface="Garamond Bold"/>
                <a:cs typeface="Garamond Bold"/>
                <a:sym typeface="Garamond Bold"/>
              </a:rPr>
              <a:t>01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491567" y="3663134"/>
            <a:ext cx="9865081" cy="4503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 b="1">
                <a:solidFill>
                  <a:srgbClr val="1A1408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Traditional Garments Unavailable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491567" y="4133917"/>
            <a:ext cx="9947443" cy="3624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3A2E1A"/>
                </a:solidFill>
                <a:latin typeface="Calibri (MS)"/>
                <a:ea typeface="Calibri (MS)"/>
                <a:cs typeface="Calibri (MS)"/>
                <a:sym typeface="Calibri (MS)"/>
              </a:rPr>
              <a:t>Toub, jalabiya and handcrafted Sudanese garments have no dedicated global platform.</a:t>
            </a:r>
          </a:p>
        </p:txBody>
      </p:sp>
      <p:grpSp>
        <p:nvGrpSpPr>
          <p:cNvPr id="22" name="Group 22"/>
          <p:cNvGrpSpPr/>
          <p:nvPr/>
        </p:nvGrpSpPr>
        <p:grpSpPr>
          <a:xfrm>
            <a:off x="407032" y="4854492"/>
            <a:ext cx="11265446" cy="1135123"/>
            <a:chOff x="0" y="0"/>
            <a:chExt cx="15020595" cy="1513497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15020544" cy="1513459"/>
            </a:xfrm>
            <a:custGeom>
              <a:avLst/>
              <a:gdLst/>
              <a:ahLst/>
              <a:cxnLst/>
              <a:rect l="l" t="t" r="r" b="b"/>
              <a:pathLst>
                <a:path w="15020544" h="1513459">
                  <a:moveTo>
                    <a:pt x="0" y="0"/>
                  </a:moveTo>
                  <a:lnTo>
                    <a:pt x="15020544" y="0"/>
                  </a:lnTo>
                  <a:lnTo>
                    <a:pt x="15020544" y="1513459"/>
                  </a:lnTo>
                  <a:lnTo>
                    <a:pt x="0" y="1513459"/>
                  </a:lnTo>
                  <a:close/>
                </a:path>
              </a:pathLst>
            </a:custGeom>
            <a:solidFill>
              <a:srgbClr val="FFFFFF"/>
            </a:solidFill>
            <a:ln w="9532" cap="sq">
              <a:solidFill>
                <a:srgbClr val="D8BE82"/>
              </a:solidFill>
              <a:prstDash val="solid"/>
              <a:miter/>
            </a:ln>
          </p:spPr>
        </p:sp>
      </p:grpSp>
      <p:grpSp>
        <p:nvGrpSpPr>
          <p:cNvPr id="24" name="Group 24"/>
          <p:cNvGrpSpPr/>
          <p:nvPr/>
        </p:nvGrpSpPr>
        <p:grpSpPr>
          <a:xfrm>
            <a:off x="411804" y="4859264"/>
            <a:ext cx="96088" cy="1125588"/>
            <a:chOff x="0" y="0"/>
            <a:chExt cx="128118" cy="1500784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128143" cy="1500759"/>
            </a:xfrm>
            <a:custGeom>
              <a:avLst/>
              <a:gdLst/>
              <a:ahLst/>
              <a:cxnLst/>
              <a:rect l="l" t="t" r="r" b="b"/>
              <a:pathLst>
                <a:path w="128143" h="1500759">
                  <a:moveTo>
                    <a:pt x="0" y="0"/>
                  </a:moveTo>
                  <a:lnTo>
                    <a:pt x="128143" y="0"/>
                  </a:lnTo>
                  <a:lnTo>
                    <a:pt x="128143" y="1500759"/>
                  </a:lnTo>
                  <a:lnTo>
                    <a:pt x="0" y="1500759"/>
                  </a:lnTo>
                  <a:close/>
                </a:path>
              </a:pathLst>
            </a:custGeom>
            <a:solidFill>
              <a:srgbClr val="B89650"/>
            </a:solidFill>
          </p:spPr>
        </p:sp>
      </p:grpSp>
      <p:grpSp>
        <p:nvGrpSpPr>
          <p:cNvPr id="26" name="Group 26"/>
          <p:cNvGrpSpPr/>
          <p:nvPr/>
        </p:nvGrpSpPr>
        <p:grpSpPr>
          <a:xfrm>
            <a:off x="598256" y="5100618"/>
            <a:ext cx="642871" cy="642871"/>
            <a:chOff x="0" y="0"/>
            <a:chExt cx="857161" cy="857161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57123" cy="857123"/>
            </a:xfrm>
            <a:custGeom>
              <a:avLst/>
              <a:gdLst/>
              <a:ahLst/>
              <a:cxnLst/>
              <a:rect l="l" t="t" r="r" b="b"/>
              <a:pathLst>
                <a:path w="857123" h="857123">
                  <a:moveTo>
                    <a:pt x="0" y="428625"/>
                  </a:moveTo>
                  <a:cubicBezTo>
                    <a:pt x="0" y="191897"/>
                    <a:pt x="191897" y="0"/>
                    <a:pt x="428625" y="0"/>
                  </a:cubicBezTo>
                  <a:cubicBezTo>
                    <a:pt x="665353" y="0"/>
                    <a:pt x="857123" y="191897"/>
                    <a:pt x="857123" y="428625"/>
                  </a:cubicBezTo>
                  <a:cubicBezTo>
                    <a:pt x="857123" y="665353"/>
                    <a:pt x="665226" y="857123"/>
                    <a:pt x="428625" y="857123"/>
                  </a:cubicBezTo>
                  <a:cubicBezTo>
                    <a:pt x="192024" y="857123"/>
                    <a:pt x="0" y="665226"/>
                    <a:pt x="0" y="428625"/>
                  </a:cubicBezTo>
                  <a:close/>
                </a:path>
              </a:pathLst>
            </a:custGeom>
            <a:solidFill>
              <a:srgbClr val="F5EEDC"/>
            </a:solidFill>
            <a:ln w="11439" cap="sq">
              <a:solidFill>
                <a:srgbClr val="B89650"/>
              </a:solidFill>
              <a:prstDash val="solid"/>
              <a:miter/>
            </a:ln>
          </p:spPr>
        </p:sp>
      </p:grpSp>
      <p:sp>
        <p:nvSpPr>
          <p:cNvPr id="28" name="TextBox 28"/>
          <p:cNvSpPr txBox="1"/>
          <p:nvPr/>
        </p:nvSpPr>
        <p:spPr>
          <a:xfrm>
            <a:off x="709146" y="5294195"/>
            <a:ext cx="448551" cy="3943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01"/>
              </a:lnSpc>
            </a:pPr>
            <a:r>
              <a:rPr lang="en-US" sz="1501" b="1">
                <a:solidFill>
                  <a:srgbClr val="7A5C1E"/>
                </a:solidFill>
                <a:latin typeface="Garamond Bold"/>
                <a:ea typeface="Garamond Bold"/>
                <a:cs typeface="Garamond Bold"/>
                <a:sym typeface="Garamond Bold"/>
              </a:rPr>
              <a:t>02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491567" y="4897107"/>
            <a:ext cx="9865081" cy="4503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 b="1">
                <a:solidFill>
                  <a:srgbClr val="1A1408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Perfumes &amp; Oud Unreachable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491567" y="5326885"/>
            <a:ext cx="9947443" cy="6396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3A2E1A"/>
                </a:solidFill>
                <a:latin typeface="Calibri (MS)"/>
                <a:ea typeface="Calibri (MS)"/>
                <a:cs typeface="Calibri (MS)"/>
                <a:sym typeface="Calibri (MS)"/>
              </a:rPr>
              <a:t>Karkar, bukhoor, oud, iconic Sudanese scents, classified as dangerous goods, cross-border shipping complex</a:t>
            </a:r>
          </a:p>
        </p:txBody>
      </p:sp>
      <p:grpSp>
        <p:nvGrpSpPr>
          <p:cNvPr id="31" name="Group 31"/>
          <p:cNvGrpSpPr/>
          <p:nvPr/>
        </p:nvGrpSpPr>
        <p:grpSpPr>
          <a:xfrm>
            <a:off x="407032" y="6117355"/>
            <a:ext cx="11265446" cy="1135123"/>
            <a:chOff x="0" y="0"/>
            <a:chExt cx="15020595" cy="1513497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15020544" cy="1513459"/>
            </a:xfrm>
            <a:custGeom>
              <a:avLst/>
              <a:gdLst/>
              <a:ahLst/>
              <a:cxnLst/>
              <a:rect l="l" t="t" r="r" b="b"/>
              <a:pathLst>
                <a:path w="15020544" h="1513459">
                  <a:moveTo>
                    <a:pt x="0" y="0"/>
                  </a:moveTo>
                  <a:lnTo>
                    <a:pt x="15020544" y="0"/>
                  </a:lnTo>
                  <a:lnTo>
                    <a:pt x="15020544" y="1513459"/>
                  </a:lnTo>
                  <a:lnTo>
                    <a:pt x="0" y="1513459"/>
                  </a:lnTo>
                  <a:close/>
                </a:path>
              </a:pathLst>
            </a:custGeom>
            <a:solidFill>
              <a:srgbClr val="FFFFFF"/>
            </a:solidFill>
            <a:ln w="9532" cap="sq">
              <a:solidFill>
                <a:srgbClr val="D8BE82"/>
              </a:solidFill>
              <a:prstDash val="solid"/>
              <a:miter/>
            </a:ln>
          </p:spPr>
        </p:sp>
      </p:grpSp>
      <p:grpSp>
        <p:nvGrpSpPr>
          <p:cNvPr id="33" name="Group 33"/>
          <p:cNvGrpSpPr/>
          <p:nvPr/>
        </p:nvGrpSpPr>
        <p:grpSpPr>
          <a:xfrm>
            <a:off x="411804" y="6122118"/>
            <a:ext cx="96088" cy="1125588"/>
            <a:chOff x="0" y="0"/>
            <a:chExt cx="128118" cy="1500784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128143" cy="1500759"/>
            </a:xfrm>
            <a:custGeom>
              <a:avLst/>
              <a:gdLst/>
              <a:ahLst/>
              <a:cxnLst/>
              <a:rect l="l" t="t" r="r" b="b"/>
              <a:pathLst>
                <a:path w="128143" h="1500759">
                  <a:moveTo>
                    <a:pt x="0" y="0"/>
                  </a:moveTo>
                  <a:lnTo>
                    <a:pt x="128143" y="0"/>
                  </a:lnTo>
                  <a:lnTo>
                    <a:pt x="128143" y="1500759"/>
                  </a:lnTo>
                  <a:lnTo>
                    <a:pt x="0" y="1500759"/>
                  </a:lnTo>
                  <a:close/>
                </a:path>
              </a:pathLst>
            </a:custGeom>
            <a:solidFill>
              <a:srgbClr val="B89650"/>
            </a:solidFill>
          </p:spPr>
        </p:sp>
      </p:grpSp>
      <p:grpSp>
        <p:nvGrpSpPr>
          <p:cNvPr id="35" name="Group 35"/>
          <p:cNvGrpSpPr/>
          <p:nvPr/>
        </p:nvGrpSpPr>
        <p:grpSpPr>
          <a:xfrm>
            <a:off x="598256" y="6363481"/>
            <a:ext cx="642871" cy="642871"/>
            <a:chOff x="0" y="0"/>
            <a:chExt cx="857161" cy="857161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857123" cy="857123"/>
            </a:xfrm>
            <a:custGeom>
              <a:avLst/>
              <a:gdLst/>
              <a:ahLst/>
              <a:cxnLst/>
              <a:rect l="l" t="t" r="r" b="b"/>
              <a:pathLst>
                <a:path w="857123" h="857123">
                  <a:moveTo>
                    <a:pt x="0" y="428625"/>
                  </a:moveTo>
                  <a:cubicBezTo>
                    <a:pt x="0" y="191897"/>
                    <a:pt x="191897" y="0"/>
                    <a:pt x="428625" y="0"/>
                  </a:cubicBezTo>
                  <a:cubicBezTo>
                    <a:pt x="665353" y="0"/>
                    <a:pt x="857123" y="191897"/>
                    <a:pt x="857123" y="428625"/>
                  </a:cubicBezTo>
                  <a:cubicBezTo>
                    <a:pt x="857123" y="665353"/>
                    <a:pt x="665226" y="857123"/>
                    <a:pt x="428625" y="857123"/>
                  </a:cubicBezTo>
                  <a:cubicBezTo>
                    <a:pt x="192024" y="857123"/>
                    <a:pt x="0" y="665226"/>
                    <a:pt x="0" y="428625"/>
                  </a:cubicBezTo>
                  <a:close/>
                </a:path>
              </a:pathLst>
            </a:custGeom>
            <a:solidFill>
              <a:srgbClr val="F5EEDC"/>
            </a:solidFill>
            <a:ln w="11439" cap="sq">
              <a:solidFill>
                <a:srgbClr val="B89650"/>
              </a:solidFill>
              <a:prstDash val="solid"/>
              <a:miter/>
            </a:ln>
          </p:spPr>
        </p:sp>
      </p:grpSp>
      <p:sp>
        <p:nvSpPr>
          <p:cNvPr id="37" name="TextBox 37"/>
          <p:cNvSpPr txBox="1"/>
          <p:nvPr/>
        </p:nvSpPr>
        <p:spPr>
          <a:xfrm>
            <a:off x="695420" y="6519415"/>
            <a:ext cx="448551" cy="3943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01"/>
              </a:lnSpc>
            </a:pPr>
            <a:r>
              <a:rPr lang="en-US" sz="1501" b="1">
                <a:solidFill>
                  <a:srgbClr val="7A5C1E"/>
                </a:solidFill>
                <a:latin typeface="Garamond Bold"/>
                <a:ea typeface="Garamond Bold"/>
                <a:cs typeface="Garamond Bold"/>
                <a:sym typeface="Garamond Bold"/>
              </a:rPr>
              <a:t>03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491567" y="6257477"/>
            <a:ext cx="9865081" cy="4503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 b="1">
                <a:solidFill>
                  <a:srgbClr val="1A1408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No Access to Authentic Food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1491567" y="6706257"/>
            <a:ext cx="9947443" cy="1800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3A2E1A"/>
                </a:solidFill>
                <a:latin typeface="Calibri (MS)"/>
                <a:ea typeface="Calibri (MS)"/>
                <a:cs typeface="Calibri (MS)"/>
                <a:sym typeface="Calibri (MS)"/>
              </a:rPr>
              <a:t>Ful, kisra, dukua, Sudanese spices &amp; staples nearly impossible to source abroad through a reliable channel</a:t>
            </a:r>
          </a:p>
        </p:txBody>
      </p:sp>
      <p:grpSp>
        <p:nvGrpSpPr>
          <p:cNvPr id="40" name="Group 40"/>
          <p:cNvGrpSpPr/>
          <p:nvPr/>
        </p:nvGrpSpPr>
        <p:grpSpPr>
          <a:xfrm>
            <a:off x="407032" y="7380208"/>
            <a:ext cx="11265446" cy="1135123"/>
            <a:chOff x="0" y="0"/>
            <a:chExt cx="15020595" cy="1513497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15020544" cy="1513459"/>
            </a:xfrm>
            <a:custGeom>
              <a:avLst/>
              <a:gdLst/>
              <a:ahLst/>
              <a:cxnLst/>
              <a:rect l="l" t="t" r="r" b="b"/>
              <a:pathLst>
                <a:path w="15020544" h="1513459">
                  <a:moveTo>
                    <a:pt x="0" y="0"/>
                  </a:moveTo>
                  <a:lnTo>
                    <a:pt x="15020544" y="0"/>
                  </a:lnTo>
                  <a:lnTo>
                    <a:pt x="15020544" y="1513459"/>
                  </a:lnTo>
                  <a:lnTo>
                    <a:pt x="0" y="1513459"/>
                  </a:lnTo>
                  <a:close/>
                </a:path>
              </a:pathLst>
            </a:custGeom>
            <a:solidFill>
              <a:srgbClr val="FFFFFF"/>
            </a:solidFill>
            <a:ln w="9532" cap="sq">
              <a:solidFill>
                <a:srgbClr val="D8BE82"/>
              </a:solidFill>
              <a:prstDash val="solid"/>
              <a:miter/>
            </a:ln>
          </p:spPr>
        </p:sp>
      </p:grpSp>
      <p:grpSp>
        <p:nvGrpSpPr>
          <p:cNvPr id="42" name="Group 42"/>
          <p:cNvGrpSpPr/>
          <p:nvPr/>
        </p:nvGrpSpPr>
        <p:grpSpPr>
          <a:xfrm>
            <a:off x="411804" y="7384980"/>
            <a:ext cx="96088" cy="1125588"/>
            <a:chOff x="0" y="0"/>
            <a:chExt cx="128118" cy="1500784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128143" cy="1500759"/>
            </a:xfrm>
            <a:custGeom>
              <a:avLst/>
              <a:gdLst/>
              <a:ahLst/>
              <a:cxnLst/>
              <a:rect l="l" t="t" r="r" b="b"/>
              <a:pathLst>
                <a:path w="128143" h="1500759">
                  <a:moveTo>
                    <a:pt x="0" y="0"/>
                  </a:moveTo>
                  <a:lnTo>
                    <a:pt x="128143" y="0"/>
                  </a:lnTo>
                  <a:lnTo>
                    <a:pt x="128143" y="1500759"/>
                  </a:lnTo>
                  <a:lnTo>
                    <a:pt x="0" y="1500759"/>
                  </a:lnTo>
                  <a:close/>
                </a:path>
              </a:pathLst>
            </a:custGeom>
            <a:solidFill>
              <a:srgbClr val="B89650"/>
            </a:solidFill>
          </p:spPr>
        </p:sp>
      </p:grpSp>
      <p:grpSp>
        <p:nvGrpSpPr>
          <p:cNvPr id="44" name="Group 44"/>
          <p:cNvGrpSpPr/>
          <p:nvPr/>
        </p:nvGrpSpPr>
        <p:grpSpPr>
          <a:xfrm>
            <a:off x="598256" y="7626344"/>
            <a:ext cx="642871" cy="642871"/>
            <a:chOff x="0" y="0"/>
            <a:chExt cx="857161" cy="857161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857123" cy="857123"/>
            </a:xfrm>
            <a:custGeom>
              <a:avLst/>
              <a:gdLst/>
              <a:ahLst/>
              <a:cxnLst/>
              <a:rect l="l" t="t" r="r" b="b"/>
              <a:pathLst>
                <a:path w="857123" h="857123">
                  <a:moveTo>
                    <a:pt x="0" y="428625"/>
                  </a:moveTo>
                  <a:cubicBezTo>
                    <a:pt x="0" y="191897"/>
                    <a:pt x="191897" y="0"/>
                    <a:pt x="428625" y="0"/>
                  </a:cubicBezTo>
                  <a:cubicBezTo>
                    <a:pt x="665353" y="0"/>
                    <a:pt x="857123" y="191897"/>
                    <a:pt x="857123" y="428625"/>
                  </a:cubicBezTo>
                  <a:cubicBezTo>
                    <a:pt x="857123" y="665353"/>
                    <a:pt x="665226" y="857123"/>
                    <a:pt x="428625" y="857123"/>
                  </a:cubicBezTo>
                  <a:cubicBezTo>
                    <a:pt x="192024" y="857123"/>
                    <a:pt x="0" y="665226"/>
                    <a:pt x="0" y="428625"/>
                  </a:cubicBezTo>
                  <a:close/>
                </a:path>
              </a:pathLst>
            </a:custGeom>
            <a:solidFill>
              <a:srgbClr val="F5EEDC"/>
            </a:solidFill>
            <a:ln w="11439" cap="sq">
              <a:solidFill>
                <a:srgbClr val="B89650"/>
              </a:solidFill>
              <a:prstDash val="solid"/>
              <a:miter/>
            </a:ln>
          </p:spPr>
        </p:sp>
      </p:grpSp>
      <p:sp>
        <p:nvSpPr>
          <p:cNvPr id="46" name="TextBox 46"/>
          <p:cNvSpPr txBox="1"/>
          <p:nvPr/>
        </p:nvSpPr>
        <p:spPr>
          <a:xfrm>
            <a:off x="695420" y="7830245"/>
            <a:ext cx="448551" cy="3943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01"/>
              </a:lnSpc>
            </a:pPr>
            <a:r>
              <a:rPr lang="en-US" sz="1501" b="1">
                <a:solidFill>
                  <a:srgbClr val="7A5C1E"/>
                </a:solidFill>
                <a:latin typeface="Garamond Bold"/>
                <a:ea typeface="Garamond Bold"/>
                <a:cs typeface="Garamond Bold"/>
                <a:sym typeface="Garamond Bold"/>
              </a:rPr>
              <a:t>04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1491567" y="7520340"/>
            <a:ext cx="9865081" cy="4503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 b="1">
                <a:solidFill>
                  <a:srgbClr val="1A1408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No Trusted Marketplace Exists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1491567" y="7899635"/>
            <a:ext cx="9947443" cy="1800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3A2E1A"/>
                </a:solidFill>
                <a:latin typeface="Calibri (MS)"/>
                <a:ea typeface="Calibri (MS)"/>
                <a:cs typeface="Calibri (MS)"/>
                <a:sym typeface="Calibri (MS)"/>
              </a:rPr>
              <a:t>Diaspora members face unreliable informal sellers, zero buyer protection and fragmented costly shipping</a:t>
            </a:r>
          </a:p>
        </p:txBody>
      </p:sp>
      <p:grpSp>
        <p:nvGrpSpPr>
          <p:cNvPr id="49" name="Group 49"/>
          <p:cNvGrpSpPr/>
          <p:nvPr/>
        </p:nvGrpSpPr>
        <p:grpSpPr>
          <a:xfrm>
            <a:off x="12346429" y="356897"/>
            <a:ext cx="5643182" cy="8710370"/>
            <a:chOff x="0" y="0"/>
            <a:chExt cx="7524243" cy="11613826"/>
          </a:xfrm>
        </p:grpSpPr>
        <p:sp>
          <p:nvSpPr>
            <p:cNvPr id="50" name="Freeform 50"/>
            <p:cNvSpPr/>
            <p:nvPr/>
          </p:nvSpPr>
          <p:spPr>
            <a:xfrm>
              <a:off x="0" y="0"/>
              <a:ext cx="7524243" cy="11613826"/>
            </a:xfrm>
            <a:custGeom>
              <a:avLst/>
              <a:gdLst/>
              <a:ahLst/>
              <a:cxnLst/>
              <a:rect l="l" t="t" r="r" b="b"/>
              <a:pathLst>
                <a:path w="7524242" h="11613826">
                  <a:moveTo>
                    <a:pt x="0" y="0"/>
                  </a:moveTo>
                  <a:lnTo>
                    <a:pt x="7524242" y="0"/>
                  </a:lnTo>
                  <a:lnTo>
                    <a:pt x="7524242" y="11613826"/>
                  </a:lnTo>
                  <a:lnTo>
                    <a:pt x="0" y="11613826"/>
                  </a:lnTo>
                  <a:close/>
                </a:path>
              </a:pathLst>
            </a:custGeom>
            <a:blipFill>
              <a:blip r:embed="rId2">
                <a:alphaModFix amt="26000"/>
              </a:blip>
              <a:stretch>
                <a:fillRect t="-8223" b="-8223"/>
              </a:stretch>
            </a:blipFill>
            <a:ln w="15252" cap="sq">
              <a:solidFill>
                <a:srgbClr val="B89650">
                  <a:alpha val="25882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12354049" y="301990"/>
            <a:ext cx="5627951" cy="109814"/>
            <a:chOff x="0" y="0"/>
            <a:chExt cx="7503935" cy="146418"/>
          </a:xfrm>
        </p:grpSpPr>
        <p:sp>
          <p:nvSpPr>
            <p:cNvPr id="52" name="Freeform 52"/>
            <p:cNvSpPr/>
            <p:nvPr/>
          </p:nvSpPr>
          <p:spPr>
            <a:xfrm>
              <a:off x="0" y="0"/>
              <a:ext cx="7503922" cy="146431"/>
            </a:xfrm>
            <a:custGeom>
              <a:avLst/>
              <a:gdLst/>
              <a:ahLst/>
              <a:cxnLst/>
              <a:rect l="l" t="t" r="r" b="b"/>
              <a:pathLst>
                <a:path w="7503922" h="146431">
                  <a:moveTo>
                    <a:pt x="0" y="0"/>
                  </a:moveTo>
                  <a:lnTo>
                    <a:pt x="7503922" y="0"/>
                  </a:lnTo>
                  <a:lnTo>
                    <a:pt x="7503922" y="146431"/>
                  </a:lnTo>
                  <a:lnTo>
                    <a:pt x="0" y="146431"/>
                  </a:lnTo>
                  <a:close/>
                </a:path>
              </a:pathLst>
            </a:custGeom>
            <a:solidFill>
              <a:srgbClr val="B89650"/>
            </a:solidFill>
          </p:spPr>
        </p:sp>
      </p:grpSp>
      <p:sp>
        <p:nvSpPr>
          <p:cNvPr id="53" name="TextBox 53"/>
          <p:cNvSpPr txBox="1"/>
          <p:nvPr/>
        </p:nvSpPr>
        <p:spPr>
          <a:xfrm>
            <a:off x="12582763" y="474326"/>
            <a:ext cx="5170541" cy="3584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01"/>
              </a:lnSpc>
            </a:pPr>
            <a:r>
              <a:rPr lang="en-US" sz="1501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BY THE NUMBERS</a:t>
            </a:r>
          </a:p>
        </p:txBody>
      </p:sp>
      <p:grpSp>
        <p:nvGrpSpPr>
          <p:cNvPr id="54" name="Group 54"/>
          <p:cNvGrpSpPr/>
          <p:nvPr/>
        </p:nvGrpSpPr>
        <p:grpSpPr>
          <a:xfrm>
            <a:off x="12903117" y="960872"/>
            <a:ext cx="4529823" cy="34319"/>
            <a:chOff x="0" y="0"/>
            <a:chExt cx="6039764" cy="45758"/>
          </a:xfrm>
        </p:grpSpPr>
        <p:sp>
          <p:nvSpPr>
            <p:cNvPr id="55" name="Freeform 55"/>
            <p:cNvSpPr/>
            <p:nvPr/>
          </p:nvSpPr>
          <p:spPr>
            <a:xfrm>
              <a:off x="0" y="0"/>
              <a:ext cx="6039739" cy="45720"/>
            </a:xfrm>
            <a:custGeom>
              <a:avLst/>
              <a:gdLst/>
              <a:ahLst/>
              <a:cxnLst/>
              <a:rect l="l" t="t" r="r" b="b"/>
              <a:pathLst>
                <a:path w="6039739" h="45720">
                  <a:moveTo>
                    <a:pt x="0" y="0"/>
                  </a:moveTo>
                  <a:lnTo>
                    <a:pt x="6039739" y="0"/>
                  </a:lnTo>
                  <a:lnTo>
                    <a:pt x="6039739" y="45720"/>
                  </a:lnTo>
                  <a:lnTo>
                    <a:pt x="0" y="45720"/>
                  </a:lnTo>
                  <a:close/>
                </a:path>
              </a:pathLst>
            </a:custGeom>
            <a:solidFill>
              <a:srgbClr val="D8BE82"/>
            </a:solidFill>
          </p:spPr>
        </p:sp>
      </p:grpSp>
      <p:sp>
        <p:nvSpPr>
          <p:cNvPr id="56" name="TextBox 56"/>
          <p:cNvSpPr txBox="1"/>
          <p:nvPr/>
        </p:nvSpPr>
        <p:spPr>
          <a:xfrm>
            <a:off x="12514126" y="1202969"/>
            <a:ext cx="5307806" cy="13593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448"/>
              </a:lnSpc>
            </a:pPr>
            <a:r>
              <a:rPr lang="en-US" sz="8706" b="1">
                <a:solidFill>
                  <a:srgbClr val="000000"/>
                </a:solidFill>
                <a:latin typeface="Garamond Bold"/>
                <a:ea typeface="Garamond Bold"/>
                <a:cs typeface="Garamond Bold"/>
                <a:sym typeface="Garamond Bold"/>
              </a:rPr>
              <a:t>4.5M+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12514126" y="2606173"/>
            <a:ext cx="5307806" cy="5738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1"/>
              </a:lnSpc>
            </a:pPr>
            <a:r>
              <a:rPr lang="en-US" sz="2101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Sudanese people living outside Sudan</a:t>
            </a:r>
          </a:p>
        </p:txBody>
      </p:sp>
      <p:grpSp>
        <p:nvGrpSpPr>
          <p:cNvPr id="58" name="Group 58"/>
          <p:cNvGrpSpPr/>
          <p:nvPr/>
        </p:nvGrpSpPr>
        <p:grpSpPr>
          <a:xfrm>
            <a:off x="12903117" y="3363049"/>
            <a:ext cx="4529823" cy="34319"/>
            <a:chOff x="0" y="0"/>
            <a:chExt cx="6039764" cy="45758"/>
          </a:xfrm>
        </p:grpSpPr>
        <p:sp>
          <p:nvSpPr>
            <p:cNvPr id="59" name="Freeform 59"/>
            <p:cNvSpPr/>
            <p:nvPr/>
          </p:nvSpPr>
          <p:spPr>
            <a:xfrm>
              <a:off x="0" y="0"/>
              <a:ext cx="6039739" cy="45720"/>
            </a:xfrm>
            <a:custGeom>
              <a:avLst/>
              <a:gdLst/>
              <a:ahLst/>
              <a:cxnLst/>
              <a:rect l="l" t="t" r="r" b="b"/>
              <a:pathLst>
                <a:path w="6039739" h="45720">
                  <a:moveTo>
                    <a:pt x="0" y="0"/>
                  </a:moveTo>
                  <a:lnTo>
                    <a:pt x="6039739" y="0"/>
                  </a:lnTo>
                  <a:lnTo>
                    <a:pt x="6039739" y="45720"/>
                  </a:lnTo>
                  <a:lnTo>
                    <a:pt x="0" y="45720"/>
                  </a:lnTo>
                  <a:close/>
                </a:path>
              </a:pathLst>
            </a:custGeom>
            <a:solidFill>
              <a:srgbClr val="D8BE82"/>
            </a:solidFill>
          </p:spPr>
        </p:sp>
      </p:grpSp>
      <p:sp>
        <p:nvSpPr>
          <p:cNvPr id="60" name="TextBox 60"/>
          <p:cNvSpPr txBox="1"/>
          <p:nvPr/>
        </p:nvSpPr>
        <p:spPr>
          <a:xfrm>
            <a:off x="12514126" y="3577685"/>
            <a:ext cx="5307806" cy="12907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448"/>
              </a:lnSpc>
            </a:pPr>
            <a:r>
              <a:rPr lang="en-US" sz="8706" b="1">
                <a:solidFill>
                  <a:srgbClr val="000000"/>
                </a:solidFill>
                <a:latin typeface="Garamond Bold"/>
                <a:ea typeface="Garamond Bold"/>
                <a:cs typeface="Garamond Bold"/>
                <a:sym typeface="Garamond Bold"/>
              </a:rPr>
              <a:t>$3B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12514126" y="4912262"/>
            <a:ext cx="5307806" cy="5738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1"/>
              </a:lnSpc>
            </a:pPr>
            <a:r>
              <a:rPr lang="en-US" sz="2101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Sent annually in remittances to Sudan</a:t>
            </a:r>
          </a:p>
        </p:txBody>
      </p:sp>
      <p:grpSp>
        <p:nvGrpSpPr>
          <p:cNvPr id="62" name="Group 62"/>
          <p:cNvGrpSpPr/>
          <p:nvPr/>
        </p:nvGrpSpPr>
        <p:grpSpPr>
          <a:xfrm>
            <a:off x="12903117" y="5655412"/>
            <a:ext cx="4529823" cy="34319"/>
            <a:chOff x="0" y="0"/>
            <a:chExt cx="6039764" cy="45758"/>
          </a:xfrm>
        </p:grpSpPr>
        <p:sp>
          <p:nvSpPr>
            <p:cNvPr id="63" name="Freeform 63"/>
            <p:cNvSpPr/>
            <p:nvPr/>
          </p:nvSpPr>
          <p:spPr>
            <a:xfrm>
              <a:off x="0" y="0"/>
              <a:ext cx="6039739" cy="45720"/>
            </a:xfrm>
            <a:custGeom>
              <a:avLst/>
              <a:gdLst/>
              <a:ahLst/>
              <a:cxnLst/>
              <a:rect l="l" t="t" r="r" b="b"/>
              <a:pathLst>
                <a:path w="6039739" h="45720">
                  <a:moveTo>
                    <a:pt x="0" y="0"/>
                  </a:moveTo>
                  <a:lnTo>
                    <a:pt x="6039739" y="0"/>
                  </a:lnTo>
                  <a:lnTo>
                    <a:pt x="6039739" y="45720"/>
                  </a:lnTo>
                  <a:lnTo>
                    <a:pt x="0" y="45720"/>
                  </a:lnTo>
                  <a:close/>
                </a:path>
              </a:pathLst>
            </a:custGeom>
            <a:solidFill>
              <a:srgbClr val="D8BE82"/>
            </a:solidFill>
          </p:spPr>
        </p:sp>
      </p:grpSp>
      <p:sp>
        <p:nvSpPr>
          <p:cNvPr id="64" name="TextBox 64"/>
          <p:cNvSpPr txBox="1"/>
          <p:nvPr/>
        </p:nvSpPr>
        <p:spPr>
          <a:xfrm>
            <a:off x="12514126" y="5870048"/>
            <a:ext cx="5307806" cy="9475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63"/>
              </a:lnSpc>
            </a:pPr>
            <a:r>
              <a:rPr lang="en-US" sz="3302" b="1">
                <a:solidFill>
                  <a:srgbClr val="000000"/>
                </a:solidFill>
                <a:latin typeface="Garamond Bold"/>
                <a:ea typeface="Garamond Bold"/>
                <a:cs typeface="Garamond Bold"/>
                <a:sym typeface="Garamond Bold"/>
              </a:rPr>
              <a:t>Strong</a:t>
            </a:r>
          </a:p>
          <a:p>
            <a:pPr algn="ctr">
              <a:lnSpc>
                <a:spcPts val="3963"/>
              </a:lnSpc>
            </a:pPr>
            <a:r>
              <a:rPr lang="en-US" sz="3302" b="1">
                <a:solidFill>
                  <a:srgbClr val="000000"/>
                </a:solidFill>
                <a:latin typeface="Garamond Bold"/>
                <a:ea typeface="Garamond Bold"/>
                <a:cs typeface="Garamond Bold"/>
                <a:sym typeface="Garamond Bold"/>
              </a:rPr>
              <a:t>Purchasing Power</a:t>
            </a:r>
          </a:p>
        </p:txBody>
      </p:sp>
      <p:sp>
        <p:nvSpPr>
          <p:cNvPr id="65" name="TextBox 65"/>
          <p:cNvSpPr txBox="1"/>
          <p:nvPr/>
        </p:nvSpPr>
        <p:spPr>
          <a:xfrm>
            <a:off x="12555303" y="6980796"/>
            <a:ext cx="5170541" cy="5231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61"/>
              </a:lnSpc>
            </a:pPr>
            <a:r>
              <a:rPr lang="en-US" sz="1801" i="1">
                <a:solidFill>
                  <a:srgbClr val="000000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A community that spends — with no dedicated platform to spend on</a:t>
            </a:r>
          </a:p>
        </p:txBody>
      </p:sp>
      <p:grpSp>
        <p:nvGrpSpPr>
          <p:cNvPr id="66" name="Group 66"/>
          <p:cNvGrpSpPr/>
          <p:nvPr/>
        </p:nvGrpSpPr>
        <p:grpSpPr>
          <a:xfrm>
            <a:off x="12354049" y="7714421"/>
            <a:ext cx="5627951" cy="1345216"/>
            <a:chOff x="0" y="0"/>
            <a:chExt cx="7503935" cy="1793621"/>
          </a:xfrm>
        </p:grpSpPr>
        <p:sp>
          <p:nvSpPr>
            <p:cNvPr id="67" name="Freeform 67"/>
            <p:cNvSpPr/>
            <p:nvPr/>
          </p:nvSpPr>
          <p:spPr>
            <a:xfrm>
              <a:off x="0" y="0"/>
              <a:ext cx="7503922" cy="1793621"/>
            </a:xfrm>
            <a:custGeom>
              <a:avLst/>
              <a:gdLst/>
              <a:ahLst/>
              <a:cxnLst/>
              <a:rect l="l" t="t" r="r" b="b"/>
              <a:pathLst>
                <a:path w="7503922" h="1793621">
                  <a:moveTo>
                    <a:pt x="0" y="0"/>
                  </a:moveTo>
                  <a:lnTo>
                    <a:pt x="7503922" y="0"/>
                  </a:lnTo>
                  <a:lnTo>
                    <a:pt x="7503922" y="1793621"/>
                  </a:lnTo>
                  <a:lnTo>
                    <a:pt x="0" y="1793621"/>
                  </a:lnTo>
                  <a:close/>
                </a:path>
              </a:pathLst>
            </a:custGeom>
            <a:solidFill>
              <a:srgbClr val="B89650"/>
            </a:solidFill>
          </p:spPr>
        </p:sp>
      </p:grpSp>
      <p:sp>
        <p:nvSpPr>
          <p:cNvPr id="68" name="TextBox 68"/>
          <p:cNvSpPr txBox="1"/>
          <p:nvPr/>
        </p:nvSpPr>
        <p:spPr>
          <a:xfrm>
            <a:off x="12555303" y="7887881"/>
            <a:ext cx="5239179" cy="9475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41"/>
              </a:lnSpc>
            </a:pPr>
            <a:r>
              <a:rPr lang="en-US" sz="1951" b="1" i="1">
                <a:solidFill>
                  <a:srgbClr val="000000"/>
                </a:solidFill>
                <a:latin typeface="Garamond Bold Italics"/>
                <a:ea typeface="Garamond Bold Italics"/>
                <a:cs typeface="Garamond Bold Italics"/>
                <a:sym typeface="Garamond Bold Italics"/>
              </a:rPr>
              <a:t>Diaspora spending power is real.</a:t>
            </a:r>
          </a:p>
          <a:p>
            <a:pPr algn="ctr">
              <a:lnSpc>
                <a:spcPts val="2341"/>
              </a:lnSpc>
            </a:pPr>
            <a:r>
              <a:rPr lang="en-US" sz="1951" b="1" i="1">
                <a:solidFill>
                  <a:srgbClr val="000000"/>
                </a:solidFill>
                <a:latin typeface="Garamond Bold Italics"/>
                <a:ea typeface="Garamond Bold Italics"/>
                <a:cs typeface="Garamond Bold Italics"/>
                <a:sym typeface="Garamond Bold Italics"/>
              </a:rPr>
              <a:t>No platform is serving them yet.</a:t>
            </a:r>
          </a:p>
        </p:txBody>
      </p:sp>
      <p:grpSp>
        <p:nvGrpSpPr>
          <p:cNvPr id="69" name="Group 69"/>
          <p:cNvGrpSpPr/>
          <p:nvPr/>
        </p:nvGrpSpPr>
        <p:grpSpPr>
          <a:xfrm>
            <a:off x="54907" y="9361627"/>
            <a:ext cx="18233093" cy="920877"/>
            <a:chOff x="0" y="0"/>
            <a:chExt cx="24310791" cy="1227836"/>
          </a:xfrm>
        </p:grpSpPr>
        <p:sp>
          <p:nvSpPr>
            <p:cNvPr id="70" name="Freeform 70"/>
            <p:cNvSpPr/>
            <p:nvPr/>
          </p:nvSpPr>
          <p:spPr>
            <a:xfrm>
              <a:off x="0" y="0"/>
              <a:ext cx="24310766" cy="1227874"/>
            </a:xfrm>
            <a:custGeom>
              <a:avLst/>
              <a:gdLst/>
              <a:ahLst/>
              <a:cxnLst/>
              <a:rect l="l" t="t" r="r" b="b"/>
              <a:pathLst>
                <a:path w="24310766" h="1227874">
                  <a:moveTo>
                    <a:pt x="0" y="0"/>
                  </a:moveTo>
                  <a:lnTo>
                    <a:pt x="24310766" y="0"/>
                  </a:lnTo>
                  <a:lnTo>
                    <a:pt x="24310766" y="1227874"/>
                  </a:lnTo>
                  <a:lnTo>
                    <a:pt x="0" y="1227874"/>
                  </a:lnTo>
                  <a:close/>
                </a:path>
              </a:pathLst>
            </a:custGeom>
            <a:solidFill>
              <a:srgbClr val="B89650"/>
            </a:solidFill>
          </p:spPr>
        </p:sp>
        <p:sp>
          <p:nvSpPr>
            <p:cNvPr id="71" name="TextBox 71"/>
            <p:cNvSpPr txBox="1"/>
            <p:nvPr/>
          </p:nvSpPr>
          <p:spPr>
            <a:xfrm>
              <a:off x="0" y="-19050"/>
              <a:ext cx="24310791" cy="124688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01"/>
                </a:lnSpc>
              </a:pPr>
              <a:r>
                <a:rPr lang="en-US" sz="3001" b="1" i="1">
                  <a:solidFill>
                    <a:srgbClr val="FFFFFF"/>
                  </a:solidFill>
                  <a:latin typeface="Garamond Bold Italics"/>
                  <a:ea typeface="Garamond Bold Italics"/>
                  <a:cs typeface="Garamond Bold Italics"/>
                  <a:sym typeface="Garamond Bold Italics"/>
                </a:rPr>
                <a:t>249Souq.com						The taste of home, wherever you are		</a:t>
              </a:r>
              <a:r>
                <a:rPr lang="ar-EG" sz="3001" b="1" i="1">
                  <a:solidFill>
                    <a:srgbClr val="FFFFFF"/>
                  </a:solidFill>
                  <a:latin typeface="Garamond Bold Italics"/>
                  <a:ea typeface="Garamond Bold Italics"/>
                  <a:cs typeface="Garamond Bold Italics"/>
                  <a:sym typeface="Garamond Bold Italics"/>
                  <a:rtl/>
                </a:rPr>
                <a:t>طعم البيت، وين ما مشيت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:fade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9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09814" cy="10295039"/>
            <a:chOff x="0" y="0"/>
            <a:chExt cx="146418" cy="1372671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46431" cy="13726668"/>
            </a:xfrm>
            <a:custGeom>
              <a:avLst/>
              <a:gdLst/>
              <a:ahLst/>
              <a:cxnLst/>
              <a:rect l="l" t="t" r="r" b="b"/>
              <a:pathLst>
                <a:path w="146431" h="13726668">
                  <a:moveTo>
                    <a:pt x="0" y="0"/>
                  </a:moveTo>
                  <a:lnTo>
                    <a:pt x="146431" y="0"/>
                  </a:lnTo>
                  <a:lnTo>
                    <a:pt x="146431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B89650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109814" y="9361627"/>
            <a:ext cx="18187911" cy="576520"/>
            <a:chOff x="0" y="0"/>
            <a:chExt cx="24250548" cy="768693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250523" cy="768731"/>
            </a:xfrm>
            <a:custGeom>
              <a:avLst/>
              <a:gdLst/>
              <a:ahLst/>
              <a:cxnLst/>
              <a:rect l="l" t="t" r="r" b="b"/>
              <a:pathLst>
                <a:path w="24250523" h="768731">
                  <a:moveTo>
                    <a:pt x="0" y="0"/>
                  </a:moveTo>
                  <a:lnTo>
                    <a:pt x="24250523" y="0"/>
                  </a:lnTo>
                  <a:lnTo>
                    <a:pt x="24250523" y="768731"/>
                  </a:lnTo>
                  <a:lnTo>
                    <a:pt x="0" y="768731"/>
                  </a:lnTo>
                  <a:close/>
                </a:path>
              </a:pathLst>
            </a:custGeom>
            <a:solidFill>
              <a:srgbClr val="B89650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503244" y="732053"/>
            <a:ext cx="10112159" cy="17104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485"/>
              </a:lnSpc>
            </a:pPr>
            <a:r>
              <a:rPr lang="en-US" sz="5404" b="1">
                <a:solidFill>
                  <a:srgbClr val="1A1408"/>
                </a:solidFill>
                <a:latin typeface="Garamond Bold"/>
                <a:ea typeface="Garamond Bold"/>
                <a:cs typeface="Garamond Bold"/>
                <a:sym typeface="Garamond Bold"/>
              </a:rPr>
              <a:t>The White Space</a:t>
            </a:r>
          </a:p>
          <a:p>
            <a:pPr algn="l">
              <a:lnSpc>
                <a:spcPts val="6485"/>
              </a:lnSpc>
            </a:pPr>
            <a:r>
              <a:rPr lang="en-US" sz="5404" b="1">
                <a:solidFill>
                  <a:srgbClr val="1A1408"/>
                </a:solidFill>
                <a:latin typeface="Garamond Bold"/>
                <a:ea typeface="Garamond Bold"/>
                <a:cs typeface="Garamond Bold"/>
                <a:sym typeface="Garamond Bold"/>
              </a:rPr>
              <a:t>No One Has Filled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411804" y="2306088"/>
            <a:ext cx="2745343" cy="82363"/>
            <a:chOff x="0" y="0"/>
            <a:chExt cx="3660458" cy="109817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3660521" cy="109855"/>
            </a:xfrm>
            <a:custGeom>
              <a:avLst/>
              <a:gdLst/>
              <a:ahLst/>
              <a:cxnLst/>
              <a:rect l="l" t="t" r="r" b="b"/>
              <a:pathLst>
                <a:path w="3660521" h="109855">
                  <a:moveTo>
                    <a:pt x="0" y="0"/>
                  </a:moveTo>
                  <a:lnTo>
                    <a:pt x="3660521" y="0"/>
                  </a:lnTo>
                  <a:lnTo>
                    <a:pt x="3660521" y="109855"/>
                  </a:lnTo>
                  <a:lnTo>
                    <a:pt x="0" y="109855"/>
                  </a:lnTo>
                  <a:close/>
                </a:path>
              </a:pathLst>
            </a:custGeom>
            <a:solidFill>
              <a:srgbClr val="B89650"/>
            </a:solidFill>
          </p:spPr>
        </p:sp>
      </p:grpSp>
      <p:grpSp>
        <p:nvGrpSpPr>
          <p:cNvPr id="9" name="Group 9"/>
          <p:cNvGrpSpPr/>
          <p:nvPr/>
        </p:nvGrpSpPr>
        <p:grpSpPr>
          <a:xfrm>
            <a:off x="407032" y="3591639"/>
            <a:ext cx="11265446" cy="1135123"/>
            <a:chOff x="0" y="0"/>
            <a:chExt cx="15020595" cy="1513497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5020544" cy="1513459"/>
            </a:xfrm>
            <a:custGeom>
              <a:avLst/>
              <a:gdLst/>
              <a:ahLst/>
              <a:cxnLst/>
              <a:rect l="l" t="t" r="r" b="b"/>
              <a:pathLst>
                <a:path w="15020544" h="1513459">
                  <a:moveTo>
                    <a:pt x="0" y="0"/>
                  </a:moveTo>
                  <a:lnTo>
                    <a:pt x="15020544" y="0"/>
                  </a:lnTo>
                  <a:lnTo>
                    <a:pt x="15020544" y="1513459"/>
                  </a:lnTo>
                  <a:lnTo>
                    <a:pt x="0" y="1513459"/>
                  </a:lnTo>
                  <a:close/>
                </a:path>
              </a:pathLst>
            </a:custGeom>
            <a:solidFill>
              <a:srgbClr val="FFFFFF"/>
            </a:solidFill>
            <a:ln w="9532" cap="sq">
              <a:solidFill>
                <a:srgbClr val="D8BE82"/>
              </a:solidFill>
              <a:prstDash val="solid"/>
              <a:miter/>
            </a:ln>
          </p:spPr>
        </p:sp>
      </p:grpSp>
      <p:grpSp>
        <p:nvGrpSpPr>
          <p:cNvPr id="11" name="Group 11"/>
          <p:cNvGrpSpPr/>
          <p:nvPr/>
        </p:nvGrpSpPr>
        <p:grpSpPr>
          <a:xfrm>
            <a:off x="411804" y="3596402"/>
            <a:ext cx="96088" cy="1125588"/>
            <a:chOff x="0" y="0"/>
            <a:chExt cx="128118" cy="1500784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28143" cy="1500759"/>
            </a:xfrm>
            <a:custGeom>
              <a:avLst/>
              <a:gdLst/>
              <a:ahLst/>
              <a:cxnLst/>
              <a:rect l="l" t="t" r="r" b="b"/>
              <a:pathLst>
                <a:path w="128143" h="1500759">
                  <a:moveTo>
                    <a:pt x="0" y="0"/>
                  </a:moveTo>
                  <a:lnTo>
                    <a:pt x="128143" y="0"/>
                  </a:lnTo>
                  <a:lnTo>
                    <a:pt x="128143" y="1500759"/>
                  </a:lnTo>
                  <a:lnTo>
                    <a:pt x="0" y="1500759"/>
                  </a:lnTo>
                  <a:close/>
                </a:path>
              </a:pathLst>
            </a:custGeom>
            <a:solidFill>
              <a:srgbClr val="B89650"/>
            </a:solidFill>
          </p:spPr>
        </p:sp>
      </p:grpSp>
      <p:grpSp>
        <p:nvGrpSpPr>
          <p:cNvPr id="13" name="Group 13"/>
          <p:cNvGrpSpPr/>
          <p:nvPr/>
        </p:nvGrpSpPr>
        <p:grpSpPr>
          <a:xfrm>
            <a:off x="598256" y="3837765"/>
            <a:ext cx="642871" cy="642871"/>
            <a:chOff x="0" y="0"/>
            <a:chExt cx="857161" cy="857161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57123" cy="857123"/>
            </a:xfrm>
            <a:custGeom>
              <a:avLst/>
              <a:gdLst/>
              <a:ahLst/>
              <a:cxnLst/>
              <a:rect l="l" t="t" r="r" b="b"/>
              <a:pathLst>
                <a:path w="857123" h="857123">
                  <a:moveTo>
                    <a:pt x="0" y="428625"/>
                  </a:moveTo>
                  <a:cubicBezTo>
                    <a:pt x="0" y="191897"/>
                    <a:pt x="191897" y="0"/>
                    <a:pt x="428625" y="0"/>
                  </a:cubicBezTo>
                  <a:cubicBezTo>
                    <a:pt x="665353" y="0"/>
                    <a:pt x="857123" y="191897"/>
                    <a:pt x="857123" y="428625"/>
                  </a:cubicBezTo>
                  <a:cubicBezTo>
                    <a:pt x="857123" y="665353"/>
                    <a:pt x="665226" y="857123"/>
                    <a:pt x="428625" y="857123"/>
                  </a:cubicBezTo>
                  <a:cubicBezTo>
                    <a:pt x="192024" y="857123"/>
                    <a:pt x="0" y="665226"/>
                    <a:pt x="0" y="428625"/>
                  </a:cubicBezTo>
                  <a:close/>
                </a:path>
              </a:pathLst>
            </a:custGeom>
            <a:solidFill>
              <a:srgbClr val="F5EEDC"/>
            </a:solidFill>
            <a:ln w="11439" cap="sq">
              <a:solidFill>
                <a:srgbClr val="B89650"/>
              </a:solidFill>
              <a:prstDash val="solid"/>
              <a:miter/>
            </a:ln>
          </p:spPr>
        </p:sp>
      </p:grpSp>
      <p:grpSp>
        <p:nvGrpSpPr>
          <p:cNvPr id="15" name="Group 15"/>
          <p:cNvGrpSpPr/>
          <p:nvPr/>
        </p:nvGrpSpPr>
        <p:grpSpPr>
          <a:xfrm>
            <a:off x="407032" y="4854492"/>
            <a:ext cx="11265446" cy="1135123"/>
            <a:chOff x="0" y="0"/>
            <a:chExt cx="15020595" cy="1513497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5020544" cy="1513459"/>
            </a:xfrm>
            <a:custGeom>
              <a:avLst/>
              <a:gdLst/>
              <a:ahLst/>
              <a:cxnLst/>
              <a:rect l="l" t="t" r="r" b="b"/>
              <a:pathLst>
                <a:path w="15020544" h="1513459">
                  <a:moveTo>
                    <a:pt x="0" y="0"/>
                  </a:moveTo>
                  <a:lnTo>
                    <a:pt x="15020544" y="0"/>
                  </a:lnTo>
                  <a:lnTo>
                    <a:pt x="15020544" y="1513459"/>
                  </a:lnTo>
                  <a:lnTo>
                    <a:pt x="0" y="1513459"/>
                  </a:lnTo>
                  <a:close/>
                </a:path>
              </a:pathLst>
            </a:custGeom>
            <a:solidFill>
              <a:srgbClr val="FFFFFF"/>
            </a:solidFill>
            <a:ln w="9532" cap="sq">
              <a:solidFill>
                <a:srgbClr val="D8BE82"/>
              </a:solidFill>
              <a:prstDash val="solid"/>
              <a:miter/>
            </a:ln>
          </p:spPr>
        </p:sp>
      </p:grpSp>
      <p:grpSp>
        <p:nvGrpSpPr>
          <p:cNvPr id="17" name="Group 17"/>
          <p:cNvGrpSpPr/>
          <p:nvPr/>
        </p:nvGrpSpPr>
        <p:grpSpPr>
          <a:xfrm>
            <a:off x="411804" y="4859264"/>
            <a:ext cx="96088" cy="1125588"/>
            <a:chOff x="0" y="0"/>
            <a:chExt cx="128118" cy="1500784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28143" cy="1500759"/>
            </a:xfrm>
            <a:custGeom>
              <a:avLst/>
              <a:gdLst/>
              <a:ahLst/>
              <a:cxnLst/>
              <a:rect l="l" t="t" r="r" b="b"/>
              <a:pathLst>
                <a:path w="128143" h="1500759">
                  <a:moveTo>
                    <a:pt x="0" y="0"/>
                  </a:moveTo>
                  <a:lnTo>
                    <a:pt x="128143" y="0"/>
                  </a:lnTo>
                  <a:lnTo>
                    <a:pt x="128143" y="1500759"/>
                  </a:lnTo>
                  <a:lnTo>
                    <a:pt x="0" y="1500759"/>
                  </a:lnTo>
                  <a:close/>
                </a:path>
              </a:pathLst>
            </a:custGeom>
            <a:solidFill>
              <a:srgbClr val="B89650"/>
            </a:solidFill>
          </p:spPr>
        </p:sp>
      </p:grpSp>
      <p:grpSp>
        <p:nvGrpSpPr>
          <p:cNvPr id="19" name="Group 19"/>
          <p:cNvGrpSpPr/>
          <p:nvPr/>
        </p:nvGrpSpPr>
        <p:grpSpPr>
          <a:xfrm>
            <a:off x="598256" y="5100618"/>
            <a:ext cx="642871" cy="642871"/>
            <a:chOff x="0" y="0"/>
            <a:chExt cx="857161" cy="857161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57123" cy="857123"/>
            </a:xfrm>
            <a:custGeom>
              <a:avLst/>
              <a:gdLst/>
              <a:ahLst/>
              <a:cxnLst/>
              <a:rect l="l" t="t" r="r" b="b"/>
              <a:pathLst>
                <a:path w="857123" h="857123">
                  <a:moveTo>
                    <a:pt x="0" y="428625"/>
                  </a:moveTo>
                  <a:cubicBezTo>
                    <a:pt x="0" y="191897"/>
                    <a:pt x="191897" y="0"/>
                    <a:pt x="428625" y="0"/>
                  </a:cubicBezTo>
                  <a:cubicBezTo>
                    <a:pt x="665353" y="0"/>
                    <a:pt x="857123" y="191897"/>
                    <a:pt x="857123" y="428625"/>
                  </a:cubicBezTo>
                  <a:cubicBezTo>
                    <a:pt x="857123" y="665353"/>
                    <a:pt x="665226" y="857123"/>
                    <a:pt x="428625" y="857123"/>
                  </a:cubicBezTo>
                  <a:cubicBezTo>
                    <a:pt x="192024" y="857123"/>
                    <a:pt x="0" y="665226"/>
                    <a:pt x="0" y="428625"/>
                  </a:cubicBezTo>
                  <a:close/>
                </a:path>
              </a:pathLst>
            </a:custGeom>
            <a:solidFill>
              <a:srgbClr val="F5EEDC"/>
            </a:solidFill>
            <a:ln w="11439" cap="sq">
              <a:solidFill>
                <a:srgbClr val="B89650"/>
              </a:solidFill>
              <a:prstDash val="solid"/>
              <a:miter/>
            </a:ln>
          </p:spPr>
        </p:sp>
      </p:grpSp>
      <p:grpSp>
        <p:nvGrpSpPr>
          <p:cNvPr id="21" name="Group 21"/>
          <p:cNvGrpSpPr/>
          <p:nvPr/>
        </p:nvGrpSpPr>
        <p:grpSpPr>
          <a:xfrm>
            <a:off x="407032" y="6117355"/>
            <a:ext cx="11265446" cy="1135123"/>
            <a:chOff x="0" y="0"/>
            <a:chExt cx="15020595" cy="1513497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15020544" cy="1513459"/>
            </a:xfrm>
            <a:custGeom>
              <a:avLst/>
              <a:gdLst/>
              <a:ahLst/>
              <a:cxnLst/>
              <a:rect l="l" t="t" r="r" b="b"/>
              <a:pathLst>
                <a:path w="15020544" h="1513459">
                  <a:moveTo>
                    <a:pt x="0" y="0"/>
                  </a:moveTo>
                  <a:lnTo>
                    <a:pt x="15020544" y="0"/>
                  </a:lnTo>
                  <a:lnTo>
                    <a:pt x="15020544" y="1513459"/>
                  </a:lnTo>
                  <a:lnTo>
                    <a:pt x="0" y="1513459"/>
                  </a:lnTo>
                  <a:close/>
                </a:path>
              </a:pathLst>
            </a:custGeom>
            <a:solidFill>
              <a:srgbClr val="FFFFFF"/>
            </a:solidFill>
            <a:ln w="9532" cap="sq">
              <a:solidFill>
                <a:srgbClr val="D8BE82"/>
              </a:solidFill>
              <a:prstDash val="solid"/>
              <a:miter/>
            </a:ln>
          </p:spPr>
        </p:sp>
      </p:grpSp>
      <p:grpSp>
        <p:nvGrpSpPr>
          <p:cNvPr id="23" name="Group 23"/>
          <p:cNvGrpSpPr/>
          <p:nvPr/>
        </p:nvGrpSpPr>
        <p:grpSpPr>
          <a:xfrm>
            <a:off x="411804" y="6122118"/>
            <a:ext cx="96088" cy="1125588"/>
            <a:chOff x="0" y="0"/>
            <a:chExt cx="128118" cy="1500784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128143" cy="1500759"/>
            </a:xfrm>
            <a:custGeom>
              <a:avLst/>
              <a:gdLst/>
              <a:ahLst/>
              <a:cxnLst/>
              <a:rect l="l" t="t" r="r" b="b"/>
              <a:pathLst>
                <a:path w="128143" h="1500759">
                  <a:moveTo>
                    <a:pt x="0" y="0"/>
                  </a:moveTo>
                  <a:lnTo>
                    <a:pt x="128143" y="0"/>
                  </a:lnTo>
                  <a:lnTo>
                    <a:pt x="128143" y="1500759"/>
                  </a:lnTo>
                  <a:lnTo>
                    <a:pt x="0" y="1500759"/>
                  </a:lnTo>
                  <a:close/>
                </a:path>
              </a:pathLst>
            </a:custGeom>
            <a:solidFill>
              <a:srgbClr val="B89650"/>
            </a:solidFill>
          </p:spPr>
        </p:sp>
      </p:grpSp>
      <p:grpSp>
        <p:nvGrpSpPr>
          <p:cNvPr id="25" name="Group 25"/>
          <p:cNvGrpSpPr/>
          <p:nvPr/>
        </p:nvGrpSpPr>
        <p:grpSpPr>
          <a:xfrm>
            <a:off x="598256" y="6363481"/>
            <a:ext cx="642871" cy="642871"/>
            <a:chOff x="0" y="0"/>
            <a:chExt cx="857161" cy="857161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57123" cy="857123"/>
            </a:xfrm>
            <a:custGeom>
              <a:avLst/>
              <a:gdLst/>
              <a:ahLst/>
              <a:cxnLst/>
              <a:rect l="l" t="t" r="r" b="b"/>
              <a:pathLst>
                <a:path w="857123" h="857123">
                  <a:moveTo>
                    <a:pt x="0" y="428625"/>
                  </a:moveTo>
                  <a:cubicBezTo>
                    <a:pt x="0" y="191897"/>
                    <a:pt x="191897" y="0"/>
                    <a:pt x="428625" y="0"/>
                  </a:cubicBezTo>
                  <a:cubicBezTo>
                    <a:pt x="665353" y="0"/>
                    <a:pt x="857123" y="191897"/>
                    <a:pt x="857123" y="428625"/>
                  </a:cubicBezTo>
                  <a:cubicBezTo>
                    <a:pt x="857123" y="665353"/>
                    <a:pt x="665226" y="857123"/>
                    <a:pt x="428625" y="857123"/>
                  </a:cubicBezTo>
                  <a:cubicBezTo>
                    <a:pt x="192024" y="857123"/>
                    <a:pt x="0" y="665226"/>
                    <a:pt x="0" y="428625"/>
                  </a:cubicBezTo>
                  <a:close/>
                </a:path>
              </a:pathLst>
            </a:custGeom>
            <a:solidFill>
              <a:srgbClr val="F5EEDC"/>
            </a:solidFill>
            <a:ln w="11439" cap="sq">
              <a:solidFill>
                <a:srgbClr val="B89650"/>
              </a:solidFill>
              <a:prstDash val="solid"/>
              <a:miter/>
            </a:ln>
          </p:spPr>
        </p:sp>
      </p:grpSp>
      <p:grpSp>
        <p:nvGrpSpPr>
          <p:cNvPr id="27" name="Group 27"/>
          <p:cNvGrpSpPr/>
          <p:nvPr/>
        </p:nvGrpSpPr>
        <p:grpSpPr>
          <a:xfrm>
            <a:off x="407032" y="7380208"/>
            <a:ext cx="11265446" cy="1135123"/>
            <a:chOff x="0" y="0"/>
            <a:chExt cx="15020595" cy="1513497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15020544" cy="1513459"/>
            </a:xfrm>
            <a:custGeom>
              <a:avLst/>
              <a:gdLst/>
              <a:ahLst/>
              <a:cxnLst/>
              <a:rect l="l" t="t" r="r" b="b"/>
              <a:pathLst>
                <a:path w="15020544" h="1513459">
                  <a:moveTo>
                    <a:pt x="0" y="0"/>
                  </a:moveTo>
                  <a:lnTo>
                    <a:pt x="15020544" y="0"/>
                  </a:lnTo>
                  <a:lnTo>
                    <a:pt x="15020544" y="1513459"/>
                  </a:lnTo>
                  <a:lnTo>
                    <a:pt x="0" y="1513459"/>
                  </a:lnTo>
                  <a:close/>
                </a:path>
              </a:pathLst>
            </a:custGeom>
            <a:solidFill>
              <a:srgbClr val="FFFFFF"/>
            </a:solidFill>
            <a:ln w="9532" cap="sq">
              <a:solidFill>
                <a:srgbClr val="D8BE82"/>
              </a:solidFill>
              <a:prstDash val="solid"/>
              <a:miter/>
            </a:ln>
          </p:spPr>
        </p:sp>
      </p:grpSp>
      <p:grpSp>
        <p:nvGrpSpPr>
          <p:cNvPr id="29" name="Group 29"/>
          <p:cNvGrpSpPr/>
          <p:nvPr/>
        </p:nvGrpSpPr>
        <p:grpSpPr>
          <a:xfrm>
            <a:off x="411804" y="7384980"/>
            <a:ext cx="96088" cy="1125588"/>
            <a:chOff x="0" y="0"/>
            <a:chExt cx="128118" cy="1500784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128143" cy="1500759"/>
            </a:xfrm>
            <a:custGeom>
              <a:avLst/>
              <a:gdLst/>
              <a:ahLst/>
              <a:cxnLst/>
              <a:rect l="l" t="t" r="r" b="b"/>
              <a:pathLst>
                <a:path w="128143" h="1500759">
                  <a:moveTo>
                    <a:pt x="0" y="0"/>
                  </a:moveTo>
                  <a:lnTo>
                    <a:pt x="128143" y="0"/>
                  </a:lnTo>
                  <a:lnTo>
                    <a:pt x="128143" y="1500759"/>
                  </a:lnTo>
                  <a:lnTo>
                    <a:pt x="0" y="1500759"/>
                  </a:lnTo>
                  <a:close/>
                </a:path>
              </a:pathLst>
            </a:custGeom>
            <a:solidFill>
              <a:srgbClr val="B89650"/>
            </a:solidFill>
          </p:spPr>
        </p:sp>
      </p:grpSp>
      <p:grpSp>
        <p:nvGrpSpPr>
          <p:cNvPr id="31" name="Group 31"/>
          <p:cNvGrpSpPr/>
          <p:nvPr/>
        </p:nvGrpSpPr>
        <p:grpSpPr>
          <a:xfrm>
            <a:off x="598256" y="7626344"/>
            <a:ext cx="642871" cy="642871"/>
            <a:chOff x="0" y="0"/>
            <a:chExt cx="857161" cy="857161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57123" cy="857123"/>
            </a:xfrm>
            <a:custGeom>
              <a:avLst/>
              <a:gdLst/>
              <a:ahLst/>
              <a:cxnLst/>
              <a:rect l="l" t="t" r="r" b="b"/>
              <a:pathLst>
                <a:path w="857123" h="857123">
                  <a:moveTo>
                    <a:pt x="0" y="428625"/>
                  </a:moveTo>
                  <a:cubicBezTo>
                    <a:pt x="0" y="191897"/>
                    <a:pt x="191897" y="0"/>
                    <a:pt x="428625" y="0"/>
                  </a:cubicBezTo>
                  <a:cubicBezTo>
                    <a:pt x="665353" y="0"/>
                    <a:pt x="857123" y="191897"/>
                    <a:pt x="857123" y="428625"/>
                  </a:cubicBezTo>
                  <a:cubicBezTo>
                    <a:pt x="857123" y="665353"/>
                    <a:pt x="665226" y="857123"/>
                    <a:pt x="428625" y="857123"/>
                  </a:cubicBezTo>
                  <a:cubicBezTo>
                    <a:pt x="192024" y="857123"/>
                    <a:pt x="0" y="665226"/>
                    <a:pt x="0" y="428625"/>
                  </a:cubicBezTo>
                  <a:close/>
                </a:path>
              </a:pathLst>
            </a:custGeom>
            <a:solidFill>
              <a:srgbClr val="F5EEDC"/>
            </a:solidFill>
            <a:ln w="11439" cap="sq">
              <a:solidFill>
                <a:srgbClr val="B89650"/>
              </a:solidFill>
              <a:prstDash val="solid"/>
              <a:miter/>
            </a:ln>
          </p:spPr>
        </p:sp>
      </p:grpSp>
      <p:grpSp>
        <p:nvGrpSpPr>
          <p:cNvPr id="33" name="Group 33"/>
          <p:cNvGrpSpPr/>
          <p:nvPr/>
        </p:nvGrpSpPr>
        <p:grpSpPr>
          <a:xfrm>
            <a:off x="12354049" y="301990"/>
            <a:ext cx="5627951" cy="4598451"/>
            <a:chOff x="0" y="0"/>
            <a:chExt cx="7503935" cy="6131268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7503922" cy="6131306"/>
            </a:xfrm>
            <a:custGeom>
              <a:avLst/>
              <a:gdLst/>
              <a:ahLst/>
              <a:cxnLst/>
              <a:rect l="l" t="t" r="r" b="b"/>
              <a:pathLst>
                <a:path w="7503922" h="6131306">
                  <a:moveTo>
                    <a:pt x="0" y="0"/>
                  </a:moveTo>
                  <a:lnTo>
                    <a:pt x="7503922" y="0"/>
                  </a:lnTo>
                  <a:lnTo>
                    <a:pt x="7503922" y="6131306"/>
                  </a:lnTo>
                  <a:lnTo>
                    <a:pt x="0" y="6131306"/>
                  </a:lnTo>
                  <a:close/>
                </a:path>
              </a:pathLst>
            </a:custGeom>
            <a:solidFill>
              <a:srgbClr val="D8BE82"/>
            </a:solidFill>
          </p:spPr>
        </p:sp>
      </p:grpSp>
      <p:grpSp>
        <p:nvGrpSpPr>
          <p:cNvPr id="35" name="Group 35"/>
          <p:cNvGrpSpPr/>
          <p:nvPr/>
        </p:nvGrpSpPr>
        <p:grpSpPr>
          <a:xfrm>
            <a:off x="12903117" y="2361000"/>
            <a:ext cx="4529823" cy="54912"/>
            <a:chOff x="0" y="0"/>
            <a:chExt cx="6039764" cy="73216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6039739" cy="73152"/>
            </a:xfrm>
            <a:custGeom>
              <a:avLst/>
              <a:gdLst/>
              <a:ahLst/>
              <a:cxnLst/>
              <a:rect l="l" t="t" r="r" b="b"/>
              <a:pathLst>
                <a:path w="6039739" h="73152">
                  <a:moveTo>
                    <a:pt x="0" y="0"/>
                  </a:moveTo>
                  <a:lnTo>
                    <a:pt x="6039739" y="0"/>
                  </a:lnTo>
                  <a:lnTo>
                    <a:pt x="6039739" y="73152"/>
                  </a:lnTo>
                  <a:lnTo>
                    <a:pt x="0" y="73152"/>
                  </a:lnTo>
                  <a:close/>
                </a:path>
              </a:pathLst>
            </a:custGeom>
            <a:solidFill>
              <a:srgbClr val="F5EEDC"/>
            </a:solidFill>
          </p:spPr>
        </p:sp>
      </p:grpSp>
      <p:grpSp>
        <p:nvGrpSpPr>
          <p:cNvPr id="37" name="Group 37"/>
          <p:cNvGrpSpPr/>
          <p:nvPr/>
        </p:nvGrpSpPr>
        <p:grpSpPr>
          <a:xfrm>
            <a:off x="12348334" y="5045716"/>
            <a:ext cx="5639391" cy="4019645"/>
            <a:chOff x="0" y="0"/>
            <a:chExt cx="7519187" cy="5359527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7519162" cy="5359527"/>
            </a:xfrm>
            <a:custGeom>
              <a:avLst/>
              <a:gdLst/>
              <a:ahLst/>
              <a:cxnLst/>
              <a:rect l="l" t="t" r="r" b="b"/>
              <a:pathLst>
                <a:path w="7519162" h="5359527">
                  <a:moveTo>
                    <a:pt x="0" y="0"/>
                  </a:moveTo>
                  <a:lnTo>
                    <a:pt x="7519162" y="0"/>
                  </a:lnTo>
                  <a:lnTo>
                    <a:pt x="7519162" y="5359527"/>
                  </a:lnTo>
                  <a:lnTo>
                    <a:pt x="0" y="5359527"/>
                  </a:lnTo>
                  <a:close/>
                </a:path>
              </a:pathLst>
            </a:custGeom>
            <a:solidFill>
              <a:srgbClr val="F5EEDC"/>
            </a:solidFill>
            <a:ln w="11439" cap="sq">
              <a:solidFill>
                <a:srgbClr val="B89650"/>
              </a:solidFill>
              <a:prstDash val="solid"/>
              <a:miter/>
            </a:ln>
          </p:spPr>
        </p:sp>
      </p:grpSp>
      <p:grpSp>
        <p:nvGrpSpPr>
          <p:cNvPr id="39" name="Group 39"/>
          <p:cNvGrpSpPr/>
          <p:nvPr/>
        </p:nvGrpSpPr>
        <p:grpSpPr>
          <a:xfrm>
            <a:off x="12765853" y="5655412"/>
            <a:ext cx="4804353" cy="34319"/>
            <a:chOff x="0" y="0"/>
            <a:chExt cx="6405804" cy="45758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6405753" cy="45720"/>
            </a:xfrm>
            <a:custGeom>
              <a:avLst/>
              <a:gdLst/>
              <a:ahLst/>
              <a:cxnLst/>
              <a:rect l="l" t="t" r="r" b="b"/>
              <a:pathLst>
                <a:path w="6405753" h="45720">
                  <a:moveTo>
                    <a:pt x="0" y="0"/>
                  </a:moveTo>
                  <a:lnTo>
                    <a:pt x="6405753" y="0"/>
                  </a:lnTo>
                  <a:lnTo>
                    <a:pt x="6405753" y="45720"/>
                  </a:lnTo>
                  <a:lnTo>
                    <a:pt x="0" y="45720"/>
                  </a:lnTo>
                  <a:close/>
                </a:path>
              </a:pathLst>
            </a:custGeom>
            <a:solidFill>
              <a:srgbClr val="D8BE82"/>
            </a:solidFill>
          </p:spPr>
        </p:sp>
      </p:grpSp>
      <p:grpSp>
        <p:nvGrpSpPr>
          <p:cNvPr id="41" name="Group 41"/>
          <p:cNvGrpSpPr/>
          <p:nvPr/>
        </p:nvGrpSpPr>
        <p:grpSpPr>
          <a:xfrm>
            <a:off x="12628588" y="6286843"/>
            <a:ext cx="5078892" cy="20593"/>
            <a:chOff x="0" y="0"/>
            <a:chExt cx="6771856" cy="27457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6771894" cy="27432"/>
            </a:xfrm>
            <a:custGeom>
              <a:avLst/>
              <a:gdLst/>
              <a:ahLst/>
              <a:cxnLst/>
              <a:rect l="l" t="t" r="r" b="b"/>
              <a:pathLst>
                <a:path w="6771894" h="27432">
                  <a:moveTo>
                    <a:pt x="0" y="0"/>
                  </a:moveTo>
                  <a:lnTo>
                    <a:pt x="6771894" y="0"/>
                  </a:lnTo>
                  <a:lnTo>
                    <a:pt x="6771894" y="27432"/>
                  </a:lnTo>
                  <a:lnTo>
                    <a:pt x="0" y="27432"/>
                  </a:lnTo>
                  <a:close/>
                </a:path>
              </a:pathLst>
            </a:custGeom>
            <a:solidFill>
              <a:srgbClr val="D8BE82"/>
            </a:solidFill>
          </p:spPr>
        </p:sp>
      </p:grpSp>
      <p:grpSp>
        <p:nvGrpSpPr>
          <p:cNvPr id="43" name="Group 43"/>
          <p:cNvGrpSpPr/>
          <p:nvPr/>
        </p:nvGrpSpPr>
        <p:grpSpPr>
          <a:xfrm>
            <a:off x="12628588" y="6945725"/>
            <a:ext cx="5078892" cy="20593"/>
            <a:chOff x="0" y="0"/>
            <a:chExt cx="6771856" cy="27457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6771894" cy="27432"/>
            </a:xfrm>
            <a:custGeom>
              <a:avLst/>
              <a:gdLst/>
              <a:ahLst/>
              <a:cxnLst/>
              <a:rect l="l" t="t" r="r" b="b"/>
              <a:pathLst>
                <a:path w="6771894" h="27432">
                  <a:moveTo>
                    <a:pt x="0" y="0"/>
                  </a:moveTo>
                  <a:lnTo>
                    <a:pt x="6771894" y="0"/>
                  </a:lnTo>
                  <a:lnTo>
                    <a:pt x="6771894" y="27432"/>
                  </a:lnTo>
                  <a:lnTo>
                    <a:pt x="0" y="27432"/>
                  </a:lnTo>
                  <a:close/>
                </a:path>
              </a:pathLst>
            </a:custGeom>
            <a:solidFill>
              <a:srgbClr val="D8BE82"/>
            </a:solidFill>
          </p:spPr>
        </p:sp>
      </p:grpSp>
      <p:grpSp>
        <p:nvGrpSpPr>
          <p:cNvPr id="45" name="Group 45"/>
          <p:cNvGrpSpPr/>
          <p:nvPr/>
        </p:nvGrpSpPr>
        <p:grpSpPr>
          <a:xfrm>
            <a:off x="12628588" y="7604608"/>
            <a:ext cx="5078892" cy="20593"/>
            <a:chOff x="0" y="0"/>
            <a:chExt cx="6771856" cy="27457"/>
          </a:xfrm>
        </p:grpSpPr>
        <p:sp>
          <p:nvSpPr>
            <p:cNvPr id="46" name="Freeform 46"/>
            <p:cNvSpPr/>
            <p:nvPr/>
          </p:nvSpPr>
          <p:spPr>
            <a:xfrm>
              <a:off x="0" y="0"/>
              <a:ext cx="6771894" cy="27432"/>
            </a:xfrm>
            <a:custGeom>
              <a:avLst/>
              <a:gdLst/>
              <a:ahLst/>
              <a:cxnLst/>
              <a:rect l="l" t="t" r="r" b="b"/>
              <a:pathLst>
                <a:path w="6771894" h="27432">
                  <a:moveTo>
                    <a:pt x="0" y="0"/>
                  </a:moveTo>
                  <a:lnTo>
                    <a:pt x="6771894" y="0"/>
                  </a:lnTo>
                  <a:lnTo>
                    <a:pt x="6771894" y="27432"/>
                  </a:lnTo>
                  <a:lnTo>
                    <a:pt x="0" y="27432"/>
                  </a:lnTo>
                  <a:close/>
                </a:path>
              </a:pathLst>
            </a:custGeom>
            <a:solidFill>
              <a:srgbClr val="D8BE82"/>
            </a:solidFill>
          </p:spPr>
        </p:sp>
      </p:grpSp>
      <p:grpSp>
        <p:nvGrpSpPr>
          <p:cNvPr id="47" name="Group 47"/>
          <p:cNvGrpSpPr/>
          <p:nvPr/>
        </p:nvGrpSpPr>
        <p:grpSpPr>
          <a:xfrm>
            <a:off x="12628588" y="8263490"/>
            <a:ext cx="5078892" cy="20593"/>
            <a:chOff x="0" y="0"/>
            <a:chExt cx="6771856" cy="27457"/>
          </a:xfrm>
        </p:grpSpPr>
        <p:sp>
          <p:nvSpPr>
            <p:cNvPr id="48" name="Freeform 48"/>
            <p:cNvSpPr/>
            <p:nvPr/>
          </p:nvSpPr>
          <p:spPr>
            <a:xfrm>
              <a:off x="0" y="0"/>
              <a:ext cx="6771894" cy="27432"/>
            </a:xfrm>
            <a:custGeom>
              <a:avLst/>
              <a:gdLst/>
              <a:ahLst/>
              <a:cxnLst/>
              <a:rect l="l" t="t" r="r" b="b"/>
              <a:pathLst>
                <a:path w="6771894" h="27432">
                  <a:moveTo>
                    <a:pt x="0" y="0"/>
                  </a:moveTo>
                  <a:lnTo>
                    <a:pt x="6771894" y="0"/>
                  </a:lnTo>
                  <a:lnTo>
                    <a:pt x="6771894" y="27432"/>
                  </a:lnTo>
                  <a:lnTo>
                    <a:pt x="0" y="27432"/>
                  </a:lnTo>
                  <a:close/>
                </a:path>
              </a:pathLst>
            </a:custGeom>
            <a:solidFill>
              <a:srgbClr val="D8BE82"/>
            </a:solidFill>
          </p:spPr>
        </p:sp>
      </p:grpSp>
      <p:grpSp>
        <p:nvGrpSpPr>
          <p:cNvPr id="49" name="Group 49"/>
          <p:cNvGrpSpPr/>
          <p:nvPr/>
        </p:nvGrpSpPr>
        <p:grpSpPr>
          <a:xfrm>
            <a:off x="12628588" y="8922372"/>
            <a:ext cx="5078892" cy="20593"/>
            <a:chOff x="0" y="0"/>
            <a:chExt cx="6771856" cy="27457"/>
          </a:xfrm>
        </p:grpSpPr>
        <p:sp>
          <p:nvSpPr>
            <p:cNvPr id="50" name="Freeform 50"/>
            <p:cNvSpPr/>
            <p:nvPr/>
          </p:nvSpPr>
          <p:spPr>
            <a:xfrm>
              <a:off x="0" y="0"/>
              <a:ext cx="6771894" cy="27432"/>
            </a:xfrm>
            <a:custGeom>
              <a:avLst/>
              <a:gdLst/>
              <a:ahLst/>
              <a:cxnLst/>
              <a:rect l="l" t="t" r="r" b="b"/>
              <a:pathLst>
                <a:path w="6771894" h="27432">
                  <a:moveTo>
                    <a:pt x="0" y="0"/>
                  </a:moveTo>
                  <a:lnTo>
                    <a:pt x="6771894" y="0"/>
                  </a:lnTo>
                  <a:lnTo>
                    <a:pt x="6771894" y="27432"/>
                  </a:lnTo>
                  <a:lnTo>
                    <a:pt x="0" y="27432"/>
                  </a:lnTo>
                  <a:close/>
                </a:path>
              </a:pathLst>
            </a:custGeom>
            <a:solidFill>
              <a:srgbClr val="D8BE82"/>
            </a:solidFill>
          </p:spPr>
        </p:sp>
      </p:grpSp>
      <p:sp>
        <p:nvSpPr>
          <p:cNvPr id="51" name="TextBox 51"/>
          <p:cNvSpPr txBox="1"/>
          <p:nvPr/>
        </p:nvSpPr>
        <p:spPr>
          <a:xfrm>
            <a:off x="661006" y="9497339"/>
            <a:ext cx="16975522" cy="3801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 b="1" i="1">
                <a:solidFill>
                  <a:srgbClr val="FFFFFF"/>
                </a:solidFill>
                <a:latin typeface="Garamond Bold Italics"/>
                <a:ea typeface="Garamond Bold Italics"/>
                <a:cs typeface="Garamond Bold Italics"/>
                <a:sym typeface="Garamond Bold Italics"/>
              </a:rPr>
              <a:t>249Souq.com						The taste of home, wherever you are		</a:t>
            </a:r>
            <a:r>
              <a:rPr lang="ar-EG" sz="2101" b="1" i="1">
                <a:solidFill>
                  <a:srgbClr val="FFFFFF"/>
                </a:solidFill>
                <a:latin typeface="Garamond Bold Italics"/>
                <a:ea typeface="Garamond Bold Italics"/>
                <a:cs typeface="Garamond Bold Italics"/>
                <a:sym typeface="Garamond Bold Italics"/>
                <a:rtl/>
              </a:rPr>
              <a:t>طعم البيت، وين ما مشيت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17387116" y="9841278"/>
            <a:ext cx="572091" cy="3119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441"/>
              </a:lnSpc>
            </a:pPr>
            <a:r>
              <a:rPr lang="en-US" sz="1200">
                <a:solidFill>
                  <a:srgbClr val="8A7A60"/>
                </a:solidFill>
                <a:latin typeface="Calibri (MS)"/>
                <a:ea typeface="Calibri (MS)"/>
                <a:cs typeface="Calibri (MS)"/>
                <a:sym typeface="Calibri (MS)"/>
              </a:rPr>
              <a:t>04 / 11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503244" y="309610"/>
            <a:ext cx="10798502" cy="3310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 b="1">
                <a:solidFill>
                  <a:srgbClr val="B8965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THE OPPORTUNITY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503244" y="2523811"/>
            <a:ext cx="11073032" cy="6954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>
                <a:solidFill>
                  <a:srgbClr val="3A2E1A"/>
                </a:solidFill>
                <a:latin typeface="Calibri (MS)"/>
                <a:ea typeface="Calibri (MS)"/>
                <a:cs typeface="Calibri (MS)"/>
                <a:sym typeface="Calibri (MS)"/>
              </a:rPr>
              <a:t>Over 5 million Sudanese people spread worldwide with strong purchasing power, and no dedicated marketplace to serve them. 249Souq.com is the first-mover opportunity.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709146" y="4027094"/>
            <a:ext cx="448551" cy="3943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01"/>
              </a:lnSpc>
            </a:pPr>
            <a:r>
              <a:rPr lang="en-US" sz="1501" b="1">
                <a:solidFill>
                  <a:srgbClr val="7A5C1E"/>
                </a:solidFill>
                <a:latin typeface="Garamond Bold"/>
                <a:ea typeface="Garamond Bold"/>
                <a:cs typeface="Garamond Bold"/>
                <a:sym typeface="Garamond Bold"/>
              </a:rPr>
              <a:t>01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1491567" y="3731762"/>
            <a:ext cx="9865081" cy="4503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 b="1">
                <a:solidFill>
                  <a:srgbClr val="1A1408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Diaspora Spending Power — $3B Annually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1491567" y="4118772"/>
            <a:ext cx="9947443" cy="3624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3A2E1A"/>
                </a:solidFill>
                <a:latin typeface="Calibri (MS)"/>
                <a:ea typeface="Calibri (MS)"/>
                <a:cs typeface="Calibri (MS)"/>
                <a:sym typeface="Calibri (MS)"/>
              </a:rPr>
              <a:t>The Sudanese diaspora sends over $3 billion in remittances to Sudan every year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695420" y="5232530"/>
            <a:ext cx="448551" cy="3943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01"/>
              </a:lnSpc>
            </a:pPr>
            <a:r>
              <a:rPr lang="en-US" sz="1501" b="1">
                <a:solidFill>
                  <a:srgbClr val="7A5C1E"/>
                </a:solidFill>
                <a:latin typeface="Garamond Bold"/>
                <a:ea typeface="Garamond Bold"/>
                <a:cs typeface="Garamond Bold"/>
                <a:sym typeface="Garamond Bold"/>
              </a:rPr>
              <a:t>02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1491567" y="4994624"/>
            <a:ext cx="9865081" cy="4503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 b="1">
                <a:solidFill>
                  <a:srgbClr val="1A1408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No Dominant Competitor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1491567" y="5306139"/>
            <a:ext cx="9947443" cy="6396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3A2E1A"/>
                </a:solidFill>
                <a:latin typeface="Calibri (MS)"/>
                <a:ea typeface="Calibri (MS)"/>
                <a:cs typeface="Calibri (MS)"/>
                <a:sym typeface="Calibri (MS)"/>
              </a:rPr>
              <a:t>There is currently NO established global marketplace for Sudanese products, 249Souq.com enters a true white space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681495" y="6533845"/>
            <a:ext cx="448551" cy="3943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01"/>
              </a:lnSpc>
            </a:pPr>
            <a:r>
              <a:rPr lang="en-US" sz="1501" b="1">
                <a:solidFill>
                  <a:srgbClr val="7A5C1E"/>
                </a:solidFill>
                <a:latin typeface="Garamond Bold"/>
                <a:ea typeface="Garamond Bold"/>
                <a:cs typeface="Garamond Bold"/>
                <a:sym typeface="Garamond Bold"/>
              </a:rPr>
              <a:t>03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1491567" y="6257477"/>
            <a:ext cx="9865081" cy="4503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 b="1">
                <a:solidFill>
                  <a:srgbClr val="1A1408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Mobile-First, Social-Ready Community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1511732" y="6618465"/>
            <a:ext cx="9947443" cy="6396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3A2E1A"/>
                </a:solidFill>
                <a:latin typeface="Calibri (MS)"/>
                <a:ea typeface="Calibri (MS)"/>
                <a:cs typeface="Calibri (MS)"/>
                <a:sym typeface="Calibri (MS)"/>
              </a:rPr>
              <a:t>The Sudanese diaspora is highly active on TikTok, Instagram &amp; WhatsApp, perfectly positioned for social commerce</a:t>
            </a:r>
          </a:p>
        </p:txBody>
      </p:sp>
      <p:sp>
        <p:nvSpPr>
          <p:cNvPr id="64" name="TextBox 64"/>
          <p:cNvSpPr txBox="1"/>
          <p:nvPr/>
        </p:nvSpPr>
        <p:spPr>
          <a:xfrm>
            <a:off x="709146" y="7813157"/>
            <a:ext cx="448551" cy="3943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01"/>
              </a:lnSpc>
            </a:pPr>
            <a:r>
              <a:rPr lang="en-US" sz="1501" b="1">
                <a:solidFill>
                  <a:srgbClr val="7A5C1E"/>
                </a:solidFill>
                <a:latin typeface="Garamond Bold"/>
                <a:ea typeface="Garamond Bold"/>
                <a:cs typeface="Garamond Bold"/>
                <a:sym typeface="Garamond Bold"/>
              </a:rPr>
              <a:t>04</a:t>
            </a:r>
          </a:p>
        </p:txBody>
      </p:sp>
      <p:sp>
        <p:nvSpPr>
          <p:cNvPr id="65" name="TextBox 65"/>
          <p:cNvSpPr txBox="1"/>
          <p:nvPr/>
        </p:nvSpPr>
        <p:spPr>
          <a:xfrm>
            <a:off x="1491567" y="7520340"/>
            <a:ext cx="9865081" cy="4503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 b="1">
                <a:solidFill>
                  <a:srgbClr val="1A1408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Built-in Founder Trust</a:t>
            </a:r>
          </a:p>
        </p:txBody>
      </p:sp>
      <p:sp>
        <p:nvSpPr>
          <p:cNvPr id="66" name="TextBox 66"/>
          <p:cNvSpPr txBox="1"/>
          <p:nvPr/>
        </p:nvSpPr>
        <p:spPr>
          <a:xfrm>
            <a:off x="1450381" y="7838218"/>
            <a:ext cx="9851365" cy="571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3A2E1A"/>
                </a:solidFill>
                <a:latin typeface="Calibri (MS)"/>
                <a:ea typeface="Calibri (MS)"/>
                <a:cs typeface="Calibri (MS)"/>
                <a:sym typeface="Calibri (MS)"/>
              </a:rPr>
              <a:t>A platform built by a Sudanese founder FOR Sudanese people creates instant community trust no outsider can replicate</a:t>
            </a:r>
          </a:p>
        </p:txBody>
      </p:sp>
      <p:sp>
        <p:nvSpPr>
          <p:cNvPr id="67" name="TextBox 67"/>
          <p:cNvSpPr txBox="1"/>
          <p:nvPr/>
        </p:nvSpPr>
        <p:spPr>
          <a:xfrm>
            <a:off x="12555303" y="603190"/>
            <a:ext cx="5239179" cy="1390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404"/>
              </a:lnSpc>
            </a:pPr>
            <a:r>
              <a:rPr lang="en-US" sz="4503" b="1">
                <a:solidFill>
                  <a:srgbClr val="FFFFFF"/>
                </a:solidFill>
                <a:latin typeface="Garamond Bold"/>
                <a:ea typeface="Garamond Bold"/>
                <a:cs typeface="Garamond Bold"/>
                <a:sym typeface="Garamond Bold"/>
              </a:rPr>
              <a:t>FIRST MOVER</a:t>
            </a:r>
          </a:p>
          <a:p>
            <a:pPr algn="ctr">
              <a:lnSpc>
                <a:spcPts val="5404"/>
              </a:lnSpc>
            </a:pPr>
            <a:r>
              <a:rPr lang="en-US" sz="4503" b="1">
                <a:solidFill>
                  <a:srgbClr val="FFFFFF"/>
                </a:solidFill>
                <a:latin typeface="Garamond Bold"/>
                <a:ea typeface="Garamond Bold"/>
                <a:cs typeface="Garamond Bold"/>
                <a:sym typeface="Garamond Bold"/>
              </a:rPr>
              <a:t>ADVANTAGE</a:t>
            </a:r>
          </a:p>
        </p:txBody>
      </p:sp>
      <p:sp>
        <p:nvSpPr>
          <p:cNvPr id="68" name="TextBox 68"/>
          <p:cNvSpPr txBox="1"/>
          <p:nvPr/>
        </p:nvSpPr>
        <p:spPr>
          <a:xfrm>
            <a:off x="12555303" y="2537536"/>
            <a:ext cx="5239179" cy="933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41"/>
              </a:lnSpc>
            </a:pPr>
            <a:r>
              <a:rPr lang="en-US" sz="1951" b="1" i="1">
                <a:solidFill>
                  <a:srgbClr val="FFFFFF"/>
                </a:solidFill>
                <a:latin typeface="Calibri (MS) Bold Italics"/>
                <a:ea typeface="Calibri (MS) Bold Italics"/>
                <a:cs typeface="Calibri (MS) Bold Italics"/>
                <a:sym typeface="Calibri (MS) Bold Italics"/>
              </a:rPr>
              <a:t>5M+ Sudanese worldwide.</a:t>
            </a:r>
          </a:p>
          <a:p>
            <a:pPr algn="ctr">
              <a:lnSpc>
                <a:spcPts val="2341"/>
              </a:lnSpc>
            </a:pPr>
            <a:r>
              <a:rPr lang="en-US" sz="1951" b="1" i="1">
                <a:solidFill>
                  <a:srgbClr val="FFFFFF"/>
                </a:solidFill>
                <a:latin typeface="Calibri (MS) Bold Italics"/>
                <a:ea typeface="Calibri (MS) Bold Italics"/>
                <a:cs typeface="Calibri (MS) Bold Italics"/>
                <a:sym typeface="Calibri (MS) Bold Italics"/>
              </a:rPr>
              <a:t>Zero dedicated marketplace.</a:t>
            </a:r>
          </a:p>
          <a:p>
            <a:pPr algn="ctr">
              <a:lnSpc>
                <a:spcPts val="2341"/>
              </a:lnSpc>
            </a:pPr>
            <a:r>
              <a:rPr lang="en-US" sz="1951" b="1" i="1">
                <a:solidFill>
                  <a:srgbClr val="FFFFFF"/>
                </a:solidFill>
                <a:latin typeface="Calibri (MS) Bold Italics"/>
                <a:ea typeface="Calibri (MS) Bold Italics"/>
                <a:cs typeface="Calibri (MS) Bold Italics"/>
                <a:sym typeface="Calibri (MS) Bold Italics"/>
              </a:rPr>
              <a:t>One opportunity.</a:t>
            </a:r>
          </a:p>
        </p:txBody>
      </p:sp>
      <p:sp>
        <p:nvSpPr>
          <p:cNvPr id="69" name="TextBox 69"/>
          <p:cNvSpPr txBox="1"/>
          <p:nvPr/>
        </p:nvSpPr>
        <p:spPr>
          <a:xfrm>
            <a:off x="12610214" y="5155140"/>
            <a:ext cx="5143090" cy="3584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01"/>
              </a:lnSpc>
            </a:pPr>
            <a:r>
              <a:rPr lang="en-US" sz="1501" b="1">
                <a:solidFill>
                  <a:srgbClr val="B8965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KEY MARKETS</a:t>
            </a:r>
          </a:p>
        </p:txBody>
      </p:sp>
      <p:sp>
        <p:nvSpPr>
          <p:cNvPr id="70" name="TextBox 70"/>
          <p:cNvSpPr txBox="1"/>
          <p:nvPr/>
        </p:nvSpPr>
        <p:spPr>
          <a:xfrm>
            <a:off x="12610214" y="5800296"/>
            <a:ext cx="3042904" cy="4133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 b="1">
                <a:solidFill>
                  <a:srgbClr val="1A1408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GCC Countries</a:t>
            </a:r>
          </a:p>
        </p:txBody>
      </p:sp>
      <p:sp>
        <p:nvSpPr>
          <p:cNvPr id="71" name="TextBox 71"/>
          <p:cNvSpPr txBox="1"/>
          <p:nvPr/>
        </p:nvSpPr>
        <p:spPr>
          <a:xfrm>
            <a:off x="15190832" y="5800296"/>
            <a:ext cx="2562463" cy="4133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161"/>
              </a:lnSpc>
            </a:pPr>
            <a:r>
              <a:rPr lang="en-US" sz="1801" b="1">
                <a:solidFill>
                  <a:srgbClr val="7A5C1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~1.1M Sudanese</a:t>
            </a:r>
          </a:p>
        </p:txBody>
      </p:sp>
      <p:sp>
        <p:nvSpPr>
          <p:cNvPr id="72" name="TextBox 72"/>
          <p:cNvSpPr txBox="1"/>
          <p:nvPr/>
        </p:nvSpPr>
        <p:spPr>
          <a:xfrm>
            <a:off x="12610214" y="6459179"/>
            <a:ext cx="3042904" cy="4133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 b="1">
                <a:solidFill>
                  <a:srgbClr val="1A1408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Egypt</a:t>
            </a:r>
          </a:p>
        </p:txBody>
      </p:sp>
      <p:sp>
        <p:nvSpPr>
          <p:cNvPr id="73" name="TextBox 73"/>
          <p:cNvSpPr txBox="1"/>
          <p:nvPr/>
        </p:nvSpPr>
        <p:spPr>
          <a:xfrm>
            <a:off x="15190832" y="6459179"/>
            <a:ext cx="2562463" cy="4133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161"/>
              </a:lnSpc>
            </a:pPr>
            <a:r>
              <a:rPr lang="en-US" sz="1801" b="1">
                <a:solidFill>
                  <a:srgbClr val="7A5C1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~1M+ Sudanese</a:t>
            </a:r>
          </a:p>
        </p:txBody>
      </p:sp>
      <p:sp>
        <p:nvSpPr>
          <p:cNvPr id="74" name="TextBox 74"/>
          <p:cNvSpPr txBox="1"/>
          <p:nvPr/>
        </p:nvSpPr>
        <p:spPr>
          <a:xfrm>
            <a:off x="12610214" y="7118061"/>
            <a:ext cx="3042904" cy="4133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 b="1">
                <a:solidFill>
                  <a:srgbClr val="1A1408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Europe</a:t>
            </a:r>
          </a:p>
        </p:txBody>
      </p:sp>
      <p:sp>
        <p:nvSpPr>
          <p:cNvPr id="75" name="TextBox 75"/>
          <p:cNvSpPr txBox="1"/>
          <p:nvPr/>
        </p:nvSpPr>
        <p:spPr>
          <a:xfrm>
            <a:off x="15190832" y="7118061"/>
            <a:ext cx="2562463" cy="4133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161"/>
              </a:lnSpc>
            </a:pPr>
            <a:r>
              <a:rPr lang="en-US" sz="1801" b="1">
                <a:solidFill>
                  <a:srgbClr val="7A5C1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~500K+ Sudanese</a:t>
            </a:r>
          </a:p>
        </p:txBody>
      </p:sp>
      <p:sp>
        <p:nvSpPr>
          <p:cNvPr id="76" name="TextBox 76"/>
          <p:cNvSpPr txBox="1"/>
          <p:nvPr/>
        </p:nvSpPr>
        <p:spPr>
          <a:xfrm>
            <a:off x="12610214" y="7776943"/>
            <a:ext cx="3042904" cy="4133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 b="1">
                <a:solidFill>
                  <a:srgbClr val="1A1408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North America</a:t>
            </a:r>
          </a:p>
        </p:txBody>
      </p:sp>
      <p:sp>
        <p:nvSpPr>
          <p:cNvPr id="77" name="TextBox 77"/>
          <p:cNvSpPr txBox="1"/>
          <p:nvPr/>
        </p:nvSpPr>
        <p:spPr>
          <a:xfrm>
            <a:off x="15190832" y="7776943"/>
            <a:ext cx="2562463" cy="4133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161"/>
              </a:lnSpc>
            </a:pPr>
            <a:r>
              <a:rPr lang="en-US" sz="1801" b="1">
                <a:solidFill>
                  <a:srgbClr val="7A5C1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~100K+ Sudanese</a:t>
            </a:r>
          </a:p>
        </p:txBody>
      </p:sp>
      <p:sp>
        <p:nvSpPr>
          <p:cNvPr id="78" name="TextBox 78"/>
          <p:cNvSpPr txBox="1"/>
          <p:nvPr/>
        </p:nvSpPr>
        <p:spPr>
          <a:xfrm>
            <a:off x="12610214" y="8435826"/>
            <a:ext cx="3042904" cy="4133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 b="1">
                <a:solidFill>
                  <a:srgbClr val="1A1408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Australia</a:t>
            </a:r>
          </a:p>
        </p:txBody>
      </p:sp>
      <p:sp>
        <p:nvSpPr>
          <p:cNvPr id="79" name="TextBox 79"/>
          <p:cNvSpPr txBox="1"/>
          <p:nvPr/>
        </p:nvSpPr>
        <p:spPr>
          <a:xfrm>
            <a:off x="15190832" y="8435826"/>
            <a:ext cx="2562463" cy="4133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161"/>
              </a:lnSpc>
            </a:pPr>
            <a:r>
              <a:rPr lang="en-US" sz="1801" b="1">
                <a:solidFill>
                  <a:srgbClr val="7A5C1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~17K Sudanese</a:t>
            </a:r>
          </a:p>
        </p:txBody>
      </p:sp>
      <p:grpSp>
        <p:nvGrpSpPr>
          <p:cNvPr id="80" name="Group 80"/>
          <p:cNvGrpSpPr/>
          <p:nvPr/>
        </p:nvGrpSpPr>
        <p:grpSpPr>
          <a:xfrm>
            <a:off x="54907" y="9361627"/>
            <a:ext cx="18233093" cy="920877"/>
            <a:chOff x="0" y="0"/>
            <a:chExt cx="24310791" cy="1227836"/>
          </a:xfrm>
        </p:grpSpPr>
        <p:sp>
          <p:nvSpPr>
            <p:cNvPr id="81" name="Freeform 81"/>
            <p:cNvSpPr/>
            <p:nvPr/>
          </p:nvSpPr>
          <p:spPr>
            <a:xfrm>
              <a:off x="0" y="0"/>
              <a:ext cx="24310766" cy="1227874"/>
            </a:xfrm>
            <a:custGeom>
              <a:avLst/>
              <a:gdLst/>
              <a:ahLst/>
              <a:cxnLst/>
              <a:rect l="l" t="t" r="r" b="b"/>
              <a:pathLst>
                <a:path w="24310766" h="1227874">
                  <a:moveTo>
                    <a:pt x="0" y="0"/>
                  </a:moveTo>
                  <a:lnTo>
                    <a:pt x="24310766" y="0"/>
                  </a:lnTo>
                  <a:lnTo>
                    <a:pt x="24310766" y="1227874"/>
                  </a:lnTo>
                  <a:lnTo>
                    <a:pt x="0" y="1227874"/>
                  </a:lnTo>
                  <a:close/>
                </a:path>
              </a:pathLst>
            </a:custGeom>
            <a:solidFill>
              <a:srgbClr val="B89650"/>
            </a:solidFill>
          </p:spPr>
        </p:sp>
        <p:sp>
          <p:nvSpPr>
            <p:cNvPr id="82" name="TextBox 82"/>
            <p:cNvSpPr txBox="1"/>
            <p:nvPr/>
          </p:nvSpPr>
          <p:spPr>
            <a:xfrm>
              <a:off x="0" y="-19050"/>
              <a:ext cx="24310791" cy="124688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01"/>
                </a:lnSpc>
              </a:pPr>
              <a:r>
                <a:rPr lang="en-US" sz="3001" b="1" i="1">
                  <a:solidFill>
                    <a:srgbClr val="FFFFFF"/>
                  </a:solidFill>
                  <a:latin typeface="Garamond Bold Italics"/>
                  <a:ea typeface="Garamond Bold Italics"/>
                  <a:cs typeface="Garamond Bold Italics"/>
                  <a:sym typeface="Garamond Bold Italics"/>
                </a:rPr>
                <a:t>249Souq.com						The taste of home, wherever you are		</a:t>
              </a:r>
              <a:r>
                <a:rPr lang="ar-EG" sz="3001" b="1" i="1">
                  <a:solidFill>
                    <a:srgbClr val="FFFFFF"/>
                  </a:solidFill>
                  <a:latin typeface="Garamond Bold Italics"/>
                  <a:ea typeface="Garamond Bold Italics"/>
                  <a:cs typeface="Garamond Bold Italics"/>
                  <a:sym typeface="Garamond Bold Italics"/>
                  <a:rtl/>
                </a:rPr>
                <a:t>طعم البيت، وين ما مشيت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:fade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9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09814" cy="10295039"/>
            <a:chOff x="0" y="0"/>
            <a:chExt cx="146418" cy="1372671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46431" cy="13726668"/>
            </a:xfrm>
            <a:custGeom>
              <a:avLst/>
              <a:gdLst/>
              <a:ahLst/>
              <a:cxnLst/>
              <a:rect l="l" t="t" r="r" b="b"/>
              <a:pathLst>
                <a:path w="146431" h="13726668">
                  <a:moveTo>
                    <a:pt x="0" y="0"/>
                  </a:moveTo>
                  <a:lnTo>
                    <a:pt x="146431" y="0"/>
                  </a:lnTo>
                  <a:lnTo>
                    <a:pt x="146431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B89650"/>
            </a:solidFill>
          </p:spPr>
        </p:sp>
      </p:grpSp>
      <p:sp>
        <p:nvSpPr>
          <p:cNvPr id="4" name="TextBox 4"/>
          <p:cNvSpPr txBox="1"/>
          <p:nvPr/>
        </p:nvSpPr>
        <p:spPr>
          <a:xfrm>
            <a:off x="17593008" y="9872929"/>
            <a:ext cx="434826" cy="409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500"/>
              </a:lnSpc>
            </a:pPr>
            <a:r>
              <a:rPr lang="en-US" sz="1250">
                <a:solidFill>
                  <a:srgbClr val="8A7A60"/>
                </a:solidFill>
                <a:latin typeface="Calibri (MS)"/>
                <a:ea typeface="Calibri (MS)"/>
                <a:cs typeface="Calibri (MS)"/>
                <a:sym typeface="Calibri (MS)"/>
              </a:rPr>
              <a:t>05 / 10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411804" y="3129696"/>
            <a:ext cx="4392549" cy="68637"/>
            <a:chOff x="0" y="0"/>
            <a:chExt cx="5856732" cy="91516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856732" cy="91567"/>
            </a:xfrm>
            <a:custGeom>
              <a:avLst/>
              <a:gdLst/>
              <a:ahLst/>
              <a:cxnLst/>
              <a:rect l="l" t="t" r="r" b="b"/>
              <a:pathLst>
                <a:path w="5856732" h="91567">
                  <a:moveTo>
                    <a:pt x="0" y="0"/>
                  </a:moveTo>
                  <a:lnTo>
                    <a:pt x="5856732" y="0"/>
                  </a:lnTo>
                  <a:lnTo>
                    <a:pt x="5856732" y="91567"/>
                  </a:lnTo>
                  <a:lnTo>
                    <a:pt x="0" y="91567"/>
                  </a:lnTo>
                  <a:close/>
                </a:path>
              </a:pathLst>
            </a:custGeom>
            <a:solidFill>
              <a:srgbClr val="B89650"/>
            </a:solidFill>
          </p:spPr>
        </p:sp>
      </p:grpSp>
      <p:grpSp>
        <p:nvGrpSpPr>
          <p:cNvPr id="7" name="Group 7"/>
          <p:cNvGrpSpPr/>
          <p:nvPr/>
        </p:nvGrpSpPr>
        <p:grpSpPr>
          <a:xfrm>
            <a:off x="406079" y="4551550"/>
            <a:ext cx="4129459" cy="1686096"/>
            <a:chOff x="0" y="0"/>
            <a:chExt cx="5505945" cy="2248129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5505958" cy="2248154"/>
            </a:xfrm>
            <a:custGeom>
              <a:avLst/>
              <a:gdLst/>
              <a:ahLst/>
              <a:cxnLst/>
              <a:rect l="l" t="t" r="r" b="b"/>
              <a:pathLst>
                <a:path w="5505958" h="2248154">
                  <a:moveTo>
                    <a:pt x="0" y="0"/>
                  </a:moveTo>
                  <a:lnTo>
                    <a:pt x="5505958" y="0"/>
                  </a:lnTo>
                  <a:lnTo>
                    <a:pt x="5505958" y="2248154"/>
                  </a:lnTo>
                  <a:lnTo>
                    <a:pt x="0" y="2248154"/>
                  </a:lnTo>
                  <a:close/>
                </a:path>
              </a:pathLst>
            </a:custGeom>
            <a:solidFill>
              <a:srgbClr val="FFFFFF"/>
            </a:solidFill>
            <a:ln w="11439" cap="sq">
              <a:solidFill>
                <a:srgbClr val="D8BE82"/>
              </a:solidFill>
              <a:prstDash val="solid"/>
              <a:miter/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411804" y="4557274"/>
            <a:ext cx="4118019" cy="82363"/>
            <a:chOff x="0" y="0"/>
            <a:chExt cx="5490693" cy="109817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5490718" cy="109855"/>
            </a:xfrm>
            <a:custGeom>
              <a:avLst/>
              <a:gdLst/>
              <a:ahLst/>
              <a:cxnLst/>
              <a:rect l="l" t="t" r="r" b="b"/>
              <a:pathLst>
                <a:path w="5490718" h="109855">
                  <a:moveTo>
                    <a:pt x="0" y="0"/>
                  </a:moveTo>
                  <a:lnTo>
                    <a:pt x="5490718" y="0"/>
                  </a:lnTo>
                  <a:lnTo>
                    <a:pt x="5490718" y="109855"/>
                  </a:lnTo>
                  <a:lnTo>
                    <a:pt x="0" y="109855"/>
                  </a:lnTo>
                  <a:close/>
                </a:path>
              </a:pathLst>
            </a:custGeom>
            <a:solidFill>
              <a:srgbClr val="B89650"/>
            </a:solidFill>
          </p:spPr>
        </p:sp>
      </p:grpSp>
      <p:grpSp>
        <p:nvGrpSpPr>
          <p:cNvPr id="11" name="Group 11"/>
          <p:cNvGrpSpPr/>
          <p:nvPr/>
        </p:nvGrpSpPr>
        <p:grpSpPr>
          <a:xfrm>
            <a:off x="4826089" y="4551550"/>
            <a:ext cx="4129459" cy="1686096"/>
            <a:chOff x="0" y="0"/>
            <a:chExt cx="5505945" cy="2248129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5505958" cy="2248154"/>
            </a:xfrm>
            <a:custGeom>
              <a:avLst/>
              <a:gdLst/>
              <a:ahLst/>
              <a:cxnLst/>
              <a:rect l="l" t="t" r="r" b="b"/>
              <a:pathLst>
                <a:path w="5505958" h="2248154">
                  <a:moveTo>
                    <a:pt x="0" y="0"/>
                  </a:moveTo>
                  <a:lnTo>
                    <a:pt x="5505958" y="0"/>
                  </a:lnTo>
                  <a:lnTo>
                    <a:pt x="5505958" y="2248154"/>
                  </a:lnTo>
                  <a:lnTo>
                    <a:pt x="0" y="2248154"/>
                  </a:lnTo>
                  <a:close/>
                </a:path>
              </a:pathLst>
            </a:custGeom>
            <a:solidFill>
              <a:srgbClr val="FFFFFF"/>
            </a:solidFill>
            <a:ln w="11439" cap="sq">
              <a:solidFill>
                <a:srgbClr val="D8BE82"/>
              </a:solidFill>
              <a:prstDash val="solid"/>
              <a:miter/>
            </a:ln>
          </p:spPr>
        </p:sp>
      </p:grpSp>
      <p:grpSp>
        <p:nvGrpSpPr>
          <p:cNvPr id="13" name="Group 13"/>
          <p:cNvGrpSpPr/>
          <p:nvPr/>
        </p:nvGrpSpPr>
        <p:grpSpPr>
          <a:xfrm>
            <a:off x="4831804" y="4557274"/>
            <a:ext cx="4118019" cy="82363"/>
            <a:chOff x="0" y="0"/>
            <a:chExt cx="5490693" cy="109817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5490718" cy="109855"/>
            </a:xfrm>
            <a:custGeom>
              <a:avLst/>
              <a:gdLst/>
              <a:ahLst/>
              <a:cxnLst/>
              <a:rect l="l" t="t" r="r" b="b"/>
              <a:pathLst>
                <a:path w="5490718" h="109855">
                  <a:moveTo>
                    <a:pt x="0" y="0"/>
                  </a:moveTo>
                  <a:lnTo>
                    <a:pt x="5490718" y="0"/>
                  </a:lnTo>
                  <a:lnTo>
                    <a:pt x="5490718" y="109855"/>
                  </a:lnTo>
                  <a:lnTo>
                    <a:pt x="0" y="109855"/>
                  </a:lnTo>
                  <a:close/>
                </a:path>
              </a:pathLst>
            </a:custGeom>
            <a:solidFill>
              <a:srgbClr val="B89650"/>
            </a:solidFill>
          </p:spPr>
        </p:sp>
      </p:grpSp>
      <p:grpSp>
        <p:nvGrpSpPr>
          <p:cNvPr id="15" name="Group 15"/>
          <p:cNvGrpSpPr/>
          <p:nvPr/>
        </p:nvGrpSpPr>
        <p:grpSpPr>
          <a:xfrm>
            <a:off x="406079" y="6473295"/>
            <a:ext cx="4129459" cy="1686096"/>
            <a:chOff x="0" y="0"/>
            <a:chExt cx="5505945" cy="2248129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5505958" cy="2248154"/>
            </a:xfrm>
            <a:custGeom>
              <a:avLst/>
              <a:gdLst/>
              <a:ahLst/>
              <a:cxnLst/>
              <a:rect l="l" t="t" r="r" b="b"/>
              <a:pathLst>
                <a:path w="5505958" h="2248154">
                  <a:moveTo>
                    <a:pt x="0" y="0"/>
                  </a:moveTo>
                  <a:lnTo>
                    <a:pt x="5505958" y="0"/>
                  </a:lnTo>
                  <a:lnTo>
                    <a:pt x="5505958" y="2248154"/>
                  </a:lnTo>
                  <a:lnTo>
                    <a:pt x="0" y="2248154"/>
                  </a:lnTo>
                  <a:close/>
                </a:path>
              </a:pathLst>
            </a:custGeom>
            <a:solidFill>
              <a:srgbClr val="FFFFFF"/>
            </a:solidFill>
            <a:ln w="11439" cap="sq">
              <a:solidFill>
                <a:srgbClr val="D8BE82"/>
              </a:solidFill>
              <a:prstDash val="solid"/>
              <a:miter/>
            </a:ln>
          </p:spPr>
        </p:sp>
      </p:grpSp>
      <p:grpSp>
        <p:nvGrpSpPr>
          <p:cNvPr id="17" name="Group 17"/>
          <p:cNvGrpSpPr/>
          <p:nvPr/>
        </p:nvGrpSpPr>
        <p:grpSpPr>
          <a:xfrm>
            <a:off x="411804" y="6479010"/>
            <a:ext cx="4118019" cy="82363"/>
            <a:chOff x="0" y="0"/>
            <a:chExt cx="5490693" cy="109817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5490718" cy="109855"/>
            </a:xfrm>
            <a:custGeom>
              <a:avLst/>
              <a:gdLst/>
              <a:ahLst/>
              <a:cxnLst/>
              <a:rect l="l" t="t" r="r" b="b"/>
              <a:pathLst>
                <a:path w="5490718" h="109855">
                  <a:moveTo>
                    <a:pt x="0" y="0"/>
                  </a:moveTo>
                  <a:lnTo>
                    <a:pt x="5490718" y="0"/>
                  </a:lnTo>
                  <a:lnTo>
                    <a:pt x="5490718" y="109855"/>
                  </a:lnTo>
                  <a:lnTo>
                    <a:pt x="0" y="109855"/>
                  </a:lnTo>
                  <a:close/>
                </a:path>
              </a:pathLst>
            </a:custGeom>
            <a:solidFill>
              <a:srgbClr val="B89650"/>
            </a:solidFill>
          </p:spPr>
        </p:sp>
      </p:grpSp>
      <p:grpSp>
        <p:nvGrpSpPr>
          <p:cNvPr id="19" name="Group 19"/>
          <p:cNvGrpSpPr/>
          <p:nvPr/>
        </p:nvGrpSpPr>
        <p:grpSpPr>
          <a:xfrm>
            <a:off x="4826089" y="6473295"/>
            <a:ext cx="4129459" cy="1686096"/>
            <a:chOff x="0" y="0"/>
            <a:chExt cx="5505945" cy="224812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5505958" cy="2248154"/>
            </a:xfrm>
            <a:custGeom>
              <a:avLst/>
              <a:gdLst/>
              <a:ahLst/>
              <a:cxnLst/>
              <a:rect l="l" t="t" r="r" b="b"/>
              <a:pathLst>
                <a:path w="5505958" h="2248154">
                  <a:moveTo>
                    <a:pt x="0" y="0"/>
                  </a:moveTo>
                  <a:lnTo>
                    <a:pt x="5505958" y="0"/>
                  </a:lnTo>
                  <a:lnTo>
                    <a:pt x="5505958" y="2248154"/>
                  </a:lnTo>
                  <a:lnTo>
                    <a:pt x="0" y="2248154"/>
                  </a:lnTo>
                  <a:close/>
                </a:path>
              </a:pathLst>
            </a:custGeom>
            <a:solidFill>
              <a:srgbClr val="FFFFFF"/>
            </a:solidFill>
            <a:ln w="11439" cap="sq">
              <a:solidFill>
                <a:srgbClr val="D8BE82"/>
              </a:solidFill>
              <a:prstDash val="solid"/>
              <a:miter/>
            </a:ln>
          </p:spPr>
        </p:sp>
      </p:grpSp>
      <p:grpSp>
        <p:nvGrpSpPr>
          <p:cNvPr id="21" name="Group 21"/>
          <p:cNvGrpSpPr/>
          <p:nvPr/>
        </p:nvGrpSpPr>
        <p:grpSpPr>
          <a:xfrm>
            <a:off x="4831804" y="6479010"/>
            <a:ext cx="4118019" cy="82363"/>
            <a:chOff x="0" y="0"/>
            <a:chExt cx="5490693" cy="109817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5490718" cy="109855"/>
            </a:xfrm>
            <a:custGeom>
              <a:avLst/>
              <a:gdLst/>
              <a:ahLst/>
              <a:cxnLst/>
              <a:rect l="l" t="t" r="r" b="b"/>
              <a:pathLst>
                <a:path w="5490718" h="109855">
                  <a:moveTo>
                    <a:pt x="0" y="0"/>
                  </a:moveTo>
                  <a:lnTo>
                    <a:pt x="5490718" y="0"/>
                  </a:lnTo>
                  <a:lnTo>
                    <a:pt x="5490718" y="109855"/>
                  </a:lnTo>
                  <a:lnTo>
                    <a:pt x="0" y="109855"/>
                  </a:lnTo>
                  <a:close/>
                </a:path>
              </a:pathLst>
            </a:custGeom>
            <a:solidFill>
              <a:srgbClr val="B89650"/>
            </a:solidFill>
          </p:spPr>
        </p:sp>
      </p:grpSp>
      <p:grpSp>
        <p:nvGrpSpPr>
          <p:cNvPr id="23" name="Group 23"/>
          <p:cNvGrpSpPr/>
          <p:nvPr/>
        </p:nvGrpSpPr>
        <p:grpSpPr>
          <a:xfrm>
            <a:off x="9471441" y="0"/>
            <a:ext cx="8826284" cy="10295039"/>
            <a:chOff x="0" y="0"/>
            <a:chExt cx="11768379" cy="137267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11768328" cy="13726668"/>
            </a:xfrm>
            <a:custGeom>
              <a:avLst/>
              <a:gdLst/>
              <a:ahLst/>
              <a:cxnLst/>
              <a:rect l="l" t="t" r="r" b="b"/>
              <a:pathLst>
                <a:path w="11768328" h="13726668">
                  <a:moveTo>
                    <a:pt x="0" y="0"/>
                  </a:moveTo>
                  <a:lnTo>
                    <a:pt x="11768328" y="0"/>
                  </a:lnTo>
                  <a:lnTo>
                    <a:pt x="11768328" y="13726668"/>
                  </a:lnTo>
                  <a:lnTo>
                    <a:pt x="0" y="13726668"/>
                  </a:lnTo>
                  <a:close/>
                </a:path>
              </a:pathLst>
            </a:custGeom>
            <a:blipFill>
              <a:blip r:embed="rId2"/>
              <a:stretch>
                <a:fillRect t="-27047" b="-27047"/>
              </a:stretch>
            </a:blipFill>
          </p:spPr>
        </p:sp>
      </p:grpSp>
      <p:grpSp>
        <p:nvGrpSpPr>
          <p:cNvPr id="25" name="Group 25"/>
          <p:cNvGrpSpPr/>
          <p:nvPr/>
        </p:nvGrpSpPr>
        <p:grpSpPr>
          <a:xfrm>
            <a:off x="54907" y="9361627"/>
            <a:ext cx="18233093" cy="920877"/>
            <a:chOff x="0" y="0"/>
            <a:chExt cx="24310791" cy="1227836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24310766" cy="1227874"/>
            </a:xfrm>
            <a:custGeom>
              <a:avLst/>
              <a:gdLst/>
              <a:ahLst/>
              <a:cxnLst/>
              <a:rect l="l" t="t" r="r" b="b"/>
              <a:pathLst>
                <a:path w="24310766" h="1227874">
                  <a:moveTo>
                    <a:pt x="0" y="0"/>
                  </a:moveTo>
                  <a:lnTo>
                    <a:pt x="24310766" y="0"/>
                  </a:lnTo>
                  <a:lnTo>
                    <a:pt x="24310766" y="1227874"/>
                  </a:lnTo>
                  <a:lnTo>
                    <a:pt x="0" y="1227874"/>
                  </a:lnTo>
                  <a:close/>
                </a:path>
              </a:pathLst>
            </a:custGeom>
            <a:solidFill>
              <a:srgbClr val="B89650"/>
            </a:solidFill>
          </p:spPr>
        </p:sp>
        <p:sp>
          <p:nvSpPr>
            <p:cNvPr id="27" name="TextBox 27"/>
            <p:cNvSpPr txBox="1"/>
            <p:nvPr/>
          </p:nvSpPr>
          <p:spPr>
            <a:xfrm>
              <a:off x="0" y="-19050"/>
              <a:ext cx="24310791" cy="124688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01"/>
                </a:lnSpc>
              </a:pPr>
              <a:r>
                <a:rPr lang="en-US" sz="3001" b="1" i="1">
                  <a:solidFill>
                    <a:srgbClr val="FFFFFF"/>
                  </a:solidFill>
                  <a:latin typeface="Garamond Bold Italics"/>
                  <a:ea typeface="Garamond Bold Italics"/>
                  <a:cs typeface="Garamond Bold Italics"/>
                  <a:sym typeface="Garamond Bold Italics"/>
                </a:rPr>
                <a:t>249Souq.com						The taste of home, wherever you are		</a:t>
              </a:r>
              <a:r>
                <a:rPr lang="ar-EG" sz="3001" b="1" i="1">
                  <a:solidFill>
                    <a:srgbClr val="FFFFFF"/>
                  </a:solidFill>
                  <a:latin typeface="Garamond Bold Italics"/>
                  <a:ea typeface="Garamond Bold Italics"/>
                  <a:cs typeface="Garamond Bold Italics"/>
                  <a:sym typeface="Garamond Bold Italics"/>
                  <a:rtl/>
                </a:rPr>
                <a:t>طعم البيت، وين ما مشيت</a:t>
              </a:r>
            </a:p>
          </p:txBody>
        </p:sp>
      </p:grpSp>
      <p:sp>
        <p:nvSpPr>
          <p:cNvPr id="28" name="TextBox 28"/>
          <p:cNvSpPr txBox="1"/>
          <p:nvPr/>
        </p:nvSpPr>
        <p:spPr>
          <a:xfrm>
            <a:off x="503244" y="319135"/>
            <a:ext cx="8053159" cy="238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81"/>
              </a:lnSpc>
            </a:pPr>
            <a:r>
              <a:rPr lang="en-US" sz="1400" b="1">
                <a:solidFill>
                  <a:srgbClr val="B8965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THE SOLUTION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503244" y="704602"/>
            <a:ext cx="1378148" cy="438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82"/>
              </a:lnSpc>
            </a:pPr>
            <a:r>
              <a:rPr lang="en-US" sz="2902" i="1">
                <a:solidFill>
                  <a:srgbClr val="5A4E38"/>
                </a:solidFill>
                <a:latin typeface="Garamond Italics"/>
                <a:ea typeface="Garamond Italics"/>
                <a:cs typeface="Garamond Italics"/>
                <a:sym typeface="Garamond Italics"/>
              </a:rPr>
              <a:t>Introducing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503244" y="1193444"/>
            <a:ext cx="4048522" cy="1390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800"/>
              </a:lnSpc>
            </a:pPr>
            <a:r>
              <a:rPr lang="en-US" sz="9000" b="1">
                <a:solidFill>
                  <a:srgbClr val="7A5C1E"/>
                </a:solidFill>
                <a:latin typeface="Garamond Bold"/>
                <a:ea typeface="Garamond Bold"/>
                <a:cs typeface="Garamond Bold"/>
                <a:sym typeface="Garamond Bold"/>
              </a:rPr>
              <a:t>249Souq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406079" y="2624871"/>
            <a:ext cx="6754755" cy="381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68"/>
              </a:lnSpc>
            </a:pPr>
            <a:r>
              <a:rPr lang="en-US" sz="2223" i="1">
                <a:solidFill>
                  <a:srgbClr val="8A7A60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249souq.com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406079" y="3327894"/>
            <a:ext cx="8836657" cy="10299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10"/>
              </a:lnSpc>
            </a:pPr>
            <a:r>
              <a:rPr lang="en-US" sz="2175">
                <a:solidFill>
                  <a:srgbClr val="5A4E38"/>
                </a:solidFill>
                <a:latin typeface="Calibri (MS)"/>
                <a:ea typeface="Calibri (MS)"/>
                <a:cs typeface="Calibri (MS)"/>
                <a:sym typeface="Calibri (MS)"/>
              </a:rPr>
              <a:t>The first dedicated global marketplace for the Sudanese diaspora, connecting 5M+ Sudanese people worldwide to authentic products, tastes and traditions from home.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600392" y="4744406"/>
            <a:ext cx="3590264" cy="3465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10"/>
              </a:lnSpc>
            </a:pPr>
            <a:r>
              <a:rPr lang="en-US" sz="2175" b="1">
                <a:solidFill>
                  <a:srgbClr val="7A5C1E"/>
                </a:solidFill>
                <a:latin typeface="Garamond Bold"/>
                <a:ea typeface="Garamond Bold"/>
                <a:cs typeface="Garamond Bold"/>
                <a:sym typeface="Garamond Bold"/>
              </a:rPr>
              <a:t>249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600392" y="5043282"/>
            <a:ext cx="3590264" cy="1104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92"/>
              </a:lnSpc>
            </a:pPr>
            <a:r>
              <a:rPr lang="en-US" sz="2327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The country code of Sudan, our identity, our pride, our community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5069533" y="4744406"/>
            <a:ext cx="3590264" cy="3465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10"/>
              </a:lnSpc>
            </a:pPr>
            <a:r>
              <a:rPr lang="en-US" sz="2175" b="1">
                <a:solidFill>
                  <a:srgbClr val="7A5C1E"/>
                </a:solidFill>
                <a:latin typeface="Garamond Bold"/>
                <a:ea typeface="Garamond Bold"/>
                <a:cs typeface="Garamond Bold"/>
                <a:sym typeface="Garamond Bold"/>
              </a:rPr>
              <a:t>Souq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5035917" y="5095875"/>
            <a:ext cx="3590264" cy="1104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92"/>
              </a:lnSpc>
            </a:pPr>
            <a:r>
              <a:rPr lang="en-US" sz="2327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Arabic for marketplace warm, familiar and universally trusted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600392" y="6687517"/>
            <a:ext cx="3590264" cy="3465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10"/>
              </a:lnSpc>
            </a:pPr>
            <a:r>
              <a:rPr lang="en-US" sz="2175" b="1">
                <a:solidFill>
                  <a:srgbClr val="7A5C1E"/>
                </a:solidFill>
                <a:latin typeface="Garamond Bold"/>
                <a:ea typeface="Garamond Bold"/>
                <a:cs typeface="Garamond Bold"/>
                <a:sym typeface="Garamond Bold"/>
              </a:rPr>
              <a:t>Global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600392" y="6986392"/>
            <a:ext cx="3590264" cy="1104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92"/>
              </a:lnSpc>
            </a:pPr>
            <a:r>
              <a:rPr lang="en-US" sz="2327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Serving Sudanese diaspora in GCC, Europe, Americas &amp; beyond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5069533" y="6687517"/>
            <a:ext cx="3590264" cy="3465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10"/>
              </a:lnSpc>
            </a:pPr>
            <a:r>
              <a:rPr lang="en-US" sz="2175" b="1">
                <a:solidFill>
                  <a:srgbClr val="7A5C1E"/>
                </a:solidFill>
                <a:latin typeface="Garamond Bold"/>
                <a:ea typeface="Garamond Bold"/>
                <a:cs typeface="Garamond Bold"/>
                <a:sym typeface="Garamond Bold"/>
              </a:rPr>
              <a:t>Authentic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5069533" y="7064480"/>
            <a:ext cx="3590264" cy="1104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92"/>
              </a:lnSpc>
            </a:pPr>
            <a:r>
              <a:rPr lang="en-US" sz="2327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Products sourced directly from Sudanese sellers &amp; makers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:fade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9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09814" cy="10295039"/>
            <a:chOff x="0" y="0"/>
            <a:chExt cx="146418" cy="1372671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46431" cy="13726668"/>
            </a:xfrm>
            <a:custGeom>
              <a:avLst/>
              <a:gdLst/>
              <a:ahLst/>
              <a:cxnLst/>
              <a:rect l="l" t="t" r="r" b="b"/>
              <a:pathLst>
                <a:path w="146431" h="13726668">
                  <a:moveTo>
                    <a:pt x="0" y="0"/>
                  </a:moveTo>
                  <a:lnTo>
                    <a:pt x="146431" y="0"/>
                  </a:lnTo>
                  <a:lnTo>
                    <a:pt x="146431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B89650"/>
            </a:solidFill>
          </p:spPr>
        </p:sp>
      </p:grpSp>
      <p:sp>
        <p:nvSpPr>
          <p:cNvPr id="4" name="TextBox 4"/>
          <p:cNvSpPr txBox="1"/>
          <p:nvPr/>
        </p:nvSpPr>
        <p:spPr>
          <a:xfrm>
            <a:off x="17387116" y="9841278"/>
            <a:ext cx="572091" cy="3119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441"/>
              </a:lnSpc>
            </a:pPr>
            <a:r>
              <a:rPr lang="en-US" sz="1200">
                <a:solidFill>
                  <a:srgbClr val="8A7A60"/>
                </a:solidFill>
                <a:latin typeface="Calibri (MS)"/>
                <a:ea typeface="Calibri (MS)"/>
                <a:cs typeface="Calibri (MS)"/>
                <a:sym typeface="Calibri (MS)"/>
              </a:rPr>
              <a:t>06 / 11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109814" y="9361627"/>
            <a:ext cx="18187911" cy="576520"/>
            <a:chOff x="0" y="0"/>
            <a:chExt cx="24250548" cy="76869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4250523" cy="768731"/>
            </a:xfrm>
            <a:custGeom>
              <a:avLst/>
              <a:gdLst/>
              <a:ahLst/>
              <a:cxnLst/>
              <a:rect l="l" t="t" r="r" b="b"/>
              <a:pathLst>
                <a:path w="24250523" h="768731">
                  <a:moveTo>
                    <a:pt x="0" y="0"/>
                  </a:moveTo>
                  <a:lnTo>
                    <a:pt x="24250523" y="0"/>
                  </a:lnTo>
                  <a:lnTo>
                    <a:pt x="24250523" y="768731"/>
                  </a:lnTo>
                  <a:lnTo>
                    <a:pt x="0" y="768731"/>
                  </a:lnTo>
                  <a:close/>
                </a:path>
              </a:pathLst>
            </a:custGeom>
            <a:solidFill>
              <a:srgbClr val="B89650"/>
            </a:solidFill>
          </p:spPr>
        </p:sp>
      </p:grpSp>
      <p:sp>
        <p:nvSpPr>
          <p:cNvPr id="7" name="TextBox 7"/>
          <p:cNvSpPr txBox="1"/>
          <p:nvPr/>
        </p:nvSpPr>
        <p:spPr>
          <a:xfrm>
            <a:off x="640509" y="9452724"/>
            <a:ext cx="16975522" cy="3801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 b="1" i="1">
                <a:solidFill>
                  <a:srgbClr val="FFFFFF"/>
                </a:solidFill>
                <a:latin typeface="Garamond Bold Italics"/>
                <a:ea typeface="Garamond Bold Italics"/>
                <a:cs typeface="Garamond Bold Italics"/>
                <a:sym typeface="Garamond Bold Italics"/>
              </a:rPr>
              <a:t>249Souq.com						The taste of home, wherever you are		</a:t>
            </a:r>
            <a:r>
              <a:rPr lang="ar-EG" sz="2101" b="1" i="1">
                <a:solidFill>
                  <a:srgbClr val="FFFFFF"/>
                </a:solidFill>
                <a:latin typeface="Garamond Bold Italics"/>
                <a:ea typeface="Garamond Bold Italics"/>
                <a:cs typeface="Garamond Bold Italics"/>
                <a:sym typeface="Garamond Bold Italics"/>
                <a:rtl/>
              </a:rPr>
              <a:t>طعم البيت، وين ما مشيت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503244" y="282159"/>
            <a:ext cx="10798502" cy="3035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 b="1">
                <a:solidFill>
                  <a:srgbClr val="B8965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BUSINESS MODEL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03244" y="644376"/>
            <a:ext cx="13543845" cy="7512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124"/>
              </a:lnSpc>
            </a:pPr>
            <a:r>
              <a:rPr lang="en-US" sz="5103" b="1">
                <a:solidFill>
                  <a:srgbClr val="1A1408"/>
                </a:solidFill>
                <a:latin typeface="Garamond Bold"/>
                <a:ea typeface="Garamond Bold"/>
                <a:cs typeface="Garamond Bold"/>
                <a:sym typeface="Garamond Bold"/>
              </a:rPr>
              <a:t>249souq.com  —  The Plan.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411804" y="1537392"/>
            <a:ext cx="7854077" cy="68628"/>
            <a:chOff x="0" y="0"/>
            <a:chExt cx="10472102" cy="91504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0472039" cy="91567"/>
            </a:xfrm>
            <a:custGeom>
              <a:avLst/>
              <a:gdLst/>
              <a:ahLst/>
              <a:cxnLst/>
              <a:rect l="l" t="t" r="r" b="b"/>
              <a:pathLst>
                <a:path w="10472039" h="91567">
                  <a:moveTo>
                    <a:pt x="0" y="0"/>
                  </a:moveTo>
                  <a:lnTo>
                    <a:pt x="10472039" y="0"/>
                  </a:lnTo>
                  <a:lnTo>
                    <a:pt x="10472039" y="91567"/>
                  </a:lnTo>
                  <a:lnTo>
                    <a:pt x="0" y="91567"/>
                  </a:lnTo>
                  <a:close/>
                </a:path>
              </a:pathLst>
            </a:custGeom>
            <a:solidFill>
              <a:srgbClr val="B89650"/>
            </a:solidFill>
          </p:spPr>
        </p:sp>
      </p:grpSp>
      <p:sp>
        <p:nvSpPr>
          <p:cNvPr id="12" name="TextBox 12"/>
          <p:cNvSpPr txBox="1"/>
          <p:nvPr/>
        </p:nvSpPr>
        <p:spPr>
          <a:xfrm>
            <a:off x="503244" y="1727664"/>
            <a:ext cx="17250061" cy="4366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>
                <a:solidFill>
                  <a:srgbClr val="3A2E1A"/>
                </a:solidFill>
                <a:latin typeface="Calibri (MS)"/>
                <a:ea typeface="Calibri (MS)"/>
                <a:cs typeface="Calibri (MS)"/>
                <a:sym typeface="Calibri (MS)"/>
              </a:rPr>
              <a:t>One project. Three parallel workstreams. All moving together from Day 1.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402269" y="2351465"/>
            <a:ext cx="5262677" cy="6676530"/>
            <a:chOff x="0" y="0"/>
            <a:chExt cx="7016902" cy="890204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7016877" cy="8902065"/>
            </a:xfrm>
            <a:custGeom>
              <a:avLst/>
              <a:gdLst/>
              <a:ahLst/>
              <a:cxnLst/>
              <a:rect l="l" t="t" r="r" b="b"/>
              <a:pathLst>
                <a:path w="7016877" h="8902065">
                  <a:moveTo>
                    <a:pt x="0" y="0"/>
                  </a:moveTo>
                  <a:lnTo>
                    <a:pt x="7016877" y="0"/>
                  </a:lnTo>
                  <a:lnTo>
                    <a:pt x="7016877" y="8902065"/>
                  </a:lnTo>
                  <a:lnTo>
                    <a:pt x="0" y="8902065"/>
                  </a:ln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B89650"/>
              </a:solidFill>
              <a:prstDash val="solid"/>
              <a:miter/>
            </a:ln>
          </p:spPr>
        </p:sp>
      </p:grpSp>
      <p:grpSp>
        <p:nvGrpSpPr>
          <p:cNvPr id="15" name="Group 15"/>
          <p:cNvGrpSpPr/>
          <p:nvPr/>
        </p:nvGrpSpPr>
        <p:grpSpPr>
          <a:xfrm>
            <a:off x="411804" y="2361000"/>
            <a:ext cx="5243608" cy="109814"/>
            <a:chOff x="0" y="0"/>
            <a:chExt cx="6991477" cy="146418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6991477" cy="146431"/>
            </a:xfrm>
            <a:custGeom>
              <a:avLst/>
              <a:gdLst/>
              <a:ahLst/>
              <a:cxnLst/>
              <a:rect l="l" t="t" r="r" b="b"/>
              <a:pathLst>
                <a:path w="6991477" h="146431">
                  <a:moveTo>
                    <a:pt x="0" y="0"/>
                  </a:moveTo>
                  <a:lnTo>
                    <a:pt x="6991477" y="0"/>
                  </a:lnTo>
                  <a:lnTo>
                    <a:pt x="6991477" y="146431"/>
                  </a:lnTo>
                  <a:lnTo>
                    <a:pt x="0" y="146431"/>
                  </a:lnTo>
                  <a:close/>
                </a:path>
              </a:pathLst>
            </a:custGeom>
            <a:solidFill>
              <a:srgbClr val="B89650"/>
            </a:solidFill>
          </p:spPr>
        </p:sp>
      </p:grpSp>
      <p:grpSp>
        <p:nvGrpSpPr>
          <p:cNvPr id="17" name="Group 17"/>
          <p:cNvGrpSpPr/>
          <p:nvPr/>
        </p:nvGrpSpPr>
        <p:grpSpPr>
          <a:xfrm>
            <a:off x="654120" y="2548404"/>
            <a:ext cx="695868" cy="695868"/>
            <a:chOff x="0" y="0"/>
            <a:chExt cx="927824" cy="927824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927862" cy="927862"/>
            </a:xfrm>
            <a:custGeom>
              <a:avLst/>
              <a:gdLst/>
              <a:ahLst/>
              <a:cxnLst/>
              <a:rect l="l" t="t" r="r" b="b"/>
              <a:pathLst>
                <a:path w="927862" h="927862">
                  <a:moveTo>
                    <a:pt x="0" y="463931"/>
                  </a:moveTo>
                  <a:cubicBezTo>
                    <a:pt x="0" y="207645"/>
                    <a:pt x="207645" y="0"/>
                    <a:pt x="463931" y="0"/>
                  </a:cubicBezTo>
                  <a:cubicBezTo>
                    <a:pt x="720217" y="0"/>
                    <a:pt x="927862" y="207645"/>
                    <a:pt x="927862" y="463931"/>
                  </a:cubicBezTo>
                  <a:cubicBezTo>
                    <a:pt x="927862" y="720217"/>
                    <a:pt x="720090" y="927862"/>
                    <a:pt x="463931" y="927862"/>
                  </a:cubicBezTo>
                  <a:cubicBezTo>
                    <a:pt x="207772" y="927862"/>
                    <a:pt x="0" y="720090"/>
                    <a:pt x="0" y="463931"/>
                  </a:cubicBezTo>
                  <a:close/>
                </a:path>
              </a:pathLst>
            </a:custGeom>
            <a:solidFill>
              <a:srgbClr val="F5EEDC"/>
            </a:solidFill>
            <a:ln w="9532" cap="sq">
              <a:solidFill>
                <a:srgbClr val="D8BE82"/>
              </a:solidFill>
              <a:prstDash val="solid"/>
              <a:miter/>
            </a:ln>
          </p:spPr>
        </p:sp>
      </p:grpSp>
      <p:sp>
        <p:nvSpPr>
          <p:cNvPr id="19" name="TextBox 19"/>
          <p:cNvSpPr txBox="1"/>
          <p:nvPr/>
        </p:nvSpPr>
        <p:spPr>
          <a:xfrm>
            <a:off x="750322" y="2694975"/>
            <a:ext cx="503453" cy="3752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81"/>
              </a:lnSpc>
            </a:pPr>
            <a:r>
              <a:rPr lang="en-US" sz="1651" b="1">
                <a:solidFill>
                  <a:srgbClr val="7A5C1E"/>
                </a:solidFill>
                <a:latin typeface="Garamond Bold"/>
                <a:ea typeface="Garamond Bold"/>
                <a:cs typeface="Garamond Bold"/>
                <a:sym typeface="Garamond Bold"/>
              </a:rPr>
              <a:t>01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601381" y="2569197"/>
            <a:ext cx="3715512" cy="5422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 b="1">
                <a:solidFill>
                  <a:srgbClr val="1A1408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Organic Community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750322" y="3398120"/>
            <a:ext cx="4621473" cy="3584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 b="1">
                <a:solidFill>
                  <a:srgbClr val="7A5C1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STARTS DAY 1 — NEVER STOPS</a:t>
            </a:r>
          </a:p>
        </p:txBody>
      </p:sp>
      <p:grpSp>
        <p:nvGrpSpPr>
          <p:cNvPr id="22" name="Group 22"/>
          <p:cNvGrpSpPr/>
          <p:nvPr/>
        </p:nvGrpSpPr>
        <p:grpSpPr>
          <a:xfrm>
            <a:off x="658882" y="3870931"/>
            <a:ext cx="4749451" cy="41177"/>
            <a:chOff x="0" y="0"/>
            <a:chExt cx="6332601" cy="54902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6332601" cy="54864"/>
            </a:xfrm>
            <a:custGeom>
              <a:avLst/>
              <a:gdLst/>
              <a:ahLst/>
              <a:cxnLst/>
              <a:rect l="l" t="t" r="r" b="b"/>
              <a:pathLst>
                <a:path w="6332601" h="54864">
                  <a:moveTo>
                    <a:pt x="0" y="0"/>
                  </a:moveTo>
                  <a:lnTo>
                    <a:pt x="6332601" y="0"/>
                  </a:lnTo>
                  <a:lnTo>
                    <a:pt x="6332601" y="54864"/>
                  </a:lnTo>
                  <a:lnTo>
                    <a:pt x="0" y="54864"/>
                  </a:lnTo>
                  <a:close/>
                </a:path>
              </a:pathLst>
            </a:custGeom>
            <a:solidFill>
              <a:srgbClr val="D8BE82"/>
            </a:solidFill>
          </p:spPr>
        </p:sp>
      </p:grpSp>
      <p:sp>
        <p:nvSpPr>
          <p:cNvPr id="24" name="TextBox 24"/>
          <p:cNvSpPr txBox="1"/>
          <p:nvPr/>
        </p:nvSpPr>
        <p:spPr>
          <a:xfrm>
            <a:off x="750322" y="4043277"/>
            <a:ext cx="4621473" cy="4408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3A2E1A"/>
                </a:solidFill>
                <a:latin typeface="Calibri (MS)"/>
                <a:ea typeface="Calibri (MS)"/>
                <a:cs typeface="Calibri (MS)"/>
                <a:sym typeface="Calibri (MS)"/>
              </a:rPr>
              <a:t>—  TikTok — discovery &amp; virality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750322" y="4702159"/>
            <a:ext cx="4621473" cy="4408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3A2E1A"/>
                </a:solidFill>
                <a:latin typeface="Calibri (MS)"/>
                <a:ea typeface="Calibri (MS)"/>
                <a:cs typeface="Calibri (MS)"/>
                <a:sym typeface="Calibri (MS)"/>
              </a:rPr>
              <a:t>—  Instagram — brand identity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750322" y="5361041"/>
            <a:ext cx="4621473" cy="4408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3A2E1A"/>
                </a:solidFill>
                <a:latin typeface="Calibri (MS)"/>
                <a:ea typeface="Calibri (MS)"/>
                <a:cs typeface="Calibri (MS)"/>
                <a:sym typeface="Calibri (MS)"/>
              </a:rPr>
              <a:t>—  Facebook Groups — diaspora reach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750322" y="6019924"/>
            <a:ext cx="4621473" cy="4408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3A2E1A"/>
                </a:solidFill>
                <a:latin typeface="Calibri (MS)"/>
                <a:ea typeface="Calibri (MS)"/>
                <a:cs typeface="Calibri (MS)"/>
                <a:sym typeface="Calibri (MS)"/>
              </a:rPr>
              <a:t>—  WhatsApp — close sales &amp; loyalty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750322" y="6678806"/>
            <a:ext cx="4621473" cy="4408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3A2E1A"/>
                </a:solidFill>
                <a:latin typeface="Calibri (MS)"/>
                <a:ea typeface="Calibri (MS)"/>
                <a:cs typeface="Calibri (MS)"/>
                <a:sym typeface="Calibri (MS)"/>
              </a:rPr>
              <a:t>—  Zero ad spend to start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750322" y="7337689"/>
            <a:ext cx="4621473" cy="4408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3A2E1A"/>
                </a:solidFill>
                <a:latin typeface="Calibri (MS)"/>
                <a:ea typeface="Calibri (MS)"/>
                <a:cs typeface="Calibri (MS)"/>
                <a:sym typeface="Calibri (MS)"/>
              </a:rPr>
              <a:t>—  Community owns the brand</a:t>
            </a:r>
          </a:p>
        </p:txBody>
      </p:sp>
      <p:grpSp>
        <p:nvGrpSpPr>
          <p:cNvPr id="30" name="Group 30"/>
          <p:cNvGrpSpPr/>
          <p:nvPr/>
        </p:nvGrpSpPr>
        <p:grpSpPr>
          <a:xfrm>
            <a:off x="407032" y="8437169"/>
            <a:ext cx="5253142" cy="586054"/>
            <a:chOff x="0" y="0"/>
            <a:chExt cx="7004190" cy="781406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7004177" cy="781431"/>
            </a:xfrm>
            <a:custGeom>
              <a:avLst/>
              <a:gdLst/>
              <a:ahLst/>
              <a:cxnLst/>
              <a:rect l="l" t="t" r="r" b="b"/>
              <a:pathLst>
                <a:path w="7004177" h="781431">
                  <a:moveTo>
                    <a:pt x="0" y="0"/>
                  </a:moveTo>
                  <a:lnTo>
                    <a:pt x="7004177" y="0"/>
                  </a:lnTo>
                  <a:lnTo>
                    <a:pt x="7004177" y="781431"/>
                  </a:lnTo>
                  <a:lnTo>
                    <a:pt x="0" y="781431"/>
                  </a:lnTo>
                  <a:close/>
                </a:path>
              </a:pathLst>
            </a:custGeom>
            <a:solidFill>
              <a:srgbClr val="F5EEDC"/>
            </a:solidFill>
            <a:ln w="9532" cap="sq">
              <a:solidFill>
                <a:srgbClr val="D8BE82"/>
              </a:solidFill>
              <a:prstDash val="solid"/>
              <a:miter/>
            </a:ln>
          </p:spPr>
        </p:sp>
      </p:grpSp>
      <p:sp>
        <p:nvSpPr>
          <p:cNvPr id="32" name="TextBox 32"/>
          <p:cNvSpPr txBox="1"/>
          <p:nvPr/>
        </p:nvSpPr>
        <p:spPr>
          <a:xfrm>
            <a:off x="503244" y="8504463"/>
            <a:ext cx="5060728" cy="4133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61"/>
              </a:lnSpc>
            </a:pPr>
            <a:r>
              <a:rPr lang="en-US" sz="1801" b="1">
                <a:solidFill>
                  <a:srgbClr val="7A5C1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Community First</a:t>
            </a:r>
          </a:p>
        </p:txBody>
      </p:sp>
      <p:grpSp>
        <p:nvGrpSpPr>
          <p:cNvPr id="33" name="Group 33"/>
          <p:cNvGrpSpPr/>
          <p:nvPr/>
        </p:nvGrpSpPr>
        <p:grpSpPr>
          <a:xfrm>
            <a:off x="5682863" y="5428917"/>
            <a:ext cx="192176" cy="521618"/>
            <a:chOff x="0" y="0"/>
            <a:chExt cx="256235" cy="695490"/>
          </a:xfrm>
        </p:grpSpPr>
        <p:sp>
          <p:nvSpPr>
            <p:cNvPr id="34" name="Freeform 34"/>
            <p:cNvSpPr/>
            <p:nvPr/>
          </p:nvSpPr>
          <p:spPr>
            <a:xfrm>
              <a:off x="0" y="32004"/>
              <a:ext cx="256286" cy="663448"/>
            </a:xfrm>
            <a:custGeom>
              <a:avLst/>
              <a:gdLst/>
              <a:ahLst/>
              <a:cxnLst/>
              <a:rect l="l" t="t" r="r" b="b"/>
              <a:pathLst>
                <a:path w="256286" h="663448">
                  <a:moveTo>
                    <a:pt x="0" y="0"/>
                  </a:moveTo>
                  <a:cubicBezTo>
                    <a:pt x="0" y="17653"/>
                    <a:pt x="57404" y="32004"/>
                    <a:pt x="128143" y="32004"/>
                  </a:cubicBezTo>
                  <a:cubicBezTo>
                    <a:pt x="198882" y="32004"/>
                    <a:pt x="256286" y="17653"/>
                    <a:pt x="256286" y="0"/>
                  </a:cubicBezTo>
                  <a:lnTo>
                    <a:pt x="256286" y="631444"/>
                  </a:lnTo>
                  <a:cubicBezTo>
                    <a:pt x="256286" y="649097"/>
                    <a:pt x="198882" y="663448"/>
                    <a:pt x="128143" y="663448"/>
                  </a:cubicBezTo>
                  <a:cubicBezTo>
                    <a:pt x="57404" y="663448"/>
                    <a:pt x="0" y="649097"/>
                    <a:pt x="0" y="631444"/>
                  </a:cubicBezTo>
                  <a:close/>
                </a:path>
              </a:pathLst>
            </a:custGeom>
            <a:solidFill>
              <a:srgbClr val="B89650"/>
            </a:solidFill>
          </p:spPr>
        </p:sp>
        <p:sp>
          <p:nvSpPr>
            <p:cNvPr id="35" name="Freeform 35"/>
            <p:cNvSpPr/>
            <p:nvPr/>
          </p:nvSpPr>
          <p:spPr>
            <a:xfrm>
              <a:off x="0" y="0"/>
              <a:ext cx="256286" cy="64008"/>
            </a:xfrm>
            <a:custGeom>
              <a:avLst/>
              <a:gdLst/>
              <a:ahLst/>
              <a:cxnLst/>
              <a:rect l="l" t="t" r="r" b="b"/>
              <a:pathLst>
                <a:path w="256286" h="64008">
                  <a:moveTo>
                    <a:pt x="0" y="32004"/>
                  </a:moveTo>
                  <a:cubicBezTo>
                    <a:pt x="0" y="14351"/>
                    <a:pt x="57404" y="0"/>
                    <a:pt x="128143" y="0"/>
                  </a:cubicBezTo>
                  <a:cubicBezTo>
                    <a:pt x="198882" y="0"/>
                    <a:pt x="256286" y="14351"/>
                    <a:pt x="256286" y="32004"/>
                  </a:cubicBezTo>
                  <a:cubicBezTo>
                    <a:pt x="256286" y="49657"/>
                    <a:pt x="198882" y="64008"/>
                    <a:pt x="128143" y="64008"/>
                  </a:cubicBezTo>
                  <a:cubicBezTo>
                    <a:pt x="57404" y="64008"/>
                    <a:pt x="0" y="49657"/>
                    <a:pt x="0" y="32004"/>
                  </a:cubicBezTo>
                  <a:close/>
                </a:path>
              </a:pathLst>
            </a:custGeom>
            <a:solidFill>
              <a:srgbClr val="D4C096"/>
            </a:solidFill>
          </p:spPr>
        </p:sp>
        <p:sp>
          <p:nvSpPr>
            <p:cNvPr id="36" name="Freeform 36"/>
            <p:cNvSpPr/>
            <p:nvPr/>
          </p:nvSpPr>
          <p:spPr>
            <a:xfrm>
              <a:off x="0" y="0"/>
              <a:ext cx="256286" cy="695452"/>
            </a:xfrm>
            <a:custGeom>
              <a:avLst/>
              <a:gdLst/>
              <a:ahLst/>
              <a:cxnLst/>
              <a:rect l="l" t="t" r="r" b="b"/>
              <a:pathLst>
                <a:path w="256286" h="695452">
                  <a:moveTo>
                    <a:pt x="256286" y="32004"/>
                  </a:moveTo>
                  <a:cubicBezTo>
                    <a:pt x="256286" y="49657"/>
                    <a:pt x="198882" y="64008"/>
                    <a:pt x="128143" y="64008"/>
                  </a:cubicBezTo>
                  <a:cubicBezTo>
                    <a:pt x="57404" y="64008"/>
                    <a:pt x="0" y="49657"/>
                    <a:pt x="0" y="32004"/>
                  </a:cubicBezTo>
                  <a:cubicBezTo>
                    <a:pt x="0" y="14351"/>
                    <a:pt x="57404" y="0"/>
                    <a:pt x="128143" y="0"/>
                  </a:cubicBezTo>
                  <a:cubicBezTo>
                    <a:pt x="198882" y="0"/>
                    <a:pt x="256286" y="14351"/>
                    <a:pt x="256286" y="32004"/>
                  </a:cubicBezTo>
                  <a:lnTo>
                    <a:pt x="256286" y="663448"/>
                  </a:lnTo>
                  <a:cubicBezTo>
                    <a:pt x="256286" y="681101"/>
                    <a:pt x="198882" y="695452"/>
                    <a:pt x="128143" y="695452"/>
                  </a:cubicBezTo>
                  <a:cubicBezTo>
                    <a:pt x="57404" y="695452"/>
                    <a:pt x="0" y="681101"/>
                    <a:pt x="0" y="663448"/>
                  </a:cubicBezTo>
                  <a:lnTo>
                    <a:pt x="0" y="32004"/>
                  </a:lnTo>
                </a:path>
              </a:pathLst>
            </a:custGeom>
            <a:solidFill>
              <a:srgbClr val="D4C096"/>
            </a:solidFill>
          </p:spPr>
        </p:sp>
      </p:grpSp>
      <p:grpSp>
        <p:nvGrpSpPr>
          <p:cNvPr id="37" name="Group 37"/>
          <p:cNvGrpSpPr/>
          <p:nvPr/>
        </p:nvGrpSpPr>
        <p:grpSpPr>
          <a:xfrm>
            <a:off x="5892956" y="2351465"/>
            <a:ext cx="5262677" cy="6676530"/>
            <a:chOff x="0" y="0"/>
            <a:chExt cx="7016902" cy="8902040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7016877" cy="8902065"/>
            </a:xfrm>
            <a:custGeom>
              <a:avLst/>
              <a:gdLst/>
              <a:ahLst/>
              <a:cxnLst/>
              <a:rect l="l" t="t" r="r" b="b"/>
              <a:pathLst>
                <a:path w="7016877" h="8902065">
                  <a:moveTo>
                    <a:pt x="0" y="0"/>
                  </a:moveTo>
                  <a:lnTo>
                    <a:pt x="7016877" y="0"/>
                  </a:lnTo>
                  <a:lnTo>
                    <a:pt x="7016877" y="8902065"/>
                  </a:lnTo>
                  <a:lnTo>
                    <a:pt x="0" y="8902065"/>
                  </a:lnTo>
                  <a:close/>
                </a:path>
              </a:pathLst>
            </a:custGeom>
            <a:solidFill>
              <a:srgbClr val="B89650"/>
            </a:solidFill>
            <a:ln w="19065" cap="sq">
              <a:solidFill>
                <a:srgbClr val="B89650"/>
              </a:solidFill>
              <a:prstDash val="solid"/>
              <a:miter/>
            </a:ln>
          </p:spPr>
        </p:sp>
      </p:grpSp>
      <p:grpSp>
        <p:nvGrpSpPr>
          <p:cNvPr id="39" name="Group 39"/>
          <p:cNvGrpSpPr/>
          <p:nvPr/>
        </p:nvGrpSpPr>
        <p:grpSpPr>
          <a:xfrm>
            <a:off x="5902490" y="2361000"/>
            <a:ext cx="5243608" cy="109814"/>
            <a:chOff x="0" y="0"/>
            <a:chExt cx="6991477" cy="146418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6991477" cy="146431"/>
            </a:xfrm>
            <a:custGeom>
              <a:avLst/>
              <a:gdLst/>
              <a:ahLst/>
              <a:cxnLst/>
              <a:rect l="l" t="t" r="r" b="b"/>
              <a:pathLst>
                <a:path w="6991477" h="146431">
                  <a:moveTo>
                    <a:pt x="0" y="0"/>
                  </a:moveTo>
                  <a:lnTo>
                    <a:pt x="6991477" y="0"/>
                  </a:lnTo>
                  <a:lnTo>
                    <a:pt x="6991477" y="146431"/>
                  </a:lnTo>
                  <a:lnTo>
                    <a:pt x="0" y="146431"/>
                  </a:lnTo>
                  <a:close/>
                </a:path>
              </a:pathLst>
            </a:custGeom>
            <a:solidFill>
              <a:srgbClr val="7A5C1E"/>
            </a:solidFill>
          </p:spPr>
        </p:sp>
      </p:grpSp>
      <p:grpSp>
        <p:nvGrpSpPr>
          <p:cNvPr id="41" name="Group 41"/>
          <p:cNvGrpSpPr/>
          <p:nvPr/>
        </p:nvGrpSpPr>
        <p:grpSpPr>
          <a:xfrm>
            <a:off x="6144806" y="2548404"/>
            <a:ext cx="695868" cy="695868"/>
            <a:chOff x="0" y="0"/>
            <a:chExt cx="927824" cy="927824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927862" cy="927862"/>
            </a:xfrm>
            <a:custGeom>
              <a:avLst/>
              <a:gdLst/>
              <a:ahLst/>
              <a:cxnLst/>
              <a:rect l="l" t="t" r="r" b="b"/>
              <a:pathLst>
                <a:path w="927862" h="927862">
                  <a:moveTo>
                    <a:pt x="0" y="463931"/>
                  </a:moveTo>
                  <a:cubicBezTo>
                    <a:pt x="0" y="207645"/>
                    <a:pt x="207645" y="0"/>
                    <a:pt x="463931" y="0"/>
                  </a:cubicBezTo>
                  <a:cubicBezTo>
                    <a:pt x="720217" y="0"/>
                    <a:pt x="927862" y="207645"/>
                    <a:pt x="927862" y="463931"/>
                  </a:cubicBezTo>
                  <a:cubicBezTo>
                    <a:pt x="927862" y="720217"/>
                    <a:pt x="720090" y="927862"/>
                    <a:pt x="463931" y="927862"/>
                  </a:cubicBezTo>
                  <a:cubicBezTo>
                    <a:pt x="207772" y="927862"/>
                    <a:pt x="0" y="720090"/>
                    <a:pt x="0" y="463931"/>
                  </a:cubicBezTo>
                  <a:close/>
                </a:path>
              </a:pathLst>
            </a:custGeom>
            <a:solidFill>
              <a:srgbClr val="FFFFFF"/>
            </a:solidFill>
            <a:ln w="9532" cap="sq">
              <a:solidFill>
                <a:srgbClr val="D8BE82"/>
              </a:solidFill>
              <a:prstDash val="solid"/>
              <a:miter/>
            </a:ln>
          </p:spPr>
        </p:sp>
      </p:grpSp>
      <p:sp>
        <p:nvSpPr>
          <p:cNvPr id="43" name="TextBox 43"/>
          <p:cNvSpPr txBox="1"/>
          <p:nvPr/>
        </p:nvSpPr>
        <p:spPr>
          <a:xfrm>
            <a:off x="6241009" y="2727208"/>
            <a:ext cx="503453" cy="3752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81"/>
              </a:lnSpc>
            </a:pPr>
            <a:r>
              <a:rPr lang="en-US" sz="1651" b="1">
                <a:solidFill>
                  <a:srgbClr val="7A5C1E"/>
                </a:solidFill>
                <a:latin typeface="Garamond Bold"/>
                <a:ea typeface="Garamond Bold"/>
                <a:cs typeface="Garamond Bold"/>
                <a:sym typeface="Garamond Bold"/>
              </a:rPr>
              <a:t>02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7092067" y="2569197"/>
            <a:ext cx="3715512" cy="5422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 b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Platform Setup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6241009" y="3398120"/>
            <a:ext cx="4621473" cy="3584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 b="1">
                <a:solidFill>
                  <a:srgbClr val="FFE08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RUNS ALONGSIDE FROM DAY 1</a:t>
            </a:r>
          </a:p>
        </p:txBody>
      </p:sp>
      <p:grpSp>
        <p:nvGrpSpPr>
          <p:cNvPr id="46" name="Group 46"/>
          <p:cNvGrpSpPr/>
          <p:nvPr/>
        </p:nvGrpSpPr>
        <p:grpSpPr>
          <a:xfrm>
            <a:off x="6149569" y="3870931"/>
            <a:ext cx="4749451" cy="41177"/>
            <a:chOff x="0" y="0"/>
            <a:chExt cx="6332601" cy="54902"/>
          </a:xfrm>
        </p:grpSpPr>
        <p:sp>
          <p:nvSpPr>
            <p:cNvPr id="47" name="Freeform 47"/>
            <p:cNvSpPr/>
            <p:nvPr/>
          </p:nvSpPr>
          <p:spPr>
            <a:xfrm>
              <a:off x="0" y="0"/>
              <a:ext cx="6332601" cy="54864"/>
            </a:xfrm>
            <a:custGeom>
              <a:avLst/>
              <a:gdLst/>
              <a:ahLst/>
              <a:cxnLst/>
              <a:rect l="l" t="t" r="r" b="b"/>
              <a:pathLst>
                <a:path w="6332601" h="54864">
                  <a:moveTo>
                    <a:pt x="0" y="0"/>
                  </a:moveTo>
                  <a:lnTo>
                    <a:pt x="6332601" y="0"/>
                  </a:lnTo>
                  <a:lnTo>
                    <a:pt x="6332601" y="54864"/>
                  </a:lnTo>
                  <a:lnTo>
                    <a:pt x="0" y="54864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48" name="TextBox 48"/>
          <p:cNvSpPr txBox="1"/>
          <p:nvPr/>
        </p:nvSpPr>
        <p:spPr>
          <a:xfrm>
            <a:off x="6241009" y="4043277"/>
            <a:ext cx="4621473" cy="4408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FFF5E0"/>
                </a:solidFill>
                <a:latin typeface="Calibri (MS)"/>
                <a:ea typeface="Calibri (MS)"/>
                <a:cs typeface="Calibri (MS)"/>
                <a:sym typeface="Calibri (MS)"/>
              </a:rPr>
              <a:t>—  249Souq.com live on Shopify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6241009" y="4702159"/>
            <a:ext cx="4621473" cy="4408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FFF5E0"/>
                </a:solidFill>
                <a:latin typeface="Calibri (MS)"/>
                <a:ea typeface="Calibri (MS)"/>
                <a:cs typeface="Calibri (MS)"/>
                <a:sym typeface="Calibri (MS)"/>
              </a:rPr>
              <a:t>—  Seller onboarding begins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6241009" y="5361041"/>
            <a:ext cx="4621473" cy="4408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FFF5E0"/>
                </a:solidFill>
                <a:latin typeface="Calibri (MS)"/>
                <a:ea typeface="Calibri (MS)"/>
                <a:cs typeface="Calibri (MS)"/>
                <a:sym typeface="Calibri (MS)"/>
              </a:rPr>
              <a:t>—  Product catalogue built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6241009" y="6019924"/>
            <a:ext cx="4621473" cy="4408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FFF5E0"/>
                </a:solidFill>
                <a:latin typeface="Calibri (MS)"/>
                <a:ea typeface="Calibri (MS)"/>
                <a:cs typeface="Calibri (MS)"/>
                <a:sym typeface="Calibri (MS)"/>
              </a:rPr>
              <a:t>—  Secure payments integrated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6241009" y="6678806"/>
            <a:ext cx="4621473" cy="4408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FFF5E0"/>
                </a:solidFill>
                <a:latin typeface="Calibri (MS)"/>
                <a:ea typeface="Calibri (MS)"/>
                <a:cs typeface="Calibri (MS)"/>
                <a:sym typeface="Calibri (MS)"/>
              </a:rPr>
              <a:t>—  DG-certified logistics partner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6241009" y="7337689"/>
            <a:ext cx="4621473" cy="4408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FFF5E0"/>
                </a:solidFill>
                <a:latin typeface="Calibri (MS)"/>
                <a:ea typeface="Calibri (MS)"/>
                <a:cs typeface="Calibri (MS)"/>
                <a:sym typeface="Calibri (MS)"/>
              </a:rPr>
              <a:t>—  Buyer protection policy live</a:t>
            </a:r>
          </a:p>
        </p:txBody>
      </p:sp>
      <p:grpSp>
        <p:nvGrpSpPr>
          <p:cNvPr id="54" name="Group 54"/>
          <p:cNvGrpSpPr/>
          <p:nvPr/>
        </p:nvGrpSpPr>
        <p:grpSpPr>
          <a:xfrm>
            <a:off x="5897728" y="8437169"/>
            <a:ext cx="5253142" cy="586054"/>
            <a:chOff x="0" y="0"/>
            <a:chExt cx="7004190" cy="781406"/>
          </a:xfrm>
        </p:grpSpPr>
        <p:sp>
          <p:nvSpPr>
            <p:cNvPr id="55" name="Freeform 55"/>
            <p:cNvSpPr/>
            <p:nvPr/>
          </p:nvSpPr>
          <p:spPr>
            <a:xfrm>
              <a:off x="0" y="0"/>
              <a:ext cx="7004177" cy="781431"/>
            </a:xfrm>
            <a:custGeom>
              <a:avLst/>
              <a:gdLst/>
              <a:ahLst/>
              <a:cxnLst/>
              <a:rect l="l" t="t" r="r" b="b"/>
              <a:pathLst>
                <a:path w="7004177" h="781431">
                  <a:moveTo>
                    <a:pt x="0" y="0"/>
                  </a:moveTo>
                  <a:lnTo>
                    <a:pt x="7004177" y="0"/>
                  </a:lnTo>
                  <a:lnTo>
                    <a:pt x="7004177" y="781431"/>
                  </a:lnTo>
                  <a:lnTo>
                    <a:pt x="0" y="781431"/>
                  </a:lnTo>
                  <a:close/>
                </a:path>
              </a:pathLst>
            </a:custGeom>
            <a:solidFill>
              <a:srgbClr val="F5EEDC"/>
            </a:solidFill>
            <a:ln w="9532" cap="sq">
              <a:solidFill>
                <a:srgbClr val="D8BE82"/>
              </a:solidFill>
              <a:prstDash val="solid"/>
              <a:miter/>
            </a:ln>
          </p:spPr>
        </p:sp>
      </p:grpSp>
      <p:sp>
        <p:nvSpPr>
          <p:cNvPr id="56" name="TextBox 56"/>
          <p:cNvSpPr txBox="1"/>
          <p:nvPr/>
        </p:nvSpPr>
        <p:spPr>
          <a:xfrm>
            <a:off x="5993930" y="8504463"/>
            <a:ext cx="5060728" cy="4133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61"/>
              </a:lnSpc>
            </a:pPr>
            <a:r>
              <a:rPr lang="en-US" sz="1801" b="1">
                <a:solidFill>
                  <a:srgbClr val="7A5C1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Platform Grows With It</a:t>
            </a:r>
          </a:p>
        </p:txBody>
      </p:sp>
      <p:grpSp>
        <p:nvGrpSpPr>
          <p:cNvPr id="57" name="Group 57"/>
          <p:cNvGrpSpPr/>
          <p:nvPr/>
        </p:nvGrpSpPr>
        <p:grpSpPr>
          <a:xfrm>
            <a:off x="11173549" y="5428917"/>
            <a:ext cx="192176" cy="521618"/>
            <a:chOff x="0" y="0"/>
            <a:chExt cx="256235" cy="695490"/>
          </a:xfrm>
        </p:grpSpPr>
        <p:sp>
          <p:nvSpPr>
            <p:cNvPr id="58" name="Freeform 58"/>
            <p:cNvSpPr/>
            <p:nvPr/>
          </p:nvSpPr>
          <p:spPr>
            <a:xfrm>
              <a:off x="0" y="32004"/>
              <a:ext cx="256286" cy="663448"/>
            </a:xfrm>
            <a:custGeom>
              <a:avLst/>
              <a:gdLst/>
              <a:ahLst/>
              <a:cxnLst/>
              <a:rect l="l" t="t" r="r" b="b"/>
              <a:pathLst>
                <a:path w="256286" h="663448">
                  <a:moveTo>
                    <a:pt x="0" y="0"/>
                  </a:moveTo>
                  <a:cubicBezTo>
                    <a:pt x="0" y="17653"/>
                    <a:pt x="57404" y="32004"/>
                    <a:pt x="128143" y="32004"/>
                  </a:cubicBezTo>
                  <a:cubicBezTo>
                    <a:pt x="198882" y="32004"/>
                    <a:pt x="256286" y="17653"/>
                    <a:pt x="256286" y="0"/>
                  </a:cubicBezTo>
                  <a:lnTo>
                    <a:pt x="256286" y="631444"/>
                  </a:lnTo>
                  <a:cubicBezTo>
                    <a:pt x="256286" y="649097"/>
                    <a:pt x="198882" y="663448"/>
                    <a:pt x="128143" y="663448"/>
                  </a:cubicBezTo>
                  <a:cubicBezTo>
                    <a:pt x="57404" y="663448"/>
                    <a:pt x="0" y="649097"/>
                    <a:pt x="0" y="631444"/>
                  </a:cubicBezTo>
                  <a:close/>
                </a:path>
              </a:pathLst>
            </a:custGeom>
            <a:solidFill>
              <a:srgbClr val="B89650"/>
            </a:solidFill>
          </p:spPr>
        </p:sp>
        <p:sp>
          <p:nvSpPr>
            <p:cNvPr id="59" name="Freeform 59"/>
            <p:cNvSpPr/>
            <p:nvPr/>
          </p:nvSpPr>
          <p:spPr>
            <a:xfrm>
              <a:off x="0" y="0"/>
              <a:ext cx="256286" cy="64008"/>
            </a:xfrm>
            <a:custGeom>
              <a:avLst/>
              <a:gdLst/>
              <a:ahLst/>
              <a:cxnLst/>
              <a:rect l="l" t="t" r="r" b="b"/>
              <a:pathLst>
                <a:path w="256286" h="64008">
                  <a:moveTo>
                    <a:pt x="0" y="32004"/>
                  </a:moveTo>
                  <a:cubicBezTo>
                    <a:pt x="0" y="14351"/>
                    <a:pt x="57404" y="0"/>
                    <a:pt x="128143" y="0"/>
                  </a:cubicBezTo>
                  <a:cubicBezTo>
                    <a:pt x="198882" y="0"/>
                    <a:pt x="256286" y="14351"/>
                    <a:pt x="256286" y="32004"/>
                  </a:cubicBezTo>
                  <a:cubicBezTo>
                    <a:pt x="256286" y="49657"/>
                    <a:pt x="198882" y="64008"/>
                    <a:pt x="128143" y="64008"/>
                  </a:cubicBezTo>
                  <a:cubicBezTo>
                    <a:pt x="57404" y="64008"/>
                    <a:pt x="0" y="49657"/>
                    <a:pt x="0" y="32004"/>
                  </a:cubicBezTo>
                  <a:close/>
                </a:path>
              </a:pathLst>
            </a:custGeom>
            <a:solidFill>
              <a:srgbClr val="D4C096"/>
            </a:solidFill>
          </p:spPr>
        </p:sp>
        <p:sp>
          <p:nvSpPr>
            <p:cNvPr id="60" name="Freeform 60"/>
            <p:cNvSpPr/>
            <p:nvPr/>
          </p:nvSpPr>
          <p:spPr>
            <a:xfrm>
              <a:off x="0" y="0"/>
              <a:ext cx="256286" cy="695452"/>
            </a:xfrm>
            <a:custGeom>
              <a:avLst/>
              <a:gdLst/>
              <a:ahLst/>
              <a:cxnLst/>
              <a:rect l="l" t="t" r="r" b="b"/>
              <a:pathLst>
                <a:path w="256286" h="695452">
                  <a:moveTo>
                    <a:pt x="256286" y="32004"/>
                  </a:moveTo>
                  <a:cubicBezTo>
                    <a:pt x="256286" y="49657"/>
                    <a:pt x="198882" y="64008"/>
                    <a:pt x="128143" y="64008"/>
                  </a:cubicBezTo>
                  <a:cubicBezTo>
                    <a:pt x="57404" y="64008"/>
                    <a:pt x="0" y="49657"/>
                    <a:pt x="0" y="32004"/>
                  </a:cubicBezTo>
                  <a:cubicBezTo>
                    <a:pt x="0" y="14351"/>
                    <a:pt x="57404" y="0"/>
                    <a:pt x="128143" y="0"/>
                  </a:cubicBezTo>
                  <a:cubicBezTo>
                    <a:pt x="198882" y="0"/>
                    <a:pt x="256286" y="14351"/>
                    <a:pt x="256286" y="32004"/>
                  </a:cubicBezTo>
                  <a:lnTo>
                    <a:pt x="256286" y="663448"/>
                  </a:lnTo>
                  <a:cubicBezTo>
                    <a:pt x="256286" y="681101"/>
                    <a:pt x="198882" y="695452"/>
                    <a:pt x="128143" y="695452"/>
                  </a:cubicBezTo>
                  <a:cubicBezTo>
                    <a:pt x="57404" y="695452"/>
                    <a:pt x="0" y="681101"/>
                    <a:pt x="0" y="663448"/>
                  </a:cubicBezTo>
                  <a:lnTo>
                    <a:pt x="0" y="32004"/>
                  </a:lnTo>
                </a:path>
              </a:pathLst>
            </a:custGeom>
            <a:solidFill>
              <a:srgbClr val="D4C096"/>
            </a:solidFill>
          </p:spPr>
        </p:sp>
      </p:grpSp>
      <p:grpSp>
        <p:nvGrpSpPr>
          <p:cNvPr id="61" name="Group 61"/>
          <p:cNvGrpSpPr/>
          <p:nvPr/>
        </p:nvGrpSpPr>
        <p:grpSpPr>
          <a:xfrm>
            <a:off x="11383651" y="2351465"/>
            <a:ext cx="5262677" cy="6676530"/>
            <a:chOff x="0" y="0"/>
            <a:chExt cx="7016902" cy="8902040"/>
          </a:xfrm>
        </p:grpSpPr>
        <p:sp>
          <p:nvSpPr>
            <p:cNvPr id="62" name="Freeform 62"/>
            <p:cNvSpPr/>
            <p:nvPr/>
          </p:nvSpPr>
          <p:spPr>
            <a:xfrm>
              <a:off x="0" y="0"/>
              <a:ext cx="7016877" cy="8902065"/>
            </a:xfrm>
            <a:custGeom>
              <a:avLst/>
              <a:gdLst/>
              <a:ahLst/>
              <a:cxnLst/>
              <a:rect l="l" t="t" r="r" b="b"/>
              <a:pathLst>
                <a:path w="7016877" h="8902065">
                  <a:moveTo>
                    <a:pt x="0" y="0"/>
                  </a:moveTo>
                  <a:lnTo>
                    <a:pt x="7016877" y="0"/>
                  </a:lnTo>
                  <a:lnTo>
                    <a:pt x="7016877" y="8902065"/>
                  </a:lnTo>
                  <a:lnTo>
                    <a:pt x="0" y="8902065"/>
                  </a:ln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B89650"/>
              </a:solidFill>
              <a:prstDash val="solid"/>
              <a:miter/>
            </a:ln>
          </p:spPr>
        </p:sp>
      </p:grpSp>
      <p:grpSp>
        <p:nvGrpSpPr>
          <p:cNvPr id="63" name="Group 63"/>
          <p:cNvGrpSpPr/>
          <p:nvPr/>
        </p:nvGrpSpPr>
        <p:grpSpPr>
          <a:xfrm>
            <a:off x="11393176" y="2361000"/>
            <a:ext cx="5243608" cy="109814"/>
            <a:chOff x="0" y="0"/>
            <a:chExt cx="6991477" cy="146418"/>
          </a:xfrm>
        </p:grpSpPr>
        <p:sp>
          <p:nvSpPr>
            <p:cNvPr id="64" name="Freeform 64"/>
            <p:cNvSpPr/>
            <p:nvPr/>
          </p:nvSpPr>
          <p:spPr>
            <a:xfrm>
              <a:off x="0" y="0"/>
              <a:ext cx="6991477" cy="146431"/>
            </a:xfrm>
            <a:custGeom>
              <a:avLst/>
              <a:gdLst/>
              <a:ahLst/>
              <a:cxnLst/>
              <a:rect l="l" t="t" r="r" b="b"/>
              <a:pathLst>
                <a:path w="6991477" h="146431">
                  <a:moveTo>
                    <a:pt x="0" y="0"/>
                  </a:moveTo>
                  <a:lnTo>
                    <a:pt x="6991477" y="0"/>
                  </a:lnTo>
                  <a:lnTo>
                    <a:pt x="6991477" y="146431"/>
                  </a:lnTo>
                  <a:lnTo>
                    <a:pt x="0" y="146431"/>
                  </a:lnTo>
                  <a:close/>
                </a:path>
              </a:pathLst>
            </a:custGeom>
            <a:solidFill>
              <a:srgbClr val="B89650"/>
            </a:solidFill>
          </p:spPr>
        </p:sp>
      </p:grpSp>
      <p:grpSp>
        <p:nvGrpSpPr>
          <p:cNvPr id="65" name="Group 65"/>
          <p:cNvGrpSpPr/>
          <p:nvPr/>
        </p:nvGrpSpPr>
        <p:grpSpPr>
          <a:xfrm>
            <a:off x="11635492" y="2548404"/>
            <a:ext cx="695868" cy="695868"/>
            <a:chOff x="0" y="0"/>
            <a:chExt cx="927824" cy="927824"/>
          </a:xfrm>
        </p:grpSpPr>
        <p:sp>
          <p:nvSpPr>
            <p:cNvPr id="66" name="Freeform 66"/>
            <p:cNvSpPr/>
            <p:nvPr/>
          </p:nvSpPr>
          <p:spPr>
            <a:xfrm>
              <a:off x="0" y="0"/>
              <a:ext cx="927862" cy="927862"/>
            </a:xfrm>
            <a:custGeom>
              <a:avLst/>
              <a:gdLst/>
              <a:ahLst/>
              <a:cxnLst/>
              <a:rect l="l" t="t" r="r" b="b"/>
              <a:pathLst>
                <a:path w="927862" h="927862">
                  <a:moveTo>
                    <a:pt x="0" y="463931"/>
                  </a:moveTo>
                  <a:cubicBezTo>
                    <a:pt x="0" y="207645"/>
                    <a:pt x="207645" y="0"/>
                    <a:pt x="463931" y="0"/>
                  </a:cubicBezTo>
                  <a:cubicBezTo>
                    <a:pt x="720217" y="0"/>
                    <a:pt x="927862" y="207645"/>
                    <a:pt x="927862" y="463931"/>
                  </a:cubicBezTo>
                  <a:cubicBezTo>
                    <a:pt x="927862" y="720217"/>
                    <a:pt x="720090" y="927862"/>
                    <a:pt x="463931" y="927862"/>
                  </a:cubicBezTo>
                  <a:cubicBezTo>
                    <a:pt x="207772" y="927862"/>
                    <a:pt x="0" y="720090"/>
                    <a:pt x="0" y="463931"/>
                  </a:cubicBezTo>
                  <a:close/>
                </a:path>
              </a:pathLst>
            </a:custGeom>
            <a:solidFill>
              <a:srgbClr val="F5EEDC"/>
            </a:solidFill>
            <a:ln w="9532" cap="sq">
              <a:solidFill>
                <a:srgbClr val="D8BE82"/>
              </a:solidFill>
              <a:prstDash val="solid"/>
              <a:miter/>
            </a:ln>
          </p:spPr>
        </p:sp>
      </p:grpSp>
      <p:sp>
        <p:nvSpPr>
          <p:cNvPr id="67" name="TextBox 67"/>
          <p:cNvSpPr txBox="1"/>
          <p:nvPr/>
        </p:nvSpPr>
        <p:spPr>
          <a:xfrm>
            <a:off x="11731704" y="2626347"/>
            <a:ext cx="503453" cy="3752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81"/>
              </a:lnSpc>
            </a:pPr>
            <a:r>
              <a:rPr lang="en-US" sz="1651" b="1">
                <a:solidFill>
                  <a:srgbClr val="7A5C1E"/>
                </a:solidFill>
                <a:latin typeface="Garamond Bold"/>
                <a:ea typeface="Garamond Bold"/>
                <a:cs typeface="Garamond Bold"/>
                <a:sym typeface="Garamond Bold"/>
              </a:rPr>
              <a:t>03</a:t>
            </a:r>
          </a:p>
        </p:txBody>
      </p:sp>
      <p:sp>
        <p:nvSpPr>
          <p:cNvPr id="68" name="TextBox 68"/>
          <p:cNvSpPr txBox="1"/>
          <p:nvPr/>
        </p:nvSpPr>
        <p:spPr>
          <a:xfrm>
            <a:off x="12582763" y="2569197"/>
            <a:ext cx="3715512" cy="5422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 b="1">
                <a:solidFill>
                  <a:srgbClr val="1A1408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Scale &amp; Funding</a:t>
            </a:r>
          </a:p>
        </p:txBody>
      </p:sp>
      <p:sp>
        <p:nvSpPr>
          <p:cNvPr id="69" name="TextBox 69"/>
          <p:cNvSpPr txBox="1"/>
          <p:nvPr/>
        </p:nvSpPr>
        <p:spPr>
          <a:xfrm>
            <a:off x="11731704" y="3398120"/>
            <a:ext cx="4621473" cy="3584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 b="1">
                <a:solidFill>
                  <a:srgbClr val="7A5C1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BUILDS AS TRACTION IS PROVEN</a:t>
            </a:r>
          </a:p>
        </p:txBody>
      </p:sp>
      <p:grpSp>
        <p:nvGrpSpPr>
          <p:cNvPr id="70" name="Group 70"/>
          <p:cNvGrpSpPr/>
          <p:nvPr/>
        </p:nvGrpSpPr>
        <p:grpSpPr>
          <a:xfrm>
            <a:off x="11640264" y="3870931"/>
            <a:ext cx="4749451" cy="41177"/>
            <a:chOff x="0" y="0"/>
            <a:chExt cx="6332601" cy="54902"/>
          </a:xfrm>
        </p:grpSpPr>
        <p:sp>
          <p:nvSpPr>
            <p:cNvPr id="71" name="Freeform 71"/>
            <p:cNvSpPr/>
            <p:nvPr/>
          </p:nvSpPr>
          <p:spPr>
            <a:xfrm>
              <a:off x="0" y="0"/>
              <a:ext cx="6332601" cy="54864"/>
            </a:xfrm>
            <a:custGeom>
              <a:avLst/>
              <a:gdLst/>
              <a:ahLst/>
              <a:cxnLst/>
              <a:rect l="l" t="t" r="r" b="b"/>
              <a:pathLst>
                <a:path w="6332601" h="54864">
                  <a:moveTo>
                    <a:pt x="0" y="0"/>
                  </a:moveTo>
                  <a:lnTo>
                    <a:pt x="6332601" y="0"/>
                  </a:lnTo>
                  <a:lnTo>
                    <a:pt x="6332601" y="54864"/>
                  </a:lnTo>
                  <a:lnTo>
                    <a:pt x="0" y="54864"/>
                  </a:lnTo>
                  <a:close/>
                </a:path>
              </a:pathLst>
            </a:custGeom>
            <a:solidFill>
              <a:srgbClr val="D8BE82"/>
            </a:solidFill>
          </p:spPr>
        </p:sp>
      </p:grpSp>
      <p:sp>
        <p:nvSpPr>
          <p:cNvPr id="72" name="TextBox 72"/>
          <p:cNvSpPr txBox="1"/>
          <p:nvPr/>
        </p:nvSpPr>
        <p:spPr>
          <a:xfrm>
            <a:off x="11731704" y="4043277"/>
            <a:ext cx="4621473" cy="4408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3A2E1A"/>
                </a:solidFill>
                <a:latin typeface="Calibri (MS)"/>
                <a:ea typeface="Calibri (MS)"/>
                <a:cs typeface="Calibri (MS)"/>
                <a:sym typeface="Calibri (MS)"/>
              </a:rPr>
              <a:t>—  Mobile app development</a:t>
            </a:r>
          </a:p>
        </p:txBody>
      </p:sp>
      <p:sp>
        <p:nvSpPr>
          <p:cNvPr id="73" name="TextBox 73"/>
          <p:cNvSpPr txBox="1"/>
          <p:nvPr/>
        </p:nvSpPr>
        <p:spPr>
          <a:xfrm>
            <a:off x="11731704" y="4702159"/>
            <a:ext cx="4621473" cy="4408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3A2E1A"/>
                </a:solidFill>
                <a:latin typeface="Calibri (MS)"/>
                <a:ea typeface="Calibri (MS)"/>
                <a:cs typeface="Calibri (MS)"/>
                <a:sym typeface="Calibri (MS)"/>
              </a:rPr>
              <a:t>—  Investor &amp; grant outreach</a:t>
            </a:r>
          </a:p>
        </p:txBody>
      </p:sp>
      <p:sp>
        <p:nvSpPr>
          <p:cNvPr id="74" name="TextBox 74"/>
          <p:cNvSpPr txBox="1"/>
          <p:nvPr/>
        </p:nvSpPr>
        <p:spPr>
          <a:xfrm>
            <a:off x="11731704" y="5361041"/>
            <a:ext cx="4621473" cy="4408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3A2E1A"/>
                </a:solidFill>
                <a:latin typeface="Calibri (MS)"/>
                <a:ea typeface="Calibri (MS)"/>
                <a:cs typeface="Calibri (MS)"/>
                <a:sym typeface="Calibri (MS)"/>
              </a:rPr>
              <a:t>—  Expand seller base globally</a:t>
            </a:r>
          </a:p>
        </p:txBody>
      </p:sp>
      <p:sp>
        <p:nvSpPr>
          <p:cNvPr id="75" name="TextBox 75"/>
          <p:cNvSpPr txBox="1"/>
          <p:nvPr/>
        </p:nvSpPr>
        <p:spPr>
          <a:xfrm>
            <a:off x="11731704" y="6019924"/>
            <a:ext cx="4621473" cy="4408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3A2E1A"/>
                </a:solidFill>
                <a:latin typeface="Calibri (MS)"/>
                <a:ea typeface="Calibri (MS)"/>
                <a:cs typeface="Calibri (MS)"/>
                <a:sym typeface="Calibri (MS)"/>
              </a:rPr>
              <a:t>—  Premium seller subscriptions</a:t>
            </a:r>
          </a:p>
        </p:txBody>
      </p:sp>
      <p:sp>
        <p:nvSpPr>
          <p:cNvPr id="76" name="TextBox 76"/>
          <p:cNvSpPr txBox="1"/>
          <p:nvPr/>
        </p:nvSpPr>
        <p:spPr>
          <a:xfrm>
            <a:off x="11731704" y="6678806"/>
            <a:ext cx="4621473" cy="4408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3A2E1A"/>
                </a:solidFill>
                <a:latin typeface="Calibri (MS)"/>
                <a:ea typeface="Calibri (MS)"/>
                <a:cs typeface="Calibri (MS)"/>
                <a:sym typeface="Calibri (MS)"/>
              </a:rPr>
              <a:t>—  Brand partnerships &amp; media</a:t>
            </a:r>
          </a:p>
        </p:txBody>
      </p:sp>
      <p:sp>
        <p:nvSpPr>
          <p:cNvPr id="77" name="TextBox 77"/>
          <p:cNvSpPr txBox="1"/>
          <p:nvPr/>
        </p:nvSpPr>
        <p:spPr>
          <a:xfrm>
            <a:off x="11731704" y="7337689"/>
            <a:ext cx="4621473" cy="4408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3A2E1A"/>
                </a:solidFill>
                <a:latin typeface="Calibri (MS)"/>
                <a:ea typeface="Calibri (MS)"/>
                <a:cs typeface="Calibri (MS)"/>
                <a:sym typeface="Calibri (MS)"/>
              </a:rPr>
              <a:t>—  249Souq global expansion</a:t>
            </a:r>
          </a:p>
        </p:txBody>
      </p:sp>
      <p:grpSp>
        <p:nvGrpSpPr>
          <p:cNvPr id="78" name="Group 78"/>
          <p:cNvGrpSpPr/>
          <p:nvPr/>
        </p:nvGrpSpPr>
        <p:grpSpPr>
          <a:xfrm>
            <a:off x="11388414" y="8437169"/>
            <a:ext cx="5253142" cy="586054"/>
            <a:chOff x="0" y="0"/>
            <a:chExt cx="7004190" cy="781406"/>
          </a:xfrm>
        </p:grpSpPr>
        <p:sp>
          <p:nvSpPr>
            <p:cNvPr id="79" name="Freeform 79"/>
            <p:cNvSpPr/>
            <p:nvPr/>
          </p:nvSpPr>
          <p:spPr>
            <a:xfrm>
              <a:off x="0" y="0"/>
              <a:ext cx="7004177" cy="781431"/>
            </a:xfrm>
            <a:custGeom>
              <a:avLst/>
              <a:gdLst/>
              <a:ahLst/>
              <a:cxnLst/>
              <a:rect l="l" t="t" r="r" b="b"/>
              <a:pathLst>
                <a:path w="7004177" h="781431">
                  <a:moveTo>
                    <a:pt x="0" y="0"/>
                  </a:moveTo>
                  <a:lnTo>
                    <a:pt x="7004177" y="0"/>
                  </a:lnTo>
                  <a:lnTo>
                    <a:pt x="7004177" y="781431"/>
                  </a:lnTo>
                  <a:lnTo>
                    <a:pt x="0" y="781431"/>
                  </a:lnTo>
                  <a:close/>
                </a:path>
              </a:pathLst>
            </a:custGeom>
            <a:solidFill>
              <a:srgbClr val="F5EEDC"/>
            </a:solidFill>
            <a:ln w="9532" cap="sq">
              <a:solidFill>
                <a:srgbClr val="D8BE82"/>
              </a:solidFill>
              <a:prstDash val="solid"/>
              <a:miter/>
            </a:ln>
          </p:spPr>
        </p:sp>
      </p:grpSp>
      <p:sp>
        <p:nvSpPr>
          <p:cNvPr id="80" name="TextBox 80"/>
          <p:cNvSpPr txBox="1"/>
          <p:nvPr/>
        </p:nvSpPr>
        <p:spPr>
          <a:xfrm>
            <a:off x="11484616" y="8504463"/>
            <a:ext cx="5060728" cy="4133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61"/>
              </a:lnSpc>
            </a:pPr>
            <a:r>
              <a:rPr lang="en-US" sz="1801" b="1">
                <a:solidFill>
                  <a:srgbClr val="7A5C1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Scale When Ready</a:t>
            </a:r>
          </a:p>
        </p:txBody>
      </p:sp>
      <p:grpSp>
        <p:nvGrpSpPr>
          <p:cNvPr id="81" name="Group 81"/>
          <p:cNvGrpSpPr/>
          <p:nvPr/>
        </p:nvGrpSpPr>
        <p:grpSpPr>
          <a:xfrm>
            <a:off x="54907" y="9361627"/>
            <a:ext cx="18233093" cy="920877"/>
            <a:chOff x="0" y="0"/>
            <a:chExt cx="24310791" cy="1227836"/>
          </a:xfrm>
        </p:grpSpPr>
        <p:sp>
          <p:nvSpPr>
            <p:cNvPr id="82" name="Freeform 82"/>
            <p:cNvSpPr/>
            <p:nvPr/>
          </p:nvSpPr>
          <p:spPr>
            <a:xfrm>
              <a:off x="0" y="0"/>
              <a:ext cx="24310766" cy="1227874"/>
            </a:xfrm>
            <a:custGeom>
              <a:avLst/>
              <a:gdLst/>
              <a:ahLst/>
              <a:cxnLst/>
              <a:rect l="l" t="t" r="r" b="b"/>
              <a:pathLst>
                <a:path w="24310766" h="1227874">
                  <a:moveTo>
                    <a:pt x="0" y="0"/>
                  </a:moveTo>
                  <a:lnTo>
                    <a:pt x="24310766" y="0"/>
                  </a:lnTo>
                  <a:lnTo>
                    <a:pt x="24310766" y="1227874"/>
                  </a:lnTo>
                  <a:lnTo>
                    <a:pt x="0" y="1227874"/>
                  </a:lnTo>
                  <a:close/>
                </a:path>
              </a:pathLst>
            </a:custGeom>
            <a:solidFill>
              <a:srgbClr val="B89650"/>
            </a:solidFill>
          </p:spPr>
        </p:sp>
        <p:sp>
          <p:nvSpPr>
            <p:cNvPr id="83" name="TextBox 83"/>
            <p:cNvSpPr txBox="1"/>
            <p:nvPr/>
          </p:nvSpPr>
          <p:spPr>
            <a:xfrm>
              <a:off x="0" y="-19050"/>
              <a:ext cx="24310791" cy="124688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01"/>
                </a:lnSpc>
              </a:pPr>
              <a:r>
                <a:rPr lang="en-US" sz="3001" b="1" i="1">
                  <a:solidFill>
                    <a:srgbClr val="FFFFFF"/>
                  </a:solidFill>
                  <a:latin typeface="Garamond Bold Italics"/>
                  <a:ea typeface="Garamond Bold Italics"/>
                  <a:cs typeface="Garamond Bold Italics"/>
                  <a:sym typeface="Garamond Bold Italics"/>
                </a:rPr>
                <a:t>249Souq.com						The taste of home, wherever you are		</a:t>
              </a:r>
              <a:r>
                <a:rPr lang="ar-EG" sz="3001" b="1" i="1">
                  <a:solidFill>
                    <a:srgbClr val="FFFFFF"/>
                  </a:solidFill>
                  <a:latin typeface="Garamond Bold Italics"/>
                  <a:ea typeface="Garamond Bold Italics"/>
                  <a:cs typeface="Garamond Bold Italics"/>
                  <a:sym typeface="Garamond Bold Italics"/>
                  <a:rtl/>
                </a:rPr>
                <a:t>طعم البيت، وين ما مشيت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:fade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9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09814" cy="10295039"/>
            <a:chOff x="0" y="0"/>
            <a:chExt cx="146418" cy="1372671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46431" cy="13726668"/>
            </a:xfrm>
            <a:custGeom>
              <a:avLst/>
              <a:gdLst/>
              <a:ahLst/>
              <a:cxnLst/>
              <a:rect l="l" t="t" r="r" b="b"/>
              <a:pathLst>
                <a:path w="146431" h="13726668">
                  <a:moveTo>
                    <a:pt x="0" y="0"/>
                  </a:moveTo>
                  <a:lnTo>
                    <a:pt x="146431" y="0"/>
                  </a:lnTo>
                  <a:lnTo>
                    <a:pt x="146431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B89650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54807" y="9664808"/>
            <a:ext cx="18187911" cy="576520"/>
            <a:chOff x="0" y="0"/>
            <a:chExt cx="24250548" cy="768693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250523" cy="768731"/>
            </a:xfrm>
            <a:custGeom>
              <a:avLst/>
              <a:gdLst/>
              <a:ahLst/>
              <a:cxnLst/>
              <a:rect l="l" t="t" r="r" b="b"/>
              <a:pathLst>
                <a:path w="24250523" h="768731">
                  <a:moveTo>
                    <a:pt x="0" y="0"/>
                  </a:moveTo>
                  <a:lnTo>
                    <a:pt x="24250523" y="0"/>
                  </a:lnTo>
                  <a:lnTo>
                    <a:pt x="24250523" y="768731"/>
                  </a:lnTo>
                  <a:lnTo>
                    <a:pt x="0" y="768731"/>
                  </a:lnTo>
                  <a:close/>
                </a:path>
              </a:pathLst>
            </a:custGeom>
            <a:solidFill>
              <a:srgbClr val="B89650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551288" y="9733826"/>
            <a:ext cx="16975522" cy="3801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 b="1" i="1">
                <a:solidFill>
                  <a:srgbClr val="FFFFFF"/>
                </a:solidFill>
                <a:latin typeface="Garamond Bold Italics"/>
                <a:ea typeface="Garamond Bold Italics"/>
                <a:cs typeface="Garamond Bold Italics"/>
                <a:sym typeface="Garamond Bold Italics"/>
              </a:rPr>
              <a:t>249Souq.com						The taste of home, wherever you are		</a:t>
            </a:r>
            <a:r>
              <a:rPr lang="ar-EG" sz="2101" b="1" i="1">
                <a:solidFill>
                  <a:srgbClr val="FFFFFF"/>
                </a:solidFill>
                <a:latin typeface="Garamond Bold Italics"/>
                <a:ea typeface="Garamond Bold Italics"/>
                <a:cs typeface="Garamond Bold Italics"/>
                <a:sym typeface="Garamond Bold Italics"/>
                <a:rtl/>
              </a:rPr>
              <a:t>طعم البيت، وين ما مشيت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7387116" y="9841278"/>
            <a:ext cx="572091" cy="3119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441"/>
              </a:lnSpc>
            </a:pPr>
            <a:r>
              <a:rPr lang="en-US" sz="1200">
                <a:solidFill>
                  <a:srgbClr val="8A7A60"/>
                </a:solidFill>
                <a:latin typeface="Calibri (MS)"/>
                <a:ea typeface="Calibri (MS)"/>
                <a:cs typeface="Calibri (MS)"/>
                <a:sym typeface="Calibri (MS)"/>
              </a:rPr>
              <a:t>07 / 11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503244" y="282159"/>
            <a:ext cx="10798502" cy="3035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 b="1">
                <a:solidFill>
                  <a:srgbClr val="B8965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CHALLENGES &amp; APPROACH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03244" y="658101"/>
            <a:ext cx="16289188" cy="6414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124"/>
              </a:lnSpc>
            </a:pPr>
            <a:r>
              <a:rPr lang="en-US" sz="5103" b="1">
                <a:solidFill>
                  <a:srgbClr val="1A1408"/>
                </a:solidFill>
                <a:latin typeface="Garamond Bold"/>
                <a:ea typeface="Garamond Bold"/>
                <a:cs typeface="Garamond Bold"/>
                <a:sym typeface="Garamond Bold"/>
              </a:rPr>
              <a:t>I See the Road Blockers.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03244" y="1381411"/>
            <a:ext cx="16289188" cy="5495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3"/>
              </a:lnSpc>
            </a:pPr>
            <a:r>
              <a:rPr lang="en-US" sz="3602" b="1" i="1">
                <a:solidFill>
                  <a:srgbClr val="7A5C1E"/>
                </a:solidFill>
                <a:latin typeface="Garamond Bold Italics"/>
                <a:ea typeface="Garamond Bold Italics"/>
                <a:cs typeface="Garamond Bold Italics"/>
                <a:sym typeface="Garamond Bold Italics"/>
              </a:rPr>
              <a:t>Some I Can Move. Others I Need Help With.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411804" y="2086461"/>
            <a:ext cx="3019882" cy="82363"/>
            <a:chOff x="0" y="0"/>
            <a:chExt cx="4026510" cy="109817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4026535" cy="109855"/>
            </a:xfrm>
            <a:custGeom>
              <a:avLst/>
              <a:gdLst/>
              <a:ahLst/>
              <a:cxnLst/>
              <a:rect l="l" t="t" r="r" b="b"/>
              <a:pathLst>
                <a:path w="4026535" h="109855">
                  <a:moveTo>
                    <a:pt x="0" y="0"/>
                  </a:moveTo>
                  <a:lnTo>
                    <a:pt x="4026535" y="0"/>
                  </a:lnTo>
                  <a:lnTo>
                    <a:pt x="4026535" y="109855"/>
                  </a:lnTo>
                  <a:lnTo>
                    <a:pt x="0" y="109855"/>
                  </a:lnTo>
                  <a:close/>
                </a:path>
              </a:pathLst>
            </a:custGeom>
            <a:solidFill>
              <a:srgbClr val="B89650"/>
            </a:solidFill>
          </p:spPr>
        </p:sp>
      </p:grpSp>
      <p:grpSp>
        <p:nvGrpSpPr>
          <p:cNvPr id="13" name="Group 13"/>
          <p:cNvGrpSpPr/>
          <p:nvPr/>
        </p:nvGrpSpPr>
        <p:grpSpPr>
          <a:xfrm>
            <a:off x="13444566" y="623802"/>
            <a:ext cx="2142896" cy="536867"/>
            <a:chOff x="0" y="0"/>
            <a:chExt cx="2857195" cy="715823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2857246" cy="715772"/>
            </a:xfrm>
            <a:custGeom>
              <a:avLst/>
              <a:gdLst/>
              <a:ahLst/>
              <a:cxnLst/>
              <a:rect l="l" t="t" r="r" b="b"/>
              <a:pathLst>
                <a:path w="2857246" h="715772">
                  <a:moveTo>
                    <a:pt x="0" y="0"/>
                  </a:moveTo>
                  <a:lnTo>
                    <a:pt x="2857246" y="0"/>
                  </a:lnTo>
                  <a:lnTo>
                    <a:pt x="2857246" y="715772"/>
                  </a:lnTo>
                  <a:lnTo>
                    <a:pt x="0" y="715772"/>
                  </a:lnTo>
                  <a:close/>
                </a:path>
              </a:pathLst>
            </a:custGeom>
            <a:solidFill>
              <a:srgbClr val="E8F4E8"/>
            </a:solidFill>
            <a:ln w="15252" cap="sq">
              <a:solidFill>
                <a:srgbClr val="2E5E2E"/>
              </a:solidFill>
              <a:prstDash val="solid"/>
              <a:miter/>
            </a:ln>
          </p:spPr>
        </p:sp>
      </p:grpSp>
      <p:sp>
        <p:nvSpPr>
          <p:cNvPr id="15" name="TextBox 15"/>
          <p:cNvSpPr txBox="1"/>
          <p:nvPr/>
        </p:nvSpPr>
        <p:spPr>
          <a:xfrm>
            <a:off x="13543626" y="703478"/>
            <a:ext cx="1944767" cy="3489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21"/>
              </a:lnSpc>
            </a:pPr>
            <a:r>
              <a:rPr lang="en-US" sz="1351" b="1">
                <a:solidFill>
                  <a:srgbClr val="2E5E2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 CAN MOVE IT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15709478" y="623802"/>
            <a:ext cx="2417426" cy="536867"/>
            <a:chOff x="0" y="0"/>
            <a:chExt cx="3223235" cy="715823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3223260" cy="715772"/>
            </a:xfrm>
            <a:custGeom>
              <a:avLst/>
              <a:gdLst/>
              <a:ahLst/>
              <a:cxnLst/>
              <a:rect l="l" t="t" r="r" b="b"/>
              <a:pathLst>
                <a:path w="3223260" h="715772">
                  <a:moveTo>
                    <a:pt x="0" y="0"/>
                  </a:moveTo>
                  <a:lnTo>
                    <a:pt x="3223260" y="0"/>
                  </a:lnTo>
                  <a:lnTo>
                    <a:pt x="3223260" y="715772"/>
                  </a:lnTo>
                  <a:lnTo>
                    <a:pt x="0" y="715772"/>
                  </a:lnTo>
                  <a:close/>
                </a:path>
              </a:pathLst>
            </a:custGeom>
            <a:solidFill>
              <a:srgbClr val="FDF0D8"/>
            </a:solidFill>
            <a:ln w="15252" cap="sq">
              <a:solidFill>
                <a:srgbClr val="7A5C1E"/>
              </a:solidFill>
              <a:prstDash val="solid"/>
              <a:miter/>
            </a:ln>
          </p:spPr>
        </p:sp>
      </p:grpSp>
      <p:sp>
        <p:nvSpPr>
          <p:cNvPr id="18" name="TextBox 18"/>
          <p:cNvSpPr txBox="1"/>
          <p:nvPr/>
        </p:nvSpPr>
        <p:spPr>
          <a:xfrm>
            <a:off x="15808538" y="703478"/>
            <a:ext cx="2219296" cy="3489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21"/>
              </a:lnSpc>
            </a:pPr>
            <a:r>
              <a:rPr lang="en-US" sz="1351" b="1">
                <a:solidFill>
                  <a:srgbClr val="7A5C1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 NEED HELP WITH THIS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407032" y="2356228"/>
            <a:ext cx="17717005" cy="1354750"/>
            <a:chOff x="0" y="0"/>
            <a:chExt cx="23622673" cy="1806334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23622636" cy="1806321"/>
            </a:xfrm>
            <a:custGeom>
              <a:avLst/>
              <a:gdLst/>
              <a:ahLst/>
              <a:cxnLst/>
              <a:rect l="l" t="t" r="r" b="b"/>
              <a:pathLst>
                <a:path w="23622636" h="1806321">
                  <a:moveTo>
                    <a:pt x="0" y="0"/>
                  </a:moveTo>
                  <a:lnTo>
                    <a:pt x="23622636" y="0"/>
                  </a:lnTo>
                  <a:lnTo>
                    <a:pt x="23622636" y="1806321"/>
                  </a:lnTo>
                  <a:lnTo>
                    <a:pt x="0" y="1806321"/>
                  </a:lnTo>
                  <a:close/>
                </a:path>
              </a:pathLst>
            </a:custGeom>
            <a:solidFill>
              <a:srgbClr val="FFFFFF"/>
            </a:solidFill>
            <a:ln w="9532" cap="sq">
              <a:solidFill>
                <a:srgbClr val="D8BE82"/>
              </a:solidFill>
              <a:prstDash val="solid"/>
              <a:miter/>
            </a:ln>
          </p:spPr>
        </p:sp>
      </p:grpSp>
      <p:grpSp>
        <p:nvGrpSpPr>
          <p:cNvPr id="21" name="Group 21"/>
          <p:cNvGrpSpPr/>
          <p:nvPr/>
        </p:nvGrpSpPr>
        <p:grpSpPr>
          <a:xfrm>
            <a:off x="411804" y="2361000"/>
            <a:ext cx="96088" cy="1345216"/>
            <a:chOff x="0" y="0"/>
            <a:chExt cx="128118" cy="1793621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128143" cy="1793621"/>
            </a:xfrm>
            <a:custGeom>
              <a:avLst/>
              <a:gdLst/>
              <a:ahLst/>
              <a:cxnLst/>
              <a:rect l="l" t="t" r="r" b="b"/>
              <a:pathLst>
                <a:path w="128143" h="1793621">
                  <a:moveTo>
                    <a:pt x="0" y="0"/>
                  </a:moveTo>
                  <a:lnTo>
                    <a:pt x="128143" y="0"/>
                  </a:lnTo>
                  <a:lnTo>
                    <a:pt x="128143" y="1793621"/>
                  </a:lnTo>
                  <a:lnTo>
                    <a:pt x="0" y="1793621"/>
                  </a:lnTo>
                  <a:close/>
                </a:path>
              </a:pathLst>
            </a:custGeom>
            <a:solidFill>
              <a:srgbClr val="2E5E2E"/>
            </a:solidFill>
          </p:spPr>
        </p:sp>
      </p:grpSp>
      <p:grpSp>
        <p:nvGrpSpPr>
          <p:cNvPr id="23" name="Group 23"/>
          <p:cNvGrpSpPr/>
          <p:nvPr/>
        </p:nvGrpSpPr>
        <p:grpSpPr>
          <a:xfrm>
            <a:off x="598256" y="2492540"/>
            <a:ext cx="642871" cy="642871"/>
            <a:chOff x="0" y="0"/>
            <a:chExt cx="857161" cy="857161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57123" cy="857123"/>
            </a:xfrm>
            <a:custGeom>
              <a:avLst/>
              <a:gdLst/>
              <a:ahLst/>
              <a:cxnLst/>
              <a:rect l="l" t="t" r="r" b="b"/>
              <a:pathLst>
                <a:path w="857123" h="857123">
                  <a:moveTo>
                    <a:pt x="0" y="428625"/>
                  </a:moveTo>
                  <a:cubicBezTo>
                    <a:pt x="0" y="191897"/>
                    <a:pt x="191897" y="0"/>
                    <a:pt x="428625" y="0"/>
                  </a:cubicBezTo>
                  <a:cubicBezTo>
                    <a:pt x="665353" y="0"/>
                    <a:pt x="857123" y="191897"/>
                    <a:pt x="857123" y="428625"/>
                  </a:cubicBezTo>
                  <a:cubicBezTo>
                    <a:pt x="857123" y="665353"/>
                    <a:pt x="665226" y="857123"/>
                    <a:pt x="428625" y="857123"/>
                  </a:cubicBezTo>
                  <a:cubicBezTo>
                    <a:pt x="192024" y="857123"/>
                    <a:pt x="0" y="665226"/>
                    <a:pt x="0" y="428625"/>
                  </a:cubicBezTo>
                  <a:close/>
                </a:path>
              </a:pathLst>
            </a:custGeom>
            <a:solidFill>
              <a:srgbClr val="F5EEDC"/>
            </a:solidFill>
            <a:ln w="11439" cap="sq">
              <a:solidFill>
                <a:srgbClr val="B89650"/>
              </a:solidFill>
              <a:prstDash val="solid"/>
              <a:miter/>
            </a:ln>
          </p:spPr>
        </p:sp>
      </p:grpSp>
      <p:sp>
        <p:nvSpPr>
          <p:cNvPr id="25" name="TextBox 25"/>
          <p:cNvSpPr txBox="1"/>
          <p:nvPr/>
        </p:nvSpPr>
        <p:spPr>
          <a:xfrm>
            <a:off x="695420" y="2566111"/>
            <a:ext cx="448551" cy="3943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01"/>
              </a:lnSpc>
            </a:pPr>
            <a:r>
              <a:rPr lang="en-US" sz="1501" b="1">
                <a:solidFill>
                  <a:srgbClr val="7A5C1E"/>
                </a:solidFill>
                <a:latin typeface="Garamond Bold"/>
                <a:ea typeface="Garamond Bold"/>
                <a:cs typeface="Garamond Bold"/>
                <a:sym typeface="Garamond Bold"/>
              </a:rPr>
              <a:t>01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436656" y="2496360"/>
            <a:ext cx="4209669" cy="3954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 b="1">
                <a:solidFill>
                  <a:srgbClr val="1A1408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Community Trust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436656" y="2882475"/>
            <a:ext cx="11073032" cy="6396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3A2E1A"/>
                </a:solidFill>
                <a:latin typeface="Calibri (MS)"/>
                <a:ea typeface="Calibri (MS)"/>
                <a:cs typeface="Calibri (MS)"/>
                <a:sym typeface="Calibri (MS)"/>
              </a:rPr>
              <a:t>I am Sudanese. I know the food, the scents, the culture, the language. No outsider can replicate this; it is my most powerful unfair advantage.</a:t>
            </a:r>
          </a:p>
        </p:txBody>
      </p:sp>
      <p:grpSp>
        <p:nvGrpSpPr>
          <p:cNvPr id="28" name="Group 28"/>
          <p:cNvGrpSpPr/>
          <p:nvPr/>
        </p:nvGrpSpPr>
        <p:grpSpPr>
          <a:xfrm>
            <a:off x="14515252" y="2737723"/>
            <a:ext cx="3419475" cy="564318"/>
            <a:chOff x="0" y="0"/>
            <a:chExt cx="4559300" cy="752424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4559300" cy="752475"/>
            </a:xfrm>
            <a:custGeom>
              <a:avLst/>
              <a:gdLst/>
              <a:ahLst/>
              <a:cxnLst/>
              <a:rect l="l" t="t" r="r" b="b"/>
              <a:pathLst>
                <a:path w="4559300" h="752475">
                  <a:moveTo>
                    <a:pt x="0" y="0"/>
                  </a:moveTo>
                  <a:lnTo>
                    <a:pt x="4559300" y="0"/>
                  </a:lnTo>
                  <a:lnTo>
                    <a:pt x="4559300" y="752475"/>
                  </a:lnTo>
                  <a:lnTo>
                    <a:pt x="0" y="752475"/>
                  </a:lnTo>
                  <a:close/>
                </a:path>
              </a:pathLst>
            </a:custGeom>
            <a:solidFill>
              <a:srgbClr val="E8F4E8"/>
            </a:solidFill>
            <a:ln w="15252" cap="sq">
              <a:solidFill>
                <a:srgbClr val="2E5E2E"/>
              </a:solidFill>
              <a:prstDash val="solid"/>
              <a:miter/>
            </a:ln>
          </p:spPr>
        </p:sp>
      </p:grpSp>
      <p:sp>
        <p:nvSpPr>
          <p:cNvPr id="30" name="TextBox 30"/>
          <p:cNvSpPr txBox="1"/>
          <p:nvPr/>
        </p:nvSpPr>
        <p:spPr>
          <a:xfrm>
            <a:off x="14614312" y="2849051"/>
            <a:ext cx="3221345" cy="3859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01"/>
              </a:lnSpc>
            </a:pPr>
            <a:r>
              <a:rPr lang="en-US" sz="1501" b="1">
                <a:solidFill>
                  <a:srgbClr val="2E5E2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 CAN MOVE IT</a:t>
            </a:r>
          </a:p>
        </p:txBody>
      </p:sp>
      <p:grpSp>
        <p:nvGrpSpPr>
          <p:cNvPr id="31" name="Group 31"/>
          <p:cNvGrpSpPr/>
          <p:nvPr/>
        </p:nvGrpSpPr>
        <p:grpSpPr>
          <a:xfrm>
            <a:off x="407032" y="3811267"/>
            <a:ext cx="17717005" cy="1354750"/>
            <a:chOff x="0" y="0"/>
            <a:chExt cx="23622673" cy="1806334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23622636" cy="1806321"/>
            </a:xfrm>
            <a:custGeom>
              <a:avLst/>
              <a:gdLst/>
              <a:ahLst/>
              <a:cxnLst/>
              <a:rect l="l" t="t" r="r" b="b"/>
              <a:pathLst>
                <a:path w="23622636" h="1806321">
                  <a:moveTo>
                    <a:pt x="0" y="0"/>
                  </a:moveTo>
                  <a:lnTo>
                    <a:pt x="23622636" y="0"/>
                  </a:lnTo>
                  <a:lnTo>
                    <a:pt x="23622636" y="1806321"/>
                  </a:lnTo>
                  <a:lnTo>
                    <a:pt x="0" y="1806321"/>
                  </a:lnTo>
                  <a:close/>
                </a:path>
              </a:pathLst>
            </a:custGeom>
            <a:solidFill>
              <a:srgbClr val="FFFFFF"/>
            </a:solidFill>
            <a:ln w="9532" cap="sq">
              <a:solidFill>
                <a:srgbClr val="D8BE82"/>
              </a:solidFill>
              <a:prstDash val="solid"/>
              <a:miter/>
            </a:ln>
          </p:spPr>
        </p:sp>
      </p:grpSp>
      <p:grpSp>
        <p:nvGrpSpPr>
          <p:cNvPr id="33" name="Group 33"/>
          <p:cNvGrpSpPr/>
          <p:nvPr/>
        </p:nvGrpSpPr>
        <p:grpSpPr>
          <a:xfrm>
            <a:off x="411804" y="3816029"/>
            <a:ext cx="96088" cy="1345216"/>
            <a:chOff x="0" y="0"/>
            <a:chExt cx="128118" cy="1793621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128143" cy="1793621"/>
            </a:xfrm>
            <a:custGeom>
              <a:avLst/>
              <a:gdLst/>
              <a:ahLst/>
              <a:cxnLst/>
              <a:rect l="l" t="t" r="r" b="b"/>
              <a:pathLst>
                <a:path w="128143" h="1793621">
                  <a:moveTo>
                    <a:pt x="0" y="0"/>
                  </a:moveTo>
                  <a:lnTo>
                    <a:pt x="128143" y="0"/>
                  </a:lnTo>
                  <a:lnTo>
                    <a:pt x="128143" y="1793621"/>
                  </a:lnTo>
                  <a:lnTo>
                    <a:pt x="0" y="1793621"/>
                  </a:lnTo>
                  <a:close/>
                </a:path>
              </a:pathLst>
            </a:custGeom>
            <a:solidFill>
              <a:srgbClr val="2E5E2E"/>
            </a:solidFill>
          </p:spPr>
        </p:sp>
      </p:grpSp>
      <p:grpSp>
        <p:nvGrpSpPr>
          <p:cNvPr id="35" name="Group 35"/>
          <p:cNvGrpSpPr/>
          <p:nvPr/>
        </p:nvGrpSpPr>
        <p:grpSpPr>
          <a:xfrm>
            <a:off x="598256" y="3947579"/>
            <a:ext cx="642871" cy="642871"/>
            <a:chOff x="0" y="0"/>
            <a:chExt cx="857161" cy="857161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857123" cy="857123"/>
            </a:xfrm>
            <a:custGeom>
              <a:avLst/>
              <a:gdLst/>
              <a:ahLst/>
              <a:cxnLst/>
              <a:rect l="l" t="t" r="r" b="b"/>
              <a:pathLst>
                <a:path w="857123" h="857123">
                  <a:moveTo>
                    <a:pt x="0" y="428625"/>
                  </a:moveTo>
                  <a:cubicBezTo>
                    <a:pt x="0" y="191897"/>
                    <a:pt x="191897" y="0"/>
                    <a:pt x="428625" y="0"/>
                  </a:cubicBezTo>
                  <a:cubicBezTo>
                    <a:pt x="665353" y="0"/>
                    <a:pt x="857123" y="191897"/>
                    <a:pt x="857123" y="428625"/>
                  </a:cubicBezTo>
                  <a:cubicBezTo>
                    <a:pt x="857123" y="665353"/>
                    <a:pt x="665226" y="857123"/>
                    <a:pt x="428625" y="857123"/>
                  </a:cubicBezTo>
                  <a:cubicBezTo>
                    <a:pt x="192024" y="857123"/>
                    <a:pt x="0" y="665226"/>
                    <a:pt x="0" y="428625"/>
                  </a:cubicBezTo>
                  <a:close/>
                </a:path>
              </a:pathLst>
            </a:custGeom>
            <a:solidFill>
              <a:srgbClr val="F5EEDC"/>
            </a:solidFill>
            <a:ln w="11439" cap="sq">
              <a:solidFill>
                <a:srgbClr val="B89650"/>
              </a:solidFill>
              <a:prstDash val="solid"/>
              <a:miter/>
            </a:ln>
          </p:spPr>
        </p:sp>
      </p:grpSp>
      <p:sp>
        <p:nvSpPr>
          <p:cNvPr id="37" name="TextBox 37"/>
          <p:cNvSpPr txBox="1"/>
          <p:nvPr/>
        </p:nvSpPr>
        <p:spPr>
          <a:xfrm>
            <a:off x="695420" y="4021150"/>
            <a:ext cx="448551" cy="3943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01"/>
              </a:lnSpc>
            </a:pPr>
            <a:r>
              <a:rPr lang="en-US" sz="1501" b="1">
                <a:solidFill>
                  <a:srgbClr val="7A5C1E"/>
                </a:solidFill>
                <a:latin typeface="Garamond Bold"/>
                <a:ea typeface="Garamond Bold"/>
                <a:cs typeface="Garamond Bold"/>
                <a:sym typeface="Garamond Bold"/>
              </a:rPr>
              <a:t>02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436656" y="3951389"/>
            <a:ext cx="4209669" cy="3954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 b="1">
                <a:solidFill>
                  <a:srgbClr val="1A1408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Seller &amp; Supplier Network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1436656" y="4455081"/>
            <a:ext cx="11073032" cy="5231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3A2E1A"/>
                </a:solidFill>
                <a:latin typeface="Calibri (MS)"/>
                <a:ea typeface="Calibri (MS)"/>
                <a:cs typeface="Calibri (MS)"/>
                <a:sym typeface="Calibri (MS)"/>
              </a:rPr>
              <a:t>I have personal connections within the Sudanese diaspora. The founding seller network starts with people I already know and trust.</a:t>
            </a:r>
          </a:p>
        </p:txBody>
      </p:sp>
      <p:grpSp>
        <p:nvGrpSpPr>
          <p:cNvPr id="40" name="Group 40"/>
          <p:cNvGrpSpPr/>
          <p:nvPr/>
        </p:nvGrpSpPr>
        <p:grpSpPr>
          <a:xfrm>
            <a:off x="14515252" y="4192753"/>
            <a:ext cx="3419475" cy="564318"/>
            <a:chOff x="0" y="0"/>
            <a:chExt cx="4559300" cy="752424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4559300" cy="752475"/>
            </a:xfrm>
            <a:custGeom>
              <a:avLst/>
              <a:gdLst/>
              <a:ahLst/>
              <a:cxnLst/>
              <a:rect l="l" t="t" r="r" b="b"/>
              <a:pathLst>
                <a:path w="4559300" h="752475">
                  <a:moveTo>
                    <a:pt x="0" y="0"/>
                  </a:moveTo>
                  <a:lnTo>
                    <a:pt x="4559300" y="0"/>
                  </a:lnTo>
                  <a:lnTo>
                    <a:pt x="4559300" y="752475"/>
                  </a:lnTo>
                  <a:lnTo>
                    <a:pt x="0" y="752475"/>
                  </a:lnTo>
                  <a:close/>
                </a:path>
              </a:pathLst>
            </a:custGeom>
            <a:solidFill>
              <a:srgbClr val="E8F4E8"/>
            </a:solidFill>
            <a:ln w="15252" cap="sq">
              <a:solidFill>
                <a:srgbClr val="2E5E2E"/>
              </a:solidFill>
              <a:prstDash val="solid"/>
              <a:miter/>
            </a:ln>
          </p:spPr>
        </p:sp>
      </p:grpSp>
      <p:sp>
        <p:nvSpPr>
          <p:cNvPr id="42" name="TextBox 42"/>
          <p:cNvSpPr txBox="1"/>
          <p:nvPr/>
        </p:nvSpPr>
        <p:spPr>
          <a:xfrm>
            <a:off x="14607454" y="4345267"/>
            <a:ext cx="3221345" cy="3859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01"/>
              </a:lnSpc>
            </a:pPr>
            <a:r>
              <a:rPr lang="en-US" sz="1501" b="1">
                <a:solidFill>
                  <a:srgbClr val="2E5E2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 CAN MOVE IT</a:t>
            </a:r>
          </a:p>
        </p:txBody>
      </p:sp>
      <p:grpSp>
        <p:nvGrpSpPr>
          <p:cNvPr id="43" name="Group 43"/>
          <p:cNvGrpSpPr/>
          <p:nvPr/>
        </p:nvGrpSpPr>
        <p:grpSpPr>
          <a:xfrm>
            <a:off x="407032" y="5266296"/>
            <a:ext cx="17717005" cy="1354750"/>
            <a:chOff x="0" y="0"/>
            <a:chExt cx="23622673" cy="1806334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23622636" cy="1806321"/>
            </a:xfrm>
            <a:custGeom>
              <a:avLst/>
              <a:gdLst/>
              <a:ahLst/>
              <a:cxnLst/>
              <a:rect l="l" t="t" r="r" b="b"/>
              <a:pathLst>
                <a:path w="23622636" h="1806321">
                  <a:moveTo>
                    <a:pt x="0" y="0"/>
                  </a:moveTo>
                  <a:lnTo>
                    <a:pt x="23622636" y="0"/>
                  </a:lnTo>
                  <a:lnTo>
                    <a:pt x="23622636" y="1806321"/>
                  </a:lnTo>
                  <a:lnTo>
                    <a:pt x="0" y="1806321"/>
                  </a:lnTo>
                  <a:close/>
                </a:path>
              </a:pathLst>
            </a:custGeom>
            <a:solidFill>
              <a:srgbClr val="FFFFFF"/>
            </a:solidFill>
            <a:ln w="9532" cap="sq">
              <a:solidFill>
                <a:srgbClr val="D8BE82"/>
              </a:solidFill>
              <a:prstDash val="solid"/>
              <a:miter/>
            </a:ln>
          </p:spPr>
        </p:sp>
      </p:grpSp>
      <p:grpSp>
        <p:nvGrpSpPr>
          <p:cNvPr id="45" name="Group 45"/>
          <p:cNvGrpSpPr/>
          <p:nvPr/>
        </p:nvGrpSpPr>
        <p:grpSpPr>
          <a:xfrm>
            <a:off x="411804" y="5271059"/>
            <a:ext cx="96088" cy="1345216"/>
            <a:chOff x="0" y="0"/>
            <a:chExt cx="128118" cy="1793621"/>
          </a:xfrm>
        </p:grpSpPr>
        <p:sp>
          <p:nvSpPr>
            <p:cNvPr id="46" name="Freeform 46"/>
            <p:cNvSpPr/>
            <p:nvPr/>
          </p:nvSpPr>
          <p:spPr>
            <a:xfrm>
              <a:off x="0" y="0"/>
              <a:ext cx="128143" cy="1793621"/>
            </a:xfrm>
            <a:custGeom>
              <a:avLst/>
              <a:gdLst/>
              <a:ahLst/>
              <a:cxnLst/>
              <a:rect l="l" t="t" r="r" b="b"/>
              <a:pathLst>
                <a:path w="128143" h="1793621">
                  <a:moveTo>
                    <a:pt x="0" y="0"/>
                  </a:moveTo>
                  <a:lnTo>
                    <a:pt x="128143" y="0"/>
                  </a:lnTo>
                  <a:lnTo>
                    <a:pt x="128143" y="1793621"/>
                  </a:lnTo>
                  <a:lnTo>
                    <a:pt x="0" y="1793621"/>
                  </a:lnTo>
                  <a:close/>
                </a:path>
              </a:pathLst>
            </a:custGeom>
            <a:solidFill>
              <a:srgbClr val="2E5E2E"/>
            </a:solidFill>
          </p:spPr>
        </p:sp>
      </p:grpSp>
      <p:grpSp>
        <p:nvGrpSpPr>
          <p:cNvPr id="47" name="Group 47"/>
          <p:cNvGrpSpPr/>
          <p:nvPr/>
        </p:nvGrpSpPr>
        <p:grpSpPr>
          <a:xfrm>
            <a:off x="598256" y="5402609"/>
            <a:ext cx="642871" cy="642871"/>
            <a:chOff x="0" y="0"/>
            <a:chExt cx="857161" cy="857161"/>
          </a:xfrm>
        </p:grpSpPr>
        <p:sp>
          <p:nvSpPr>
            <p:cNvPr id="48" name="Freeform 48"/>
            <p:cNvSpPr/>
            <p:nvPr/>
          </p:nvSpPr>
          <p:spPr>
            <a:xfrm>
              <a:off x="0" y="0"/>
              <a:ext cx="857123" cy="857123"/>
            </a:xfrm>
            <a:custGeom>
              <a:avLst/>
              <a:gdLst/>
              <a:ahLst/>
              <a:cxnLst/>
              <a:rect l="l" t="t" r="r" b="b"/>
              <a:pathLst>
                <a:path w="857123" h="857123">
                  <a:moveTo>
                    <a:pt x="0" y="428625"/>
                  </a:moveTo>
                  <a:cubicBezTo>
                    <a:pt x="0" y="191897"/>
                    <a:pt x="191897" y="0"/>
                    <a:pt x="428625" y="0"/>
                  </a:cubicBezTo>
                  <a:cubicBezTo>
                    <a:pt x="665353" y="0"/>
                    <a:pt x="857123" y="191897"/>
                    <a:pt x="857123" y="428625"/>
                  </a:cubicBezTo>
                  <a:cubicBezTo>
                    <a:pt x="857123" y="665353"/>
                    <a:pt x="665226" y="857123"/>
                    <a:pt x="428625" y="857123"/>
                  </a:cubicBezTo>
                  <a:cubicBezTo>
                    <a:pt x="192024" y="857123"/>
                    <a:pt x="0" y="665226"/>
                    <a:pt x="0" y="428625"/>
                  </a:cubicBezTo>
                  <a:close/>
                </a:path>
              </a:pathLst>
            </a:custGeom>
            <a:solidFill>
              <a:srgbClr val="F5EEDC"/>
            </a:solidFill>
            <a:ln w="11439" cap="sq">
              <a:solidFill>
                <a:srgbClr val="B89650"/>
              </a:solidFill>
              <a:prstDash val="solid"/>
              <a:miter/>
            </a:ln>
          </p:spPr>
        </p:sp>
      </p:grpSp>
      <p:sp>
        <p:nvSpPr>
          <p:cNvPr id="49" name="TextBox 49"/>
          <p:cNvSpPr txBox="1"/>
          <p:nvPr/>
        </p:nvSpPr>
        <p:spPr>
          <a:xfrm>
            <a:off x="695420" y="5476180"/>
            <a:ext cx="448551" cy="3943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01"/>
              </a:lnSpc>
            </a:pPr>
            <a:r>
              <a:rPr lang="en-US" sz="1501" b="1">
                <a:solidFill>
                  <a:srgbClr val="7A5C1E"/>
                </a:solidFill>
                <a:latin typeface="Garamond Bold"/>
                <a:ea typeface="Garamond Bold"/>
                <a:cs typeface="Garamond Bold"/>
                <a:sym typeface="Garamond Bold"/>
              </a:rPr>
              <a:t>03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1436656" y="5406428"/>
            <a:ext cx="4209669" cy="3954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 b="1">
                <a:solidFill>
                  <a:srgbClr val="1A1408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Logistics &amp; Shipping Costs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1436656" y="5910110"/>
            <a:ext cx="11073032" cy="5231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3A2E1A"/>
                </a:solidFill>
                <a:latin typeface="Calibri (MS)"/>
                <a:ea typeface="Calibri (MS)"/>
                <a:cs typeface="Calibri (MS)"/>
                <a:sym typeface="Calibri (MS)"/>
              </a:rPr>
              <a:t>Starting GCC-first minimises shipping distance. Aramex SME program offers negotiated rates for small businesses.</a:t>
            </a:r>
          </a:p>
        </p:txBody>
      </p:sp>
      <p:grpSp>
        <p:nvGrpSpPr>
          <p:cNvPr id="52" name="Group 52"/>
          <p:cNvGrpSpPr/>
          <p:nvPr/>
        </p:nvGrpSpPr>
        <p:grpSpPr>
          <a:xfrm>
            <a:off x="14515252" y="5647782"/>
            <a:ext cx="3419475" cy="564318"/>
            <a:chOff x="0" y="0"/>
            <a:chExt cx="4559300" cy="752424"/>
          </a:xfrm>
        </p:grpSpPr>
        <p:sp>
          <p:nvSpPr>
            <p:cNvPr id="53" name="Freeform 53"/>
            <p:cNvSpPr/>
            <p:nvPr/>
          </p:nvSpPr>
          <p:spPr>
            <a:xfrm>
              <a:off x="0" y="0"/>
              <a:ext cx="4559300" cy="752475"/>
            </a:xfrm>
            <a:custGeom>
              <a:avLst/>
              <a:gdLst/>
              <a:ahLst/>
              <a:cxnLst/>
              <a:rect l="l" t="t" r="r" b="b"/>
              <a:pathLst>
                <a:path w="4559300" h="752475">
                  <a:moveTo>
                    <a:pt x="0" y="0"/>
                  </a:moveTo>
                  <a:lnTo>
                    <a:pt x="4559300" y="0"/>
                  </a:lnTo>
                  <a:lnTo>
                    <a:pt x="4559300" y="752475"/>
                  </a:lnTo>
                  <a:lnTo>
                    <a:pt x="0" y="752475"/>
                  </a:lnTo>
                  <a:close/>
                </a:path>
              </a:pathLst>
            </a:custGeom>
            <a:solidFill>
              <a:srgbClr val="E8F4E8"/>
            </a:solidFill>
            <a:ln w="15252" cap="sq">
              <a:solidFill>
                <a:srgbClr val="2E5E2E"/>
              </a:solidFill>
              <a:prstDash val="solid"/>
              <a:miter/>
            </a:ln>
          </p:spPr>
        </p:sp>
      </p:grpSp>
      <p:sp>
        <p:nvSpPr>
          <p:cNvPr id="54" name="TextBox 54"/>
          <p:cNvSpPr txBox="1"/>
          <p:nvPr/>
        </p:nvSpPr>
        <p:spPr>
          <a:xfrm>
            <a:off x="14614312" y="5717934"/>
            <a:ext cx="3221345" cy="3859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01"/>
              </a:lnSpc>
            </a:pPr>
            <a:r>
              <a:rPr lang="en-US" sz="1501" b="1">
                <a:solidFill>
                  <a:srgbClr val="2E5E2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 CAN MOVE IT</a:t>
            </a:r>
          </a:p>
        </p:txBody>
      </p:sp>
      <p:grpSp>
        <p:nvGrpSpPr>
          <p:cNvPr id="55" name="Group 55"/>
          <p:cNvGrpSpPr/>
          <p:nvPr/>
        </p:nvGrpSpPr>
        <p:grpSpPr>
          <a:xfrm>
            <a:off x="407032" y="6721326"/>
            <a:ext cx="17717005" cy="1354750"/>
            <a:chOff x="0" y="0"/>
            <a:chExt cx="23622673" cy="1806334"/>
          </a:xfrm>
        </p:grpSpPr>
        <p:sp>
          <p:nvSpPr>
            <p:cNvPr id="56" name="Freeform 56"/>
            <p:cNvSpPr/>
            <p:nvPr/>
          </p:nvSpPr>
          <p:spPr>
            <a:xfrm>
              <a:off x="0" y="0"/>
              <a:ext cx="23622636" cy="1806321"/>
            </a:xfrm>
            <a:custGeom>
              <a:avLst/>
              <a:gdLst/>
              <a:ahLst/>
              <a:cxnLst/>
              <a:rect l="l" t="t" r="r" b="b"/>
              <a:pathLst>
                <a:path w="23622636" h="1806321">
                  <a:moveTo>
                    <a:pt x="0" y="0"/>
                  </a:moveTo>
                  <a:lnTo>
                    <a:pt x="23622636" y="0"/>
                  </a:lnTo>
                  <a:lnTo>
                    <a:pt x="23622636" y="1806321"/>
                  </a:lnTo>
                  <a:lnTo>
                    <a:pt x="0" y="1806321"/>
                  </a:lnTo>
                  <a:close/>
                </a:path>
              </a:pathLst>
            </a:custGeom>
            <a:solidFill>
              <a:srgbClr val="FFFFFF"/>
            </a:solidFill>
            <a:ln w="9532" cap="sq">
              <a:solidFill>
                <a:srgbClr val="D8BE82"/>
              </a:solidFill>
              <a:prstDash val="solid"/>
              <a:miter/>
            </a:ln>
          </p:spPr>
        </p:sp>
      </p:grpSp>
      <p:grpSp>
        <p:nvGrpSpPr>
          <p:cNvPr id="57" name="Group 57"/>
          <p:cNvGrpSpPr/>
          <p:nvPr/>
        </p:nvGrpSpPr>
        <p:grpSpPr>
          <a:xfrm>
            <a:off x="411804" y="6726098"/>
            <a:ext cx="96088" cy="1345216"/>
            <a:chOff x="0" y="0"/>
            <a:chExt cx="128118" cy="1793621"/>
          </a:xfrm>
        </p:grpSpPr>
        <p:sp>
          <p:nvSpPr>
            <p:cNvPr id="58" name="Freeform 58"/>
            <p:cNvSpPr/>
            <p:nvPr/>
          </p:nvSpPr>
          <p:spPr>
            <a:xfrm>
              <a:off x="0" y="0"/>
              <a:ext cx="128143" cy="1793621"/>
            </a:xfrm>
            <a:custGeom>
              <a:avLst/>
              <a:gdLst/>
              <a:ahLst/>
              <a:cxnLst/>
              <a:rect l="l" t="t" r="r" b="b"/>
              <a:pathLst>
                <a:path w="128143" h="1793621">
                  <a:moveTo>
                    <a:pt x="0" y="0"/>
                  </a:moveTo>
                  <a:lnTo>
                    <a:pt x="128143" y="0"/>
                  </a:lnTo>
                  <a:lnTo>
                    <a:pt x="128143" y="1793621"/>
                  </a:lnTo>
                  <a:lnTo>
                    <a:pt x="0" y="1793621"/>
                  </a:lnTo>
                  <a:close/>
                </a:path>
              </a:pathLst>
            </a:custGeom>
            <a:solidFill>
              <a:srgbClr val="2E5E2E"/>
            </a:solidFill>
          </p:spPr>
        </p:sp>
      </p:grpSp>
      <p:grpSp>
        <p:nvGrpSpPr>
          <p:cNvPr id="59" name="Group 59"/>
          <p:cNvGrpSpPr/>
          <p:nvPr/>
        </p:nvGrpSpPr>
        <p:grpSpPr>
          <a:xfrm>
            <a:off x="598256" y="6857638"/>
            <a:ext cx="642871" cy="642871"/>
            <a:chOff x="0" y="0"/>
            <a:chExt cx="857161" cy="857161"/>
          </a:xfrm>
        </p:grpSpPr>
        <p:sp>
          <p:nvSpPr>
            <p:cNvPr id="60" name="Freeform 60"/>
            <p:cNvSpPr/>
            <p:nvPr/>
          </p:nvSpPr>
          <p:spPr>
            <a:xfrm>
              <a:off x="0" y="0"/>
              <a:ext cx="857123" cy="857123"/>
            </a:xfrm>
            <a:custGeom>
              <a:avLst/>
              <a:gdLst/>
              <a:ahLst/>
              <a:cxnLst/>
              <a:rect l="l" t="t" r="r" b="b"/>
              <a:pathLst>
                <a:path w="857123" h="857123">
                  <a:moveTo>
                    <a:pt x="0" y="428625"/>
                  </a:moveTo>
                  <a:cubicBezTo>
                    <a:pt x="0" y="191897"/>
                    <a:pt x="191897" y="0"/>
                    <a:pt x="428625" y="0"/>
                  </a:cubicBezTo>
                  <a:cubicBezTo>
                    <a:pt x="665353" y="0"/>
                    <a:pt x="857123" y="191897"/>
                    <a:pt x="857123" y="428625"/>
                  </a:cubicBezTo>
                  <a:cubicBezTo>
                    <a:pt x="857123" y="665353"/>
                    <a:pt x="665226" y="857123"/>
                    <a:pt x="428625" y="857123"/>
                  </a:cubicBezTo>
                  <a:cubicBezTo>
                    <a:pt x="192024" y="857123"/>
                    <a:pt x="0" y="665226"/>
                    <a:pt x="0" y="428625"/>
                  </a:cubicBezTo>
                  <a:close/>
                </a:path>
              </a:pathLst>
            </a:custGeom>
            <a:solidFill>
              <a:srgbClr val="F5EEDC"/>
            </a:solidFill>
            <a:ln w="11439" cap="sq">
              <a:solidFill>
                <a:srgbClr val="B89650"/>
              </a:solidFill>
              <a:prstDash val="solid"/>
              <a:miter/>
            </a:ln>
          </p:spPr>
        </p:sp>
      </p:grpSp>
      <p:sp>
        <p:nvSpPr>
          <p:cNvPr id="61" name="TextBox 61"/>
          <p:cNvSpPr txBox="1"/>
          <p:nvPr/>
        </p:nvSpPr>
        <p:spPr>
          <a:xfrm>
            <a:off x="695420" y="6931209"/>
            <a:ext cx="448551" cy="3943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01"/>
              </a:lnSpc>
            </a:pPr>
            <a:r>
              <a:rPr lang="en-US" sz="1501" b="1">
                <a:solidFill>
                  <a:srgbClr val="7A5C1E"/>
                </a:solidFill>
                <a:latin typeface="Garamond Bold"/>
                <a:ea typeface="Garamond Bold"/>
                <a:cs typeface="Garamond Bold"/>
                <a:sym typeface="Garamond Bold"/>
              </a:rPr>
              <a:t>04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1436656" y="6861458"/>
            <a:ext cx="4209669" cy="3954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 b="1">
                <a:solidFill>
                  <a:srgbClr val="1A1408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Dangerous Goods — Perfumes &amp; Oud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1436656" y="7365140"/>
            <a:ext cx="11073032" cy="5231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3A2E1A"/>
                </a:solidFill>
                <a:latin typeface="Calibri (MS)"/>
                <a:ea typeface="Calibri (MS)"/>
                <a:cs typeface="Calibri (MS)"/>
                <a:sym typeface="Calibri (MS)"/>
              </a:rPr>
              <a:t>DG-certified freight forwarders handle this category. Seller compliance training and DG-ready packaging are part of onboarding.</a:t>
            </a:r>
          </a:p>
        </p:txBody>
      </p:sp>
      <p:grpSp>
        <p:nvGrpSpPr>
          <p:cNvPr id="64" name="Group 64"/>
          <p:cNvGrpSpPr/>
          <p:nvPr/>
        </p:nvGrpSpPr>
        <p:grpSpPr>
          <a:xfrm>
            <a:off x="14515252" y="7102821"/>
            <a:ext cx="3419475" cy="564318"/>
            <a:chOff x="0" y="0"/>
            <a:chExt cx="4559300" cy="752424"/>
          </a:xfrm>
        </p:grpSpPr>
        <p:sp>
          <p:nvSpPr>
            <p:cNvPr id="65" name="Freeform 65"/>
            <p:cNvSpPr/>
            <p:nvPr/>
          </p:nvSpPr>
          <p:spPr>
            <a:xfrm>
              <a:off x="0" y="0"/>
              <a:ext cx="4559300" cy="752475"/>
            </a:xfrm>
            <a:custGeom>
              <a:avLst/>
              <a:gdLst/>
              <a:ahLst/>
              <a:cxnLst/>
              <a:rect l="l" t="t" r="r" b="b"/>
              <a:pathLst>
                <a:path w="4559300" h="752475">
                  <a:moveTo>
                    <a:pt x="0" y="0"/>
                  </a:moveTo>
                  <a:lnTo>
                    <a:pt x="4559300" y="0"/>
                  </a:lnTo>
                  <a:lnTo>
                    <a:pt x="4559300" y="752475"/>
                  </a:lnTo>
                  <a:lnTo>
                    <a:pt x="0" y="752475"/>
                  </a:lnTo>
                  <a:close/>
                </a:path>
              </a:pathLst>
            </a:custGeom>
            <a:solidFill>
              <a:srgbClr val="E8F4E8"/>
            </a:solidFill>
            <a:ln w="15252" cap="sq">
              <a:solidFill>
                <a:srgbClr val="2E5E2E"/>
              </a:solidFill>
              <a:prstDash val="solid"/>
              <a:miter/>
            </a:ln>
          </p:spPr>
        </p:sp>
      </p:grpSp>
      <p:sp>
        <p:nvSpPr>
          <p:cNvPr id="66" name="TextBox 66"/>
          <p:cNvSpPr txBox="1"/>
          <p:nvPr/>
        </p:nvSpPr>
        <p:spPr>
          <a:xfrm>
            <a:off x="14614312" y="7207587"/>
            <a:ext cx="3221345" cy="3859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01"/>
              </a:lnSpc>
            </a:pPr>
            <a:r>
              <a:rPr lang="en-US" sz="1501" b="1">
                <a:solidFill>
                  <a:srgbClr val="2E5E2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 CAN MOVE IT</a:t>
            </a:r>
          </a:p>
        </p:txBody>
      </p:sp>
      <p:grpSp>
        <p:nvGrpSpPr>
          <p:cNvPr id="67" name="Group 67"/>
          <p:cNvGrpSpPr/>
          <p:nvPr/>
        </p:nvGrpSpPr>
        <p:grpSpPr>
          <a:xfrm>
            <a:off x="407032" y="8176365"/>
            <a:ext cx="17717005" cy="1354750"/>
            <a:chOff x="0" y="0"/>
            <a:chExt cx="23622673" cy="1806334"/>
          </a:xfrm>
        </p:grpSpPr>
        <p:sp>
          <p:nvSpPr>
            <p:cNvPr id="68" name="Freeform 68"/>
            <p:cNvSpPr/>
            <p:nvPr/>
          </p:nvSpPr>
          <p:spPr>
            <a:xfrm>
              <a:off x="0" y="0"/>
              <a:ext cx="23622636" cy="1806321"/>
            </a:xfrm>
            <a:custGeom>
              <a:avLst/>
              <a:gdLst/>
              <a:ahLst/>
              <a:cxnLst/>
              <a:rect l="l" t="t" r="r" b="b"/>
              <a:pathLst>
                <a:path w="23622636" h="1806321">
                  <a:moveTo>
                    <a:pt x="0" y="0"/>
                  </a:moveTo>
                  <a:lnTo>
                    <a:pt x="23622636" y="0"/>
                  </a:lnTo>
                  <a:lnTo>
                    <a:pt x="23622636" y="1806321"/>
                  </a:lnTo>
                  <a:lnTo>
                    <a:pt x="0" y="1806321"/>
                  </a:lnTo>
                  <a:close/>
                </a:path>
              </a:pathLst>
            </a:custGeom>
            <a:solidFill>
              <a:srgbClr val="FFFFFF"/>
            </a:solidFill>
            <a:ln w="9532" cap="sq">
              <a:solidFill>
                <a:srgbClr val="D8BE82"/>
              </a:solidFill>
              <a:prstDash val="solid"/>
              <a:miter/>
            </a:ln>
          </p:spPr>
        </p:sp>
      </p:grpSp>
      <p:grpSp>
        <p:nvGrpSpPr>
          <p:cNvPr id="69" name="Group 69"/>
          <p:cNvGrpSpPr/>
          <p:nvPr/>
        </p:nvGrpSpPr>
        <p:grpSpPr>
          <a:xfrm>
            <a:off x="411804" y="8181127"/>
            <a:ext cx="96088" cy="1345216"/>
            <a:chOff x="0" y="0"/>
            <a:chExt cx="128118" cy="1793621"/>
          </a:xfrm>
        </p:grpSpPr>
        <p:sp>
          <p:nvSpPr>
            <p:cNvPr id="70" name="Freeform 70"/>
            <p:cNvSpPr/>
            <p:nvPr/>
          </p:nvSpPr>
          <p:spPr>
            <a:xfrm>
              <a:off x="0" y="0"/>
              <a:ext cx="128143" cy="1793621"/>
            </a:xfrm>
            <a:custGeom>
              <a:avLst/>
              <a:gdLst/>
              <a:ahLst/>
              <a:cxnLst/>
              <a:rect l="l" t="t" r="r" b="b"/>
              <a:pathLst>
                <a:path w="128143" h="1793621">
                  <a:moveTo>
                    <a:pt x="0" y="0"/>
                  </a:moveTo>
                  <a:lnTo>
                    <a:pt x="128143" y="0"/>
                  </a:lnTo>
                  <a:lnTo>
                    <a:pt x="128143" y="1793621"/>
                  </a:lnTo>
                  <a:lnTo>
                    <a:pt x="0" y="1793621"/>
                  </a:lnTo>
                  <a:close/>
                </a:path>
              </a:pathLst>
            </a:custGeom>
            <a:solidFill>
              <a:srgbClr val="B89650"/>
            </a:solidFill>
          </p:spPr>
        </p:sp>
      </p:grpSp>
      <p:grpSp>
        <p:nvGrpSpPr>
          <p:cNvPr id="71" name="Group 71"/>
          <p:cNvGrpSpPr/>
          <p:nvPr/>
        </p:nvGrpSpPr>
        <p:grpSpPr>
          <a:xfrm>
            <a:off x="598256" y="8312677"/>
            <a:ext cx="642871" cy="642871"/>
            <a:chOff x="0" y="0"/>
            <a:chExt cx="857161" cy="857161"/>
          </a:xfrm>
        </p:grpSpPr>
        <p:sp>
          <p:nvSpPr>
            <p:cNvPr id="72" name="Freeform 72"/>
            <p:cNvSpPr/>
            <p:nvPr/>
          </p:nvSpPr>
          <p:spPr>
            <a:xfrm>
              <a:off x="0" y="0"/>
              <a:ext cx="857123" cy="857123"/>
            </a:xfrm>
            <a:custGeom>
              <a:avLst/>
              <a:gdLst/>
              <a:ahLst/>
              <a:cxnLst/>
              <a:rect l="l" t="t" r="r" b="b"/>
              <a:pathLst>
                <a:path w="857123" h="857123">
                  <a:moveTo>
                    <a:pt x="0" y="428625"/>
                  </a:moveTo>
                  <a:cubicBezTo>
                    <a:pt x="0" y="191897"/>
                    <a:pt x="191897" y="0"/>
                    <a:pt x="428625" y="0"/>
                  </a:cubicBezTo>
                  <a:cubicBezTo>
                    <a:pt x="665353" y="0"/>
                    <a:pt x="857123" y="191897"/>
                    <a:pt x="857123" y="428625"/>
                  </a:cubicBezTo>
                  <a:cubicBezTo>
                    <a:pt x="857123" y="665353"/>
                    <a:pt x="665226" y="857123"/>
                    <a:pt x="428625" y="857123"/>
                  </a:cubicBezTo>
                  <a:cubicBezTo>
                    <a:pt x="192024" y="857123"/>
                    <a:pt x="0" y="665226"/>
                    <a:pt x="0" y="428625"/>
                  </a:cubicBezTo>
                  <a:close/>
                </a:path>
              </a:pathLst>
            </a:custGeom>
            <a:solidFill>
              <a:srgbClr val="F5EEDC"/>
            </a:solidFill>
            <a:ln w="11439" cap="sq">
              <a:solidFill>
                <a:srgbClr val="B89650"/>
              </a:solidFill>
              <a:prstDash val="solid"/>
              <a:miter/>
            </a:ln>
          </p:spPr>
        </p:sp>
      </p:grpSp>
      <p:sp>
        <p:nvSpPr>
          <p:cNvPr id="73" name="TextBox 73"/>
          <p:cNvSpPr txBox="1"/>
          <p:nvPr/>
        </p:nvSpPr>
        <p:spPr>
          <a:xfrm>
            <a:off x="695420" y="8386248"/>
            <a:ext cx="448551" cy="3943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01"/>
              </a:lnSpc>
            </a:pPr>
            <a:r>
              <a:rPr lang="en-US" sz="1501" b="1">
                <a:solidFill>
                  <a:srgbClr val="7A5C1E"/>
                </a:solidFill>
                <a:latin typeface="Garamond Bold"/>
                <a:ea typeface="Garamond Bold"/>
                <a:cs typeface="Garamond Bold"/>
                <a:sym typeface="Garamond Bold"/>
              </a:rPr>
              <a:t>05</a:t>
            </a:r>
          </a:p>
        </p:txBody>
      </p:sp>
      <p:sp>
        <p:nvSpPr>
          <p:cNvPr id="74" name="TextBox 74"/>
          <p:cNvSpPr txBox="1"/>
          <p:nvPr/>
        </p:nvSpPr>
        <p:spPr>
          <a:xfrm>
            <a:off x="1436656" y="8316487"/>
            <a:ext cx="4209669" cy="3954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 b="1">
                <a:solidFill>
                  <a:srgbClr val="1A1408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Financial Support &amp; Funding</a:t>
            </a:r>
          </a:p>
        </p:txBody>
      </p:sp>
      <p:sp>
        <p:nvSpPr>
          <p:cNvPr id="75" name="TextBox 75"/>
          <p:cNvSpPr txBox="1"/>
          <p:nvPr/>
        </p:nvSpPr>
        <p:spPr>
          <a:xfrm>
            <a:off x="1436656" y="8833904"/>
            <a:ext cx="11736095" cy="3624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3A2E1A"/>
                </a:solidFill>
                <a:latin typeface="Calibri (MS)"/>
                <a:ea typeface="Calibri (MS)"/>
                <a:cs typeface="Calibri (MS)"/>
                <a:sym typeface="Calibri (MS)"/>
              </a:rPr>
              <a:t>Seeking strategic partners are the path forward. I am here today because this room is exactly where that conversation starts.</a:t>
            </a:r>
          </a:p>
        </p:txBody>
      </p:sp>
      <p:grpSp>
        <p:nvGrpSpPr>
          <p:cNvPr id="76" name="Group 76"/>
          <p:cNvGrpSpPr/>
          <p:nvPr/>
        </p:nvGrpSpPr>
        <p:grpSpPr>
          <a:xfrm>
            <a:off x="14515252" y="8557851"/>
            <a:ext cx="3419475" cy="564318"/>
            <a:chOff x="0" y="0"/>
            <a:chExt cx="4559300" cy="752424"/>
          </a:xfrm>
        </p:grpSpPr>
        <p:sp>
          <p:nvSpPr>
            <p:cNvPr id="77" name="Freeform 77"/>
            <p:cNvSpPr/>
            <p:nvPr/>
          </p:nvSpPr>
          <p:spPr>
            <a:xfrm>
              <a:off x="0" y="0"/>
              <a:ext cx="4559300" cy="752475"/>
            </a:xfrm>
            <a:custGeom>
              <a:avLst/>
              <a:gdLst/>
              <a:ahLst/>
              <a:cxnLst/>
              <a:rect l="l" t="t" r="r" b="b"/>
              <a:pathLst>
                <a:path w="4559300" h="752475">
                  <a:moveTo>
                    <a:pt x="0" y="0"/>
                  </a:moveTo>
                  <a:lnTo>
                    <a:pt x="4559300" y="0"/>
                  </a:lnTo>
                  <a:lnTo>
                    <a:pt x="4559300" y="752475"/>
                  </a:lnTo>
                  <a:lnTo>
                    <a:pt x="0" y="752475"/>
                  </a:lnTo>
                  <a:close/>
                </a:path>
              </a:pathLst>
            </a:custGeom>
            <a:solidFill>
              <a:srgbClr val="FDF0D8"/>
            </a:solidFill>
            <a:ln w="15252" cap="sq">
              <a:solidFill>
                <a:srgbClr val="7A5C1E"/>
              </a:solidFill>
              <a:prstDash val="solid"/>
              <a:miter/>
            </a:ln>
          </p:spPr>
        </p:sp>
      </p:grpSp>
      <p:sp>
        <p:nvSpPr>
          <p:cNvPr id="78" name="TextBox 78"/>
          <p:cNvSpPr txBox="1"/>
          <p:nvPr/>
        </p:nvSpPr>
        <p:spPr>
          <a:xfrm>
            <a:off x="14614312" y="8655453"/>
            <a:ext cx="3221345" cy="3859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01"/>
              </a:lnSpc>
            </a:pPr>
            <a:r>
              <a:rPr lang="en-US" sz="1501" b="1">
                <a:solidFill>
                  <a:srgbClr val="7A5C1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 NEED HELP WITH THIS</a:t>
            </a:r>
          </a:p>
        </p:txBody>
      </p:sp>
      <p:grpSp>
        <p:nvGrpSpPr>
          <p:cNvPr id="79" name="Group 79"/>
          <p:cNvGrpSpPr/>
          <p:nvPr/>
        </p:nvGrpSpPr>
        <p:grpSpPr>
          <a:xfrm>
            <a:off x="54907" y="9602988"/>
            <a:ext cx="18233093" cy="679516"/>
            <a:chOff x="0" y="0"/>
            <a:chExt cx="24310791" cy="906022"/>
          </a:xfrm>
        </p:grpSpPr>
        <p:sp>
          <p:nvSpPr>
            <p:cNvPr id="80" name="Freeform 80"/>
            <p:cNvSpPr/>
            <p:nvPr/>
          </p:nvSpPr>
          <p:spPr>
            <a:xfrm>
              <a:off x="0" y="0"/>
              <a:ext cx="24310766" cy="906060"/>
            </a:xfrm>
            <a:custGeom>
              <a:avLst/>
              <a:gdLst/>
              <a:ahLst/>
              <a:cxnLst/>
              <a:rect l="l" t="t" r="r" b="b"/>
              <a:pathLst>
                <a:path w="24310766" h="906060">
                  <a:moveTo>
                    <a:pt x="0" y="0"/>
                  </a:moveTo>
                  <a:lnTo>
                    <a:pt x="24310766" y="0"/>
                  </a:lnTo>
                  <a:lnTo>
                    <a:pt x="24310766" y="906060"/>
                  </a:lnTo>
                  <a:lnTo>
                    <a:pt x="0" y="906060"/>
                  </a:lnTo>
                  <a:close/>
                </a:path>
              </a:pathLst>
            </a:custGeom>
            <a:solidFill>
              <a:srgbClr val="B89650"/>
            </a:solidFill>
          </p:spPr>
        </p:sp>
        <p:sp>
          <p:nvSpPr>
            <p:cNvPr id="81" name="TextBox 81"/>
            <p:cNvSpPr txBox="1"/>
            <p:nvPr/>
          </p:nvSpPr>
          <p:spPr>
            <a:xfrm>
              <a:off x="0" y="-19050"/>
              <a:ext cx="24310791" cy="9250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01"/>
                </a:lnSpc>
              </a:pPr>
              <a:r>
                <a:rPr lang="en-US" sz="3001" b="1" i="1">
                  <a:solidFill>
                    <a:srgbClr val="FFFFFF"/>
                  </a:solidFill>
                  <a:latin typeface="Garamond Bold Italics"/>
                  <a:ea typeface="Garamond Bold Italics"/>
                  <a:cs typeface="Garamond Bold Italics"/>
                  <a:sym typeface="Garamond Bold Italics"/>
                </a:rPr>
                <a:t>249Souq.com						The taste of home, wherever you are		</a:t>
              </a:r>
              <a:r>
                <a:rPr lang="ar-EG" sz="3001" b="1" i="1">
                  <a:solidFill>
                    <a:srgbClr val="FFFFFF"/>
                  </a:solidFill>
                  <a:latin typeface="Garamond Bold Italics"/>
                  <a:ea typeface="Garamond Bold Italics"/>
                  <a:cs typeface="Garamond Bold Italics"/>
                  <a:sym typeface="Garamond Bold Italics"/>
                  <a:rtl/>
                </a:rPr>
                <a:t>طعم البيت، وين ما مشيت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:fade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9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09814" cy="10295039"/>
            <a:chOff x="0" y="0"/>
            <a:chExt cx="146418" cy="1372671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46431" cy="13726668"/>
            </a:xfrm>
            <a:custGeom>
              <a:avLst/>
              <a:gdLst/>
              <a:ahLst/>
              <a:cxnLst/>
              <a:rect l="l" t="t" r="r" b="b"/>
              <a:pathLst>
                <a:path w="146431" h="13726668">
                  <a:moveTo>
                    <a:pt x="0" y="0"/>
                  </a:moveTo>
                  <a:lnTo>
                    <a:pt x="146431" y="0"/>
                  </a:lnTo>
                  <a:lnTo>
                    <a:pt x="146431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B89650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109814" y="9361627"/>
            <a:ext cx="18187911" cy="576520"/>
            <a:chOff x="0" y="0"/>
            <a:chExt cx="24250548" cy="768693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250523" cy="768731"/>
            </a:xfrm>
            <a:custGeom>
              <a:avLst/>
              <a:gdLst/>
              <a:ahLst/>
              <a:cxnLst/>
              <a:rect l="l" t="t" r="r" b="b"/>
              <a:pathLst>
                <a:path w="24250523" h="768731">
                  <a:moveTo>
                    <a:pt x="0" y="0"/>
                  </a:moveTo>
                  <a:lnTo>
                    <a:pt x="24250523" y="0"/>
                  </a:lnTo>
                  <a:lnTo>
                    <a:pt x="24250523" y="768731"/>
                  </a:lnTo>
                  <a:lnTo>
                    <a:pt x="0" y="768731"/>
                  </a:lnTo>
                  <a:close/>
                </a:path>
              </a:pathLst>
            </a:custGeom>
            <a:solidFill>
              <a:srgbClr val="B89650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640509" y="9452724"/>
            <a:ext cx="16975522" cy="3801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 b="1" i="1">
                <a:solidFill>
                  <a:srgbClr val="FFFFFF"/>
                </a:solidFill>
                <a:latin typeface="Garamond Bold Italics"/>
                <a:ea typeface="Garamond Bold Italics"/>
                <a:cs typeface="Garamond Bold Italics"/>
                <a:sym typeface="Garamond Bold Italics"/>
              </a:rPr>
              <a:t>249Souq.com						The taste of home, wherever you are		</a:t>
            </a:r>
            <a:r>
              <a:rPr lang="ar-EG" sz="2101" b="1" i="1">
                <a:solidFill>
                  <a:srgbClr val="FFFFFF"/>
                </a:solidFill>
                <a:latin typeface="Garamond Bold Italics"/>
                <a:ea typeface="Garamond Bold Italics"/>
                <a:cs typeface="Garamond Bold Italics"/>
                <a:sym typeface="Garamond Bold Italics"/>
                <a:rtl/>
              </a:rPr>
              <a:t>طعم البيت، وين ما مشيت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7387116" y="9841278"/>
            <a:ext cx="572091" cy="3119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441"/>
              </a:lnSpc>
            </a:pPr>
            <a:r>
              <a:rPr lang="en-US" sz="1200">
                <a:solidFill>
                  <a:srgbClr val="8A7A60"/>
                </a:solidFill>
                <a:latin typeface="Calibri (MS)"/>
                <a:ea typeface="Calibri (MS)"/>
                <a:cs typeface="Calibri (MS)"/>
                <a:sym typeface="Calibri (MS)"/>
              </a:rPr>
              <a:t>08 / 11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503244" y="282159"/>
            <a:ext cx="10798502" cy="3035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 b="1">
                <a:solidFill>
                  <a:srgbClr val="B8965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WHAT I AM LOOKING FOR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03244" y="658101"/>
            <a:ext cx="16289188" cy="6414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124"/>
              </a:lnSpc>
            </a:pPr>
            <a:r>
              <a:rPr lang="en-US" sz="5103" b="1">
                <a:solidFill>
                  <a:srgbClr val="1A1408"/>
                </a:solidFill>
                <a:latin typeface="Garamond Bold"/>
                <a:ea typeface="Garamond Bold"/>
                <a:cs typeface="Garamond Bold"/>
                <a:sym typeface="Garamond Bold"/>
              </a:rPr>
              <a:t>I Am Not Here Just to Present.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03244" y="1381411"/>
            <a:ext cx="16289188" cy="5220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 b="1" i="1">
                <a:solidFill>
                  <a:srgbClr val="7A5C1E"/>
                </a:solidFill>
                <a:latin typeface="Garamond Bold Italics"/>
                <a:ea typeface="Garamond Bold Italics"/>
                <a:cs typeface="Garamond Bold Italics"/>
                <a:sym typeface="Garamond Bold Italics"/>
              </a:rPr>
              <a:t>I Am Here to Find the Right People to Build With.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411804" y="2059010"/>
            <a:ext cx="3019882" cy="82363"/>
            <a:chOff x="0" y="0"/>
            <a:chExt cx="4026510" cy="109817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4026535" cy="109855"/>
            </a:xfrm>
            <a:custGeom>
              <a:avLst/>
              <a:gdLst/>
              <a:ahLst/>
              <a:cxnLst/>
              <a:rect l="l" t="t" r="r" b="b"/>
              <a:pathLst>
                <a:path w="4026535" h="109855">
                  <a:moveTo>
                    <a:pt x="0" y="0"/>
                  </a:moveTo>
                  <a:lnTo>
                    <a:pt x="4026535" y="0"/>
                  </a:lnTo>
                  <a:lnTo>
                    <a:pt x="4026535" y="109855"/>
                  </a:lnTo>
                  <a:lnTo>
                    <a:pt x="0" y="109855"/>
                  </a:lnTo>
                  <a:close/>
                </a:path>
              </a:pathLst>
            </a:custGeom>
            <a:solidFill>
              <a:srgbClr val="B89650"/>
            </a:solidFill>
          </p:spPr>
        </p:sp>
      </p:grpSp>
      <p:grpSp>
        <p:nvGrpSpPr>
          <p:cNvPr id="13" name="Group 13"/>
          <p:cNvGrpSpPr/>
          <p:nvPr/>
        </p:nvGrpSpPr>
        <p:grpSpPr>
          <a:xfrm>
            <a:off x="402269" y="2296554"/>
            <a:ext cx="4137079" cy="6717706"/>
            <a:chOff x="0" y="0"/>
            <a:chExt cx="5516105" cy="8956942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5516118" cy="8956929"/>
            </a:xfrm>
            <a:custGeom>
              <a:avLst/>
              <a:gdLst/>
              <a:ahLst/>
              <a:cxnLst/>
              <a:rect l="l" t="t" r="r" b="b"/>
              <a:pathLst>
                <a:path w="5516118" h="8956929">
                  <a:moveTo>
                    <a:pt x="0" y="0"/>
                  </a:moveTo>
                  <a:lnTo>
                    <a:pt x="5516118" y="0"/>
                  </a:lnTo>
                  <a:lnTo>
                    <a:pt x="5516118" y="8956929"/>
                  </a:lnTo>
                  <a:lnTo>
                    <a:pt x="0" y="8956929"/>
                  </a:lnTo>
                  <a:close/>
                </a:path>
              </a:pathLst>
            </a:custGeom>
            <a:solidFill>
              <a:srgbClr val="B89650"/>
            </a:solidFill>
            <a:ln w="19065" cap="sq">
              <a:solidFill>
                <a:srgbClr val="B89650"/>
              </a:solidFill>
              <a:prstDash val="solid"/>
              <a:miter/>
            </a:ln>
          </p:spPr>
        </p:sp>
      </p:grpSp>
      <p:grpSp>
        <p:nvGrpSpPr>
          <p:cNvPr id="15" name="Group 15"/>
          <p:cNvGrpSpPr/>
          <p:nvPr/>
        </p:nvGrpSpPr>
        <p:grpSpPr>
          <a:xfrm>
            <a:off x="411804" y="2306088"/>
            <a:ext cx="4118019" cy="96088"/>
            <a:chOff x="0" y="0"/>
            <a:chExt cx="5490693" cy="128118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5490718" cy="128143"/>
            </a:xfrm>
            <a:custGeom>
              <a:avLst/>
              <a:gdLst/>
              <a:ahLst/>
              <a:cxnLst/>
              <a:rect l="l" t="t" r="r" b="b"/>
              <a:pathLst>
                <a:path w="5490718" h="128143">
                  <a:moveTo>
                    <a:pt x="0" y="0"/>
                  </a:moveTo>
                  <a:lnTo>
                    <a:pt x="5490718" y="0"/>
                  </a:lnTo>
                  <a:lnTo>
                    <a:pt x="5490718" y="128143"/>
                  </a:lnTo>
                  <a:lnTo>
                    <a:pt x="0" y="128143"/>
                  </a:lnTo>
                  <a:close/>
                </a:path>
              </a:pathLst>
            </a:custGeom>
            <a:solidFill>
              <a:srgbClr val="7A5C1E"/>
            </a:solidFill>
          </p:spPr>
        </p:sp>
      </p:grpSp>
      <p:sp>
        <p:nvSpPr>
          <p:cNvPr id="17" name="TextBox 17"/>
          <p:cNvSpPr txBox="1"/>
          <p:nvPr/>
        </p:nvSpPr>
        <p:spPr>
          <a:xfrm>
            <a:off x="709146" y="2433885"/>
            <a:ext cx="1189796" cy="9246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45"/>
              </a:lnSpc>
            </a:pPr>
            <a:r>
              <a:rPr lang="en-US" sz="5704" b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01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709146" y="3420247"/>
            <a:ext cx="3550787" cy="5201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 b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Funding &amp; Investment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617706" y="4255284"/>
            <a:ext cx="3706216" cy="41177"/>
            <a:chOff x="0" y="0"/>
            <a:chExt cx="4941621" cy="54902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4941570" cy="54864"/>
            </a:xfrm>
            <a:custGeom>
              <a:avLst/>
              <a:gdLst/>
              <a:ahLst/>
              <a:cxnLst/>
              <a:rect l="l" t="t" r="r" b="b"/>
              <a:pathLst>
                <a:path w="4941570" h="54864">
                  <a:moveTo>
                    <a:pt x="0" y="0"/>
                  </a:moveTo>
                  <a:lnTo>
                    <a:pt x="4941570" y="0"/>
                  </a:lnTo>
                  <a:lnTo>
                    <a:pt x="4941570" y="54864"/>
                  </a:lnTo>
                  <a:lnTo>
                    <a:pt x="0" y="54864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21" name="TextBox 21"/>
          <p:cNvSpPr txBox="1"/>
          <p:nvPr/>
        </p:nvSpPr>
        <p:spPr>
          <a:xfrm>
            <a:off x="709146" y="4482532"/>
            <a:ext cx="3591973" cy="4408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FFF5E0"/>
                </a:solidFill>
                <a:latin typeface="Calibri (MS)"/>
                <a:ea typeface="Calibri (MS)"/>
                <a:cs typeface="Calibri (MS)"/>
                <a:sym typeface="Calibri (MS)"/>
              </a:rPr>
              <a:t>—  Seed funding for 249Souq platform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709146" y="5113963"/>
            <a:ext cx="3591973" cy="4408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FFF5E0"/>
                </a:solidFill>
                <a:latin typeface="Calibri (MS)"/>
                <a:ea typeface="Calibri (MS)"/>
                <a:cs typeface="Calibri (MS)"/>
                <a:sym typeface="Calibri (MS)"/>
              </a:rPr>
              <a:t>—  Open to equity partnerships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67960" y="5618502"/>
            <a:ext cx="3591973" cy="6396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FFF5E0"/>
                </a:solidFill>
                <a:latin typeface="Calibri (MS)"/>
                <a:ea typeface="Calibri (MS)"/>
                <a:cs typeface="Calibri (MS)"/>
                <a:sym typeface="Calibri (MS)"/>
              </a:rPr>
              <a:t>—  Investment to move Phase 2 forward</a:t>
            </a:r>
          </a:p>
        </p:txBody>
      </p:sp>
      <p:grpSp>
        <p:nvGrpSpPr>
          <p:cNvPr id="24" name="Group 24"/>
          <p:cNvGrpSpPr/>
          <p:nvPr/>
        </p:nvGrpSpPr>
        <p:grpSpPr>
          <a:xfrm>
            <a:off x="4767367" y="2296554"/>
            <a:ext cx="4137079" cy="6717706"/>
            <a:chOff x="0" y="0"/>
            <a:chExt cx="5516105" cy="8956942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5516118" cy="8956929"/>
            </a:xfrm>
            <a:custGeom>
              <a:avLst/>
              <a:gdLst/>
              <a:ahLst/>
              <a:cxnLst/>
              <a:rect l="l" t="t" r="r" b="b"/>
              <a:pathLst>
                <a:path w="5516118" h="8956929">
                  <a:moveTo>
                    <a:pt x="0" y="0"/>
                  </a:moveTo>
                  <a:lnTo>
                    <a:pt x="5516118" y="0"/>
                  </a:lnTo>
                  <a:lnTo>
                    <a:pt x="5516118" y="8956929"/>
                  </a:lnTo>
                  <a:lnTo>
                    <a:pt x="0" y="8956929"/>
                  </a:ln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B89650"/>
              </a:solidFill>
              <a:prstDash val="solid"/>
              <a:miter/>
            </a:ln>
          </p:spPr>
        </p:sp>
      </p:grpSp>
      <p:grpSp>
        <p:nvGrpSpPr>
          <p:cNvPr id="26" name="Group 26"/>
          <p:cNvGrpSpPr/>
          <p:nvPr/>
        </p:nvGrpSpPr>
        <p:grpSpPr>
          <a:xfrm>
            <a:off x="4776902" y="2306088"/>
            <a:ext cx="4118019" cy="96088"/>
            <a:chOff x="0" y="0"/>
            <a:chExt cx="5490693" cy="128118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5490718" cy="128143"/>
            </a:xfrm>
            <a:custGeom>
              <a:avLst/>
              <a:gdLst/>
              <a:ahLst/>
              <a:cxnLst/>
              <a:rect l="l" t="t" r="r" b="b"/>
              <a:pathLst>
                <a:path w="5490718" h="128143">
                  <a:moveTo>
                    <a:pt x="0" y="0"/>
                  </a:moveTo>
                  <a:lnTo>
                    <a:pt x="5490718" y="0"/>
                  </a:lnTo>
                  <a:lnTo>
                    <a:pt x="5490718" y="128143"/>
                  </a:lnTo>
                  <a:lnTo>
                    <a:pt x="0" y="128143"/>
                  </a:lnTo>
                  <a:close/>
                </a:path>
              </a:pathLst>
            </a:custGeom>
            <a:solidFill>
              <a:srgbClr val="B89650"/>
            </a:solidFill>
          </p:spPr>
        </p:sp>
      </p:grpSp>
      <p:sp>
        <p:nvSpPr>
          <p:cNvPr id="28" name="TextBox 28"/>
          <p:cNvSpPr txBox="1"/>
          <p:nvPr/>
        </p:nvSpPr>
        <p:spPr>
          <a:xfrm>
            <a:off x="5074244" y="2433885"/>
            <a:ext cx="1189796" cy="9246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45"/>
              </a:lnSpc>
            </a:pPr>
            <a:r>
              <a:rPr lang="en-US" sz="5704" b="1">
                <a:solidFill>
                  <a:srgbClr val="7A5C1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02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5074244" y="3420247"/>
            <a:ext cx="3550787" cy="5201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 b="1">
                <a:solidFill>
                  <a:srgbClr val="1A1408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Business Partners</a:t>
            </a:r>
          </a:p>
        </p:txBody>
      </p:sp>
      <p:grpSp>
        <p:nvGrpSpPr>
          <p:cNvPr id="30" name="Group 30"/>
          <p:cNvGrpSpPr/>
          <p:nvPr/>
        </p:nvGrpSpPr>
        <p:grpSpPr>
          <a:xfrm>
            <a:off x="4982804" y="4255284"/>
            <a:ext cx="3706216" cy="41177"/>
            <a:chOff x="0" y="0"/>
            <a:chExt cx="4941621" cy="54902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4941570" cy="54864"/>
            </a:xfrm>
            <a:custGeom>
              <a:avLst/>
              <a:gdLst/>
              <a:ahLst/>
              <a:cxnLst/>
              <a:rect l="l" t="t" r="r" b="b"/>
              <a:pathLst>
                <a:path w="4941570" h="54864">
                  <a:moveTo>
                    <a:pt x="0" y="0"/>
                  </a:moveTo>
                  <a:lnTo>
                    <a:pt x="4941570" y="0"/>
                  </a:lnTo>
                  <a:lnTo>
                    <a:pt x="4941570" y="54864"/>
                  </a:lnTo>
                  <a:lnTo>
                    <a:pt x="0" y="54864"/>
                  </a:lnTo>
                  <a:close/>
                </a:path>
              </a:pathLst>
            </a:custGeom>
            <a:solidFill>
              <a:srgbClr val="D8BE82"/>
            </a:solidFill>
          </p:spPr>
        </p:sp>
      </p:grpSp>
      <p:sp>
        <p:nvSpPr>
          <p:cNvPr id="32" name="TextBox 32"/>
          <p:cNvSpPr txBox="1"/>
          <p:nvPr/>
        </p:nvSpPr>
        <p:spPr>
          <a:xfrm>
            <a:off x="5074244" y="4482532"/>
            <a:ext cx="3591973" cy="3624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3A2E1A"/>
                </a:solidFill>
                <a:latin typeface="Calibri (MS)"/>
                <a:ea typeface="Calibri (MS)"/>
                <a:cs typeface="Calibri (MS)"/>
                <a:sym typeface="Calibri (MS)"/>
              </a:rPr>
              <a:t>—  Logistics, GCC to Africa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5074244" y="5113963"/>
            <a:ext cx="3591973" cy="4408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3A2E1A"/>
                </a:solidFill>
                <a:latin typeface="Calibri (MS)"/>
                <a:ea typeface="Calibri (MS)"/>
                <a:cs typeface="Calibri (MS)"/>
                <a:sym typeface="Calibri (MS)"/>
              </a:rPr>
              <a:t>—  Tech partners for marketplace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5074244" y="5745385"/>
            <a:ext cx="3591973" cy="4408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3A2E1A"/>
                </a:solidFill>
                <a:latin typeface="Calibri (MS)"/>
                <a:ea typeface="Calibri (MS)"/>
                <a:cs typeface="Calibri (MS)"/>
                <a:sym typeface="Calibri (MS)"/>
              </a:rPr>
              <a:t>—  Sudanese seller &amp; supplier networks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5074244" y="6376816"/>
            <a:ext cx="3591973" cy="4408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3A2E1A"/>
                </a:solidFill>
                <a:latin typeface="Calibri (MS)"/>
                <a:ea typeface="Calibri (MS)"/>
                <a:cs typeface="Calibri (MS)"/>
                <a:sym typeface="Calibri (MS)"/>
              </a:rPr>
              <a:t>—  DG-certified freight forwarders</a:t>
            </a:r>
          </a:p>
        </p:txBody>
      </p:sp>
      <p:grpSp>
        <p:nvGrpSpPr>
          <p:cNvPr id="36" name="Group 36"/>
          <p:cNvGrpSpPr/>
          <p:nvPr/>
        </p:nvGrpSpPr>
        <p:grpSpPr>
          <a:xfrm>
            <a:off x="9132465" y="2296554"/>
            <a:ext cx="4137079" cy="6717706"/>
            <a:chOff x="0" y="0"/>
            <a:chExt cx="5516105" cy="8956942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5516118" cy="8956929"/>
            </a:xfrm>
            <a:custGeom>
              <a:avLst/>
              <a:gdLst/>
              <a:ahLst/>
              <a:cxnLst/>
              <a:rect l="l" t="t" r="r" b="b"/>
              <a:pathLst>
                <a:path w="5516118" h="8956929">
                  <a:moveTo>
                    <a:pt x="0" y="0"/>
                  </a:moveTo>
                  <a:lnTo>
                    <a:pt x="5516118" y="0"/>
                  </a:lnTo>
                  <a:lnTo>
                    <a:pt x="5516118" y="8956929"/>
                  </a:lnTo>
                  <a:lnTo>
                    <a:pt x="0" y="8956929"/>
                  </a:ln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B89650"/>
              </a:solidFill>
              <a:prstDash val="solid"/>
              <a:miter/>
            </a:ln>
          </p:spPr>
        </p:sp>
      </p:grpSp>
      <p:grpSp>
        <p:nvGrpSpPr>
          <p:cNvPr id="38" name="Group 38"/>
          <p:cNvGrpSpPr/>
          <p:nvPr/>
        </p:nvGrpSpPr>
        <p:grpSpPr>
          <a:xfrm>
            <a:off x="9142000" y="2306088"/>
            <a:ext cx="4118019" cy="96088"/>
            <a:chOff x="0" y="0"/>
            <a:chExt cx="5490693" cy="128118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5490718" cy="128143"/>
            </a:xfrm>
            <a:custGeom>
              <a:avLst/>
              <a:gdLst/>
              <a:ahLst/>
              <a:cxnLst/>
              <a:rect l="l" t="t" r="r" b="b"/>
              <a:pathLst>
                <a:path w="5490718" h="128143">
                  <a:moveTo>
                    <a:pt x="0" y="0"/>
                  </a:moveTo>
                  <a:lnTo>
                    <a:pt x="5490718" y="0"/>
                  </a:lnTo>
                  <a:lnTo>
                    <a:pt x="5490718" y="128143"/>
                  </a:lnTo>
                  <a:lnTo>
                    <a:pt x="0" y="128143"/>
                  </a:lnTo>
                  <a:close/>
                </a:path>
              </a:pathLst>
            </a:custGeom>
            <a:solidFill>
              <a:srgbClr val="B89650"/>
            </a:solidFill>
          </p:spPr>
        </p:sp>
      </p:grpSp>
      <p:sp>
        <p:nvSpPr>
          <p:cNvPr id="40" name="TextBox 40"/>
          <p:cNvSpPr txBox="1"/>
          <p:nvPr/>
        </p:nvSpPr>
        <p:spPr>
          <a:xfrm>
            <a:off x="9439342" y="2433885"/>
            <a:ext cx="1189796" cy="9246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45"/>
              </a:lnSpc>
            </a:pPr>
            <a:r>
              <a:rPr lang="en-US" sz="5704" b="1">
                <a:solidFill>
                  <a:srgbClr val="7A5C1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03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9439342" y="3420247"/>
            <a:ext cx="3550787" cy="5201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 b="1">
                <a:solidFill>
                  <a:srgbClr val="1A1408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Visibility &amp; Media</a:t>
            </a:r>
          </a:p>
        </p:txBody>
      </p:sp>
      <p:grpSp>
        <p:nvGrpSpPr>
          <p:cNvPr id="42" name="Group 42"/>
          <p:cNvGrpSpPr/>
          <p:nvPr/>
        </p:nvGrpSpPr>
        <p:grpSpPr>
          <a:xfrm>
            <a:off x="9347902" y="4255284"/>
            <a:ext cx="3706216" cy="41177"/>
            <a:chOff x="0" y="0"/>
            <a:chExt cx="4941621" cy="54902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4941570" cy="54864"/>
            </a:xfrm>
            <a:custGeom>
              <a:avLst/>
              <a:gdLst/>
              <a:ahLst/>
              <a:cxnLst/>
              <a:rect l="l" t="t" r="r" b="b"/>
              <a:pathLst>
                <a:path w="4941570" h="54864">
                  <a:moveTo>
                    <a:pt x="0" y="0"/>
                  </a:moveTo>
                  <a:lnTo>
                    <a:pt x="4941570" y="0"/>
                  </a:lnTo>
                  <a:lnTo>
                    <a:pt x="4941570" y="54864"/>
                  </a:lnTo>
                  <a:lnTo>
                    <a:pt x="0" y="54864"/>
                  </a:lnTo>
                  <a:close/>
                </a:path>
              </a:pathLst>
            </a:custGeom>
            <a:solidFill>
              <a:srgbClr val="D8BE82"/>
            </a:solidFill>
          </p:spPr>
        </p:sp>
      </p:grpSp>
      <p:sp>
        <p:nvSpPr>
          <p:cNvPr id="44" name="TextBox 44"/>
          <p:cNvSpPr txBox="1"/>
          <p:nvPr/>
        </p:nvSpPr>
        <p:spPr>
          <a:xfrm>
            <a:off x="9439342" y="4482532"/>
            <a:ext cx="3591973" cy="4408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3A2E1A"/>
                </a:solidFill>
                <a:latin typeface="Calibri (MS)"/>
                <a:ea typeface="Calibri (MS)"/>
                <a:cs typeface="Calibri (MS)"/>
                <a:sym typeface="Calibri (MS)"/>
              </a:rPr>
              <a:t>—  Press &amp; media for 249Souq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9439342" y="5113963"/>
            <a:ext cx="3591973" cy="4408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3A2E1A"/>
                </a:solidFill>
                <a:latin typeface="Calibri (MS)"/>
                <a:ea typeface="Calibri (MS)"/>
                <a:cs typeface="Calibri (MS)"/>
                <a:sym typeface="Calibri (MS)"/>
              </a:rPr>
              <a:t>—  Speaking opportunities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9439342" y="5745385"/>
            <a:ext cx="3591973" cy="4408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3A2E1A"/>
                </a:solidFill>
                <a:latin typeface="Calibri (MS)"/>
                <a:ea typeface="Calibri (MS)"/>
                <a:cs typeface="Calibri (MS)"/>
                <a:sym typeface="Calibri (MS)"/>
              </a:rPr>
              <a:t>—  Introductions to diaspora communities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9439342" y="6376816"/>
            <a:ext cx="3591973" cy="4408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3A2E1A"/>
                </a:solidFill>
                <a:latin typeface="Calibri (MS)"/>
                <a:ea typeface="Calibri (MS)"/>
                <a:cs typeface="Calibri (MS)"/>
                <a:sym typeface="Calibri (MS)"/>
              </a:rPr>
              <a:t>—  Social media collaborations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9439342" y="7008247"/>
            <a:ext cx="3591973" cy="4408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3A2E1A"/>
                </a:solidFill>
                <a:latin typeface="Calibri (MS)"/>
                <a:ea typeface="Calibri (MS)"/>
                <a:cs typeface="Calibri (MS)"/>
                <a:sym typeface="Calibri (MS)"/>
              </a:rPr>
              <a:t>—  Brand ambassador connections</a:t>
            </a:r>
          </a:p>
        </p:txBody>
      </p:sp>
      <p:grpSp>
        <p:nvGrpSpPr>
          <p:cNvPr id="49" name="Group 49"/>
          <p:cNvGrpSpPr/>
          <p:nvPr/>
        </p:nvGrpSpPr>
        <p:grpSpPr>
          <a:xfrm>
            <a:off x="13497563" y="2296554"/>
            <a:ext cx="4137079" cy="6717706"/>
            <a:chOff x="0" y="0"/>
            <a:chExt cx="5516105" cy="8956942"/>
          </a:xfrm>
        </p:grpSpPr>
        <p:sp>
          <p:nvSpPr>
            <p:cNvPr id="50" name="Freeform 50"/>
            <p:cNvSpPr/>
            <p:nvPr/>
          </p:nvSpPr>
          <p:spPr>
            <a:xfrm>
              <a:off x="0" y="0"/>
              <a:ext cx="5516118" cy="8956929"/>
            </a:xfrm>
            <a:custGeom>
              <a:avLst/>
              <a:gdLst/>
              <a:ahLst/>
              <a:cxnLst/>
              <a:rect l="l" t="t" r="r" b="b"/>
              <a:pathLst>
                <a:path w="5516118" h="8956929">
                  <a:moveTo>
                    <a:pt x="0" y="0"/>
                  </a:moveTo>
                  <a:lnTo>
                    <a:pt x="5516118" y="0"/>
                  </a:lnTo>
                  <a:lnTo>
                    <a:pt x="5516118" y="8956929"/>
                  </a:lnTo>
                  <a:lnTo>
                    <a:pt x="0" y="8956929"/>
                  </a:ln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B89650"/>
              </a:solidFill>
              <a:prstDash val="solid"/>
              <a:miter/>
            </a:ln>
          </p:spPr>
        </p:sp>
      </p:grpSp>
      <p:grpSp>
        <p:nvGrpSpPr>
          <p:cNvPr id="51" name="Group 51"/>
          <p:cNvGrpSpPr/>
          <p:nvPr/>
        </p:nvGrpSpPr>
        <p:grpSpPr>
          <a:xfrm>
            <a:off x="13507098" y="2306088"/>
            <a:ext cx="4118019" cy="96088"/>
            <a:chOff x="0" y="0"/>
            <a:chExt cx="5490693" cy="128118"/>
          </a:xfrm>
        </p:grpSpPr>
        <p:sp>
          <p:nvSpPr>
            <p:cNvPr id="52" name="Freeform 52"/>
            <p:cNvSpPr/>
            <p:nvPr/>
          </p:nvSpPr>
          <p:spPr>
            <a:xfrm>
              <a:off x="0" y="0"/>
              <a:ext cx="5490718" cy="128143"/>
            </a:xfrm>
            <a:custGeom>
              <a:avLst/>
              <a:gdLst/>
              <a:ahLst/>
              <a:cxnLst/>
              <a:rect l="l" t="t" r="r" b="b"/>
              <a:pathLst>
                <a:path w="5490718" h="128143">
                  <a:moveTo>
                    <a:pt x="0" y="0"/>
                  </a:moveTo>
                  <a:lnTo>
                    <a:pt x="5490718" y="0"/>
                  </a:lnTo>
                  <a:lnTo>
                    <a:pt x="5490718" y="128143"/>
                  </a:lnTo>
                  <a:lnTo>
                    <a:pt x="0" y="128143"/>
                  </a:lnTo>
                  <a:close/>
                </a:path>
              </a:pathLst>
            </a:custGeom>
            <a:solidFill>
              <a:srgbClr val="B89650"/>
            </a:solidFill>
          </p:spPr>
        </p:sp>
      </p:grpSp>
      <p:sp>
        <p:nvSpPr>
          <p:cNvPr id="53" name="TextBox 53"/>
          <p:cNvSpPr txBox="1"/>
          <p:nvPr/>
        </p:nvSpPr>
        <p:spPr>
          <a:xfrm>
            <a:off x="13804440" y="2433885"/>
            <a:ext cx="1189796" cy="9246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45"/>
              </a:lnSpc>
            </a:pPr>
            <a:r>
              <a:rPr lang="en-US" sz="5704" b="1">
                <a:solidFill>
                  <a:srgbClr val="7A5C1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04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13804440" y="3420247"/>
            <a:ext cx="3550787" cy="5201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 b="1">
                <a:solidFill>
                  <a:srgbClr val="1A1408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Mentorship &amp; Guidance</a:t>
            </a:r>
          </a:p>
        </p:txBody>
      </p:sp>
      <p:grpSp>
        <p:nvGrpSpPr>
          <p:cNvPr id="55" name="Group 55"/>
          <p:cNvGrpSpPr/>
          <p:nvPr/>
        </p:nvGrpSpPr>
        <p:grpSpPr>
          <a:xfrm>
            <a:off x="13713000" y="4255284"/>
            <a:ext cx="3706216" cy="41177"/>
            <a:chOff x="0" y="0"/>
            <a:chExt cx="4941621" cy="54902"/>
          </a:xfrm>
        </p:grpSpPr>
        <p:sp>
          <p:nvSpPr>
            <p:cNvPr id="56" name="Freeform 56"/>
            <p:cNvSpPr/>
            <p:nvPr/>
          </p:nvSpPr>
          <p:spPr>
            <a:xfrm>
              <a:off x="0" y="0"/>
              <a:ext cx="4941570" cy="54864"/>
            </a:xfrm>
            <a:custGeom>
              <a:avLst/>
              <a:gdLst/>
              <a:ahLst/>
              <a:cxnLst/>
              <a:rect l="l" t="t" r="r" b="b"/>
              <a:pathLst>
                <a:path w="4941570" h="54864">
                  <a:moveTo>
                    <a:pt x="0" y="0"/>
                  </a:moveTo>
                  <a:lnTo>
                    <a:pt x="4941570" y="0"/>
                  </a:lnTo>
                  <a:lnTo>
                    <a:pt x="4941570" y="54864"/>
                  </a:lnTo>
                  <a:lnTo>
                    <a:pt x="0" y="54864"/>
                  </a:lnTo>
                  <a:close/>
                </a:path>
              </a:pathLst>
            </a:custGeom>
            <a:solidFill>
              <a:srgbClr val="D8BE82"/>
            </a:solidFill>
          </p:spPr>
        </p:sp>
      </p:grpSp>
      <p:sp>
        <p:nvSpPr>
          <p:cNvPr id="57" name="TextBox 57"/>
          <p:cNvSpPr txBox="1"/>
          <p:nvPr/>
        </p:nvSpPr>
        <p:spPr>
          <a:xfrm>
            <a:off x="13804440" y="4482532"/>
            <a:ext cx="3591973" cy="4408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3A2E1A"/>
                </a:solidFill>
                <a:latin typeface="Calibri (MS)"/>
                <a:ea typeface="Calibri (MS)"/>
                <a:cs typeface="Calibri (MS)"/>
                <a:sym typeface="Calibri (MS)"/>
              </a:rPr>
              <a:t>—  Experienced entrepreneurs to advise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13804440" y="5113963"/>
            <a:ext cx="3591973" cy="4408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3A2E1A"/>
                </a:solidFill>
                <a:latin typeface="Calibri (MS)"/>
                <a:ea typeface="Calibri (MS)"/>
                <a:cs typeface="Calibri (MS)"/>
                <a:sym typeface="Calibri (MS)"/>
              </a:rPr>
              <a:t>—  Feedback on the business model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13804440" y="5745385"/>
            <a:ext cx="3591973" cy="4408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3A2E1A"/>
                </a:solidFill>
                <a:latin typeface="Calibri (MS)"/>
                <a:ea typeface="Calibri (MS)"/>
                <a:cs typeface="Calibri (MS)"/>
                <a:sym typeface="Calibri (MS)"/>
              </a:rPr>
              <a:t>—  Introductions to the right networks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13804440" y="6376816"/>
            <a:ext cx="3591973" cy="4408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3A2E1A"/>
                </a:solidFill>
                <a:latin typeface="Calibri (MS)"/>
                <a:ea typeface="Calibri (MS)"/>
                <a:cs typeface="Calibri (MS)"/>
                <a:sym typeface="Calibri (MS)"/>
              </a:rPr>
              <a:t>—  Women in business who've been here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13804440" y="7008247"/>
            <a:ext cx="3591973" cy="4408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3A2E1A"/>
                </a:solidFill>
                <a:latin typeface="Calibri (MS)"/>
                <a:ea typeface="Calibri (MS)"/>
                <a:cs typeface="Calibri (MS)"/>
                <a:sym typeface="Calibri (MS)"/>
              </a:rPr>
              <a:t>—  Anyone who believes in this vision</a:t>
            </a:r>
          </a:p>
        </p:txBody>
      </p:sp>
      <p:grpSp>
        <p:nvGrpSpPr>
          <p:cNvPr id="62" name="Group 62"/>
          <p:cNvGrpSpPr/>
          <p:nvPr/>
        </p:nvGrpSpPr>
        <p:grpSpPr>
          <a:xfrm>
            <a:off x="54907" y="9361627"/>
            <a:ext cx="18233093" cy="920877"/>
            <a:chOff x="0" y="0"/>
            <a:chExt cx="24310791" cy="1227836"/>
          </a:xfrm>
        </p:grpSpPr>
        <p:sp>
          <p:nvSpPr>
            <p:cNvPr id="63" name="Freeform 63"/>
            <p:cNvSpPr/>
            <p:nvPr/>
          </p:nvSpPr>
          <p:spPr>
            <a:xfrm>
              <a:off x="0" y="0"/>
              <a:ext cx="24310766" cy="1227874"/>
            </a:xfrm>
            <a:custGeom>
              <a:avLst/>
              <a:gdLst/>
              <a:ahLst/>
              <a:cxnLst/>
              <a:rect l="l" t="t" r="r" b="b"/>
              <a:pathLst>
                <a:path w="24310766" h="1227874">
                  <a:moveTo>
                    <a:pt x="0" y="0"/>
                  </a:moveTo>
                  <a:lnTo>
                    <a:pt x="24310766" y="0"/>
                  </a:lnTo>
                  <a:lnTo>
                    <a:pt x="24310766" y="1227874"/>
                  </a:lnTo>
                  <a:lnTo>
                    <a:pt x="0" y="1227874"/>
                  </a:lnTo>
                  <a:close/>
                </a:path>
              </a:pathLst>
            </a:custGeom>
            <a:solidFill>
              <a:srgbClr val="B89650"/>
            </a:solidFill>
          </p:spPr>
        </p:sp>
        <p:sp>
          <p:nvSpPr>
            <p:cNvPr id="64" name="TextBox 64"/>
            <p:cNvSpPr txBox="1"/>
            <p:nvPr/>
          </p:nvSpPr>
          <p:spPr>
            <a:xfrm>
              <a:off x="0" y="-19050"/>
              <a:ext cx="24310791" cy="124688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01"/>
                </a:lnSpc>
              </a:pPr>
              <a:r>
                <a:rPr lang="en-US" sz="3001" b="1" i="1">
                  <a:solidFill>
                    <a:srgbClr val="FFFFFF"/>
                  </a:solidFill>
                  <a:latin typeface="Garamond Bold Italics"/>
                  <a:ea typeface="Garamond Bold Italics"/>
                  <a:cs typeface="Garamond Bold Italics"/>
                  <a:sym typeface="Garamond Bold Italics"/>
                </a:rPr>
                <a:t>249Souq.com						The taste of home, wherever you are		</a:t>
              </a:r>
              <a:r>
                <a:rPr lang="ar-EG" sz="3001" b="1" i="1">
                  <a:solidFill>
                    <a:srgbClr val="FFFFFF"/>
                  </a:solidFill>
                  <a:latin typeface="Garamond Bold Italics"/>
                  <a:ea typeface="Garamond Bold Italics"/>
                  <a:cs typeface="Garamond Bold Italics"/>
                  <a:sym typeface="Garamond Bold Italics"/>
                  <a:rtl/>
                </a:rPr>
                <a:t>طعم البيت، وين ما مشيت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:fade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9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09814" cy="10295039"/>
            <a:chOff x="0" y="0"/>
            <a:chExt cx="146418" cy="1372671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46431" cy="13726668"/>
            </a:xfrm>
            <a:custGeom>
              <a:avLst/>
              <a:gdLst/>
              <a:ahLst/>
              <a:cxnLst/>
              <a:rect l="l" t="t" r="r" b="b"/>
              <a:pathLst>
                <a:path w="146431" h="13726668">
                  <a:moveTo>
                    <a:pt x="0" y="0"/>
                  </a:moveTo>
                  <a:lnTo>
                    <a:pt x="146431" y="0"/>
                  </a:lnTo>
                  <a:lnTo>
                    <a:pt x="146431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B89650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109814" y="9361627"/>
            <a:ext cx="18187911" cy="576520"/>
            <a:chOff x="0" y="0"/>
            <a:chExt cx="24250548" cy="768693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250523" cy="768731"/>
            </a:xfrm>
            <a:custGeom>
              <a:avLst/>
              <a:gdLst/>
              <a:ahLst/>
              <a:cxnLst/>
              <a:rect l="l" t="t" r="r" b="b"/>
              <a:pathLst>
                <a:path w="24250523" h="768731">
                  <a:moveTo>
                    <a:pt x="0" y="0"/>
                  </a:moveTo>
                  <a:lnTo>
                    <a:pt x="24250523" y="0"/>
                  </a:lnTo>
                  <a:lnTo>
                    <a:pt x="24250523" y="768731"/>
                  </a:lnTo>
                  <a:lnTo>
                    <a:pt x="0" y="768731"/>
                  </a:lnTo>
                  <a:close/>
                </a:path>
              </a:pathLst>
            </a:custGeom>
            <a:solidFill>
              <a:srgbClr val="B89650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640509" y="9452724"/>
            <a:ext cx="16975522" cy="3801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 b="1" i="1">
                <a:solidFill>
                  <a:srgbClr val="FFFFFF"/>
                </a:solidFill>
                <a:latin typeface="Garamond Bold Italics"/>
                <a:ea typeface="Garamond Bold Italics"/>
                <a:cs typeface="Garamond Bold Italics"/>
                <a:sym typeface="Garamond Bold Italics"/>
              </a:rPr>
              <a:t>249Souq.com						The taste of home, wherever you are		</a:t>
            </a:r>
            <a:r>
              <a:rPr lang="ar-EG" sz="2101" b="1" i="1">
                <a:solidFill>
                  <a:srgbClr val="FFFFFF"/>
                </a:solidFill>
                <a:latin typeface="Garamond Bold Italics"/>
                <a:ea typeface="Garamond Bold Italics"/>
                <a:cs typeface="Garamond Bold Italics"/>
                <a:sym typeface="Garamond Bold Italics"/>
                <a:rtl/>
              </a:rPr>
              <a:t>طعم البيت، وين ما مشيت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7387116" y="9841278"/>
            <a:ext cx="572091" cy="3119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441"/>
              </a:lnSpc>
            </a:pPr>
            <a:r>
              <a:rPr lang="en-US" sz="1200">
                <a:solidFill>
                  <a:srgbClr val="8A7A60"/>
                </a:solidFill>
                <a:latin typeface="Calibri (MS)"/>
                <a:ea typeface="Calibri (MS)"/>
                <a:cs typeface="Calibri (MS)"/>
                <a:sym typeface="Calibri (MS)"/>
              </a:rPr>
              <a:t>09 / 11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503244" y="282159"/>
            <a:ext cx="10798502" cy="3035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 b="1">
                <a:solidFill>
                  <a:srgbClr val="B8965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THE BUSINESS MODEL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03244" y="658101"/>
            <a:ext cx="12171169" cy="7512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124"/>
              </a:lnSpc>
            </a:pPr>
            <a:r>
              <a:rPr lang="en-US" sz="5103" b="1">
                <a:solidFill>
                  <a:srgbClr val="1A1408"/>
                </a:solidFill>
                <a:latin typeface="Garamond Bold"/>
                <a:ea typeface="Garamond Bold"/>
                <a:cs typeface="Garamond Bold"/>
                <a:sym typeface="Garamond Bold"/>
              </a:rPr>
              <a:t>How 249Souq Makes Money.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03244" y="1463773"/>
            <a:ext cx="13543845" cy="426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2401" b="1">
                <a:solidFill>
                  <a:srgbClr val="7A5C1E"/>
                </a:solidFill>
                <a:latin typeface="Garamond Bold"/>
                <a:ea typeface="Garamond Bold"/>
                <a:cs typeface="Garamond Bold"/>
                <a:sym typeface="Garamond Bold"/>
              </a:rPr>
              <a:t>Zero inventory. Zero warehouse. 100% community.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411804" y="2031559"/>
            <a:ext cx="3019882" cy="82363"/>
            <a:chOff x="0" y="0"/>
            <a:chExt cx="4026510" cy="109817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4026535" cy="109855"/>
            </a:xfrm>
            <a:custGeom>
              <a:avLst/>
              <a:gdLst/>
              <a:ahLst/>
              <a:cxnLst/>
              <a:rect l="l" t="t" r="r" b="b"/>
              <a:pathLst>
                <a:path w="4026535" h="109855">
                  <a:moveTo>
                    <a:pt x="0" y="0"/>
                  </a:moveTo>
                  <a:lnTo>
                    <a:pt x="4026535" y="0"/>
                  </a:lnTo>
                  <a:lnTo>
                    <a:pt x="4026535" y="109855"/>
                  </a:lnTo>
                  <a:lnTo>
                    <a:pt x="0" y="109855"/>
                  </a:lnTo>
                  <a:close/>
                </a:path>
              </a:pathLst>
            </a:custGeom>
            <a:solidFill>
              <a:srgbClr val="B89650"/>
            </a:solidFill>
          </p:spPr>
        </p:sp>
      </p:grpSp>
      <p:grpSp>
        <p:nvGrpSpPr>
          <p:cNvPr id="13" name="Group 13"/>
          <p:cNvGrpSpPr/>
          <p:nvPr/>
        </p:nvGrpSpPr>
        <p:grpSpPr>
          <a:xfrm>
            <a:off x="402269" y="2255377"/>
            <a:ext cx="5235216" cy="3340932"/>
            <a:chOff x="0" y="0"/>
            <a:chExt cx="6980288" cy="4454576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6980301" cy="4454525"/>
            </a:xfrm>
            <a:custGeom>
              <a:avLst/>
              <a:gdLst/>
              <a:ahLst/>
              <a:cxnLst/>
              <a:rect l="l" t="t" r="r" b="b"/>
              <a:pathLst>
                <a:path w="6980301" h="4454525">
                  <a:moveTo>
                    <a:pt x="0" y="0"/>
                  </a:moveTo>
                  <a:lnTo>
                    <a:pt x="6980301" y="0"/>
                  </a:lnTo>
                  <a:lnTo>
                    <a:pt x="6980301" y="4454525"/>
                  </a:lnTo>
                  <a:lnTo>
                    <a:pt x="0" y="4454525"/>
                  </a:lnTo>
                  <a:close/>
                </a:path>
              </a:pathLst>
            </a:custGeom>
            <a:blipFill>
              <a:blip r:embed="rId2"/>
              <a:stretch>
                <a:fillRect l="-7350" r="-7350"/>
              </a:stretch>
            </a:blipFill>
            <a:ln w="19065" cap="sq">
              <a:solidFill>
                <a:srgbClr val="B89650"/>
              </a:solidFill>
              <a:prstDash val="solid"/>
              <a:miter/>
            </a:ln>
          </p:spPr>
        </p:sp>
      </p:grpSp>
      <p:grpSp>
        <p:nvGrpSpPr>
          <p:cNvPr id="15" name="Group 15"/>
          <p:cNvGrpSpPr/>
          <p:nvPr/>
        </p:nvGrpSpPr>
        <p:grpSpPr>
          <a:xfrm>
            <a:off x="411804" y="2264912"/>
            <a:ext cx="5216157" cy="480431"/>
            <a:chOff x="0" y="0"/>
            <a:chExt cx="6954876" cy="640575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6954901" cy="640588"/>
            </a:xfrm>
            <a:custGeom>
              <a:avLst/>
              <a:gdLst/>
              <a:ahLst/>
              <a:cxnLst/>
              <a:rect l="l" t="t" r="r" b="b"/>
              <a:pathLst>
                <a:path w="6954901" h="640588">
                  <a:moveTo>
                    <a:pt x="0" y="0"/>
                  </a:moveTo>
                  <a:lnTo>
                    <a:pt x="6954901" y="0"/>
                  </a:lnTo>
                  <a:lnTo>
                    <a:pt x="6954901" y="640588"/>
                  </a:lnTo>
                  <a:lnTo>
                    <a:pt x="0" y="640588"/>
                  </a:lnTo>
                  <a:close/>
                </a:path>
              </a:pathLst>
            </a:custGeom>
            <a:solidFill>
              <a:srgbClr val="B89650"/>
            </a:solidFill>
          </p:spPr>
        </p:sp>
      </p:grpSp>
      <p:sp>
        <p:nvSpPr>
          <p:cNvPr id="17" name="TextBox 17"/>
          <p:cNvSpPr txBox="1"/>
          <p:nvPr/>
        </p:nvSpPr>
        <p:spPr>
          <a:xfrm>
            <a:off x="516969" y="2215982"/>
            <a:ext cx="5033277" cy="5201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42"/>
              </a:lnSpc>
            </a:pPr>
            <a:r>
              <a:rPr lang="en-US" sz="2702" b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THE MAKER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516969" y="2802493"/>
            <a:ext cx="3686836" cy="1066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85"/>
              </a:lnSpc>
            </a:pPr>
            <a:r>
              <a:rPr lang="en-US" sz="2321" b="1">
                <a:solidFill>
                  <a:srgbClr val="FFFFFF"/>
                </a:solidFill>
                <a:latin typeface="Garamond Bold"/>
                <a:ea typeface="Garamond Bold"/>
                <a:cs typeface="Garamond Bold"/>
                <a:sym typeface="Garamond Bold"/>
              </a:rPr>
              <a:t>Sandaliya maker.</a:t>
            </a:r>
          </a:p>
          <a:p>
            <a:pPr algn="l">
              <a:lnSpc>
                <a:spcPts val="2785"/>
              </a:lnSpc>
            </a:pPr>
            <a:r>
              <a:rPr lang="en-US" sz="2321" b="1">
                <a:solidFill>
                  <a:srgbClr val="FFFFFF"/>
                </a:solidFill>
                <a:latin typeface="Garamond Bold"/>
                <a:ea typeface="Garamond Bold"/>
                <a:cs typeface="Garamond Bold"/>
                <a:sym typeface="Garamond Bold"/>
              </a:rPr>
              <a:t>Bakhoor lady.</a:t>
            </a:r>
          </a:p>
          <a:p>
            <a:pPr algn="l">
              <a:lnSpc>
                <a:spcPts val="2785"/>
              </a:lnSpc>
            </a:pPr>
            <a:r>
              <a:rPr lang="en-US" sz="2321" b="1">
                <a:solidFill>
                  <a:srgbClr val="FFFFFF"/>
                </a:solidFill>
                <a:latin typeface="Garamond Bold"/>
                <a:ea typeface="Garamond Bold"/>
                <a:cs typeface="Garamond Bold"/>
                <a:sym typeface="Garamond Bold"/>
              </a:rPr>
              <a:t>Traditional garment seller.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71249" y="5592632"/>
            <a:ext cx="5124717" cy="552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40"/>
              </a:lnSpc>
            </a:pPr>
            <a:r>
              <a:rPr lang="en-US" sz="1700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They give 249Souq special bulk pricing &amp; sign an agreement to sell through our platform.</a:t>
            </a:r>
          </a:p>
        </p:txBody>
      </p:sp>
      <p:grpSp>
        <p:nvGrpSpPr>
          <p:cNvPr id="20" name="Group 20"/>
          <p:cNvGrpSpPr/>
          <p:nvPr/>
        </p:nvGrpSpPr>
        <p:grpSpPr>
          <a:xfrm>
            <a:off x="6167495" y="2255377"/>
            <a:ext cx="5235216" cy="3340932"/>
            <a:chOff x="0" y="0"/>
            <a:chExt cx="6980288" cy="4454576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6980301" cy="4454525"/>
            </a:xfrm>
            <a:custGeom>
              <a:avLst/>
              <a:gdLst/>
              <a:ahLst/>
              <a:cxnLst/>
              <a:rect l="l" t="t" r="r" b="b"/>
              <a:pathLst>
                <a:path w="6980301" h="4454525">
                  <a:moveTo>
                    <a:pt x="0" y="0"/>
                  </a:moveTo>
                  <a:lnTo>
                    <a:pt x="6980301" y="0"/>
                  </a:lnTo>
                  <a:lnTo>
                    <a:pt x="6980301" y="4454525"/>
                  </a:lnTo>
                  <a:lnTo>
                    <a:pt x="0" y="4454525"/>
                  </a:lnTo>
                  <a:close/>
                </a:path>
              </a:pathLst>
            </a:custGeom>
            <a:blipFill>
              <a:blip r:embed="rId3"/>
              <a:stretch>
                <a:fillRect l="-7675" r="-7025"/>
              </a:stretch>
            </a:blipFill>
            <a:ln w="19065" cap="sq">
              <a:solidFill>
                <a:srgbClr val="B89650"/>
              </a:solidFill>
              <a:prstDash val="solid"/>
              <a:miter/>
            </a:ln>
          </p:spPr>
        </p:sp>
      </p:grpSp>
      <p:grpSp>
        <p:nvGrpSpPr>
          <p:cNvPr id="22" name="Group 22"/>
          <p:cNvGrpSpPr/>
          <p:nvPr/>
        </p:nvGrpSpPr>
        <p:grpSpPr>
          <a:xfrm>
            <a:off x="6177029" y="2264912"/>
            <a:ext cx="5216157" cy="480431"/>
            <a:chOff x="0" y="0"/>
            <a:chExt cx="6954876" cy="640575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6954901" cy="640588"/>
            </a:xfrm>
            <a:custGeom>
              <a:avLst/>
              <a:gdLst/>
              <a:ahLst/>
              <a:cxnLst/>
              <a:rect l="l" t="t" r="r" b="b"/>
              <a:pathLst>
                <a:path w="6954901" h="640588">
                  <a:moveTo>
                    <a:pt x="0" y="0"/>
                  </a:moveTo>
                  <a:lnTo>
                    <a:pt x="6954901" y="0"/>
                  </a:lnTo>
                  <a:lnTo>
                    <a:pt x="6954901" y="640588"/>
                  </a:lnTo>
                  <a:lnTo>
                    <a:pt x="0" y="640588"/>
                  </a:lnTo>
                  <a:close/>
                </a:path>
              </a:pathLst>
            </a:custGeom>
            <a:solidFill>
              <a:srgbClr val="7A5C1E"/>
            </a:solidFill>
          </p:spPr>
        </p:sp>
      </p:grpSp>
      <p:sp>
        <p:nvSpPr>
          <p:cNvPr id="24" name="TextBox 24"/>
          <p:cNvSpPr txBox="1"/>
          <p:nvPr/>
        </p:nvSpPr>
        <p:spPr>
          <a:xfrm>
            <a:off x="6245657" y="2252710"/>
            <a:ext cx="5033277" cy="466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42"/>
              </a:lnSpc>
            </a:pPr>
            <a:r>
              <a:rPr lang="en-US" sz="2702" b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The Platform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6437833" y="2726598"/>
            <a:ext cx="4648924" cy="371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82"/>
              </a:lnSpc>
            </a:pPr>
            <a:r>
              <a:rPr lang="en-US" sz="2401" b="1">
                <a:solidFill>
                  <a:srgbClr val="FFFFFF"/>
                </a:solidFill>
                <a:latin typeface="Garamond Bold"/>
                <a:ea typeface="Garamond Bold"/>
                <a:cs typeface="Garamond Bold"/>
                <a:sym typeface="Garamond Bold"/>
              </a:rPr>
              <a:t>249souq.com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6177029" y="5630732"/>
            <a:ext cx="5381330" cy="552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40"/>
              </a:lnSpc>
            </a:pPr>
            <a:r>
              <a:rPr lang="en-US" sz="1700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Lists the product. Handles the order. Connects maker to buyer. Takes 10–15% commission on every completed sale.</a:t>
            </a:r>
          </a:p>
        </p:txBody>
      </p:sp>
      <p:grpSp>
        <p:nvGrpSpPr>
          <p:cNvPr id="27" name="Group 27"/>
          <p:cNvGrpSpPr/>
          <p:nvPr/>
        </p:nvGrpSpPr>
        <p:grpSpPr>
          <a:xfrm>
            <a:off x="11932720" y="2255377"/>
            <a:ext cx="5235216" cy="3340932"/>
            <a:chOff x="0" y="0"/>
            <a:chExt cx="6980288" cy="4454576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6980301" cy="4454525"/>
            </a:xfrm>
            <a:custGeom>
              <a:avLst/>
              <a:gdLst/>
              <a:ahLst/>
              <a:cxnLst/>
              <a:rect l="l" t="t" r="r" b="b"/>
              <a:pathLst>
                <a:path w="6980301" h="4454525">
                  <a:moveTo>
                    <a:pt x="0" y="0"/>
                  </a:moveTo>
                  <a:lnTo>
                    <a:pt x="6980301" y="0"/>
                  </a:lnTo>
                  <a:lnTo>
                    <a:pt x="6980301" y="4454525"/>
                  </a:lnTo>
                  <a:lnTo>
                    <a:pt x="0" y="4454525"/>
                  </a:lnTo>
                  <a:close/>
                </a:path>
              </a:pathLst>
            </a:custGeom>
            <a:blipFill>
              <a:blip r:embed="rId4"/>
              <a:stretch>
                <a:fillRect t="-67100" b="-67100"/>
              </a:stretch>
            </a:blipFill>
            <a:ln w="19065" cap="sq">
              <a:solidFill>
                <a:srgbClr val="B89650"/>
              </a:solidFill>
              <a:prstDash val="solid"/>
              <a:miter/>
            </a:ln>
          </p:spPr>
        </p:sp>
      </p:grpSp>
      <p:grpSp>
        <p:nvGrpSpPr>
          <p:cNvPr id="29" name="Group 29"/>
          <p:cNvGrpSpPr/>
          <p:nvPr/>
        </p:nvGrpSpPr>
        <p:grpSpPr>
          <a:xfrm>
            <a:off x="11942245" y="2264912"/>
            <a:ext cx="5216157" cy="480431"/>
            <a:chOff x="0" y="0"/>
            <a:chExt cx="6954876" cy="640575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6954901" cy="640588"/>
            </a:xfrm>
            <a:custGeom>
              <a:avLst/>
              <a:gdLst/>
              <a:ahLst/>
              <a:cxnLst/>
              <a:rect l="l" t="t" r="r" b="b"/>
              <a:pathLst>
                <a:path w="6954901" h="640588">
                  <a:moveTo>
                    <a:pt x="0" y="0"/>
                  </a:moveTo>
                  <a:lnTo>
                    <a:pt x="6954901" y="0"/>
                  </a:lnTo>
                  <a:lnTo>
                    <a:pt x="6954901" y="640588"/>
                  </a:lnTo>
                  <a:lnTo>
                    <a:pt x="0" y="640588"/>
                  </a:lnTo>
                  <a:close/>
                </a:path>
              </a:pathLst>
            </a:custGeom>
            <a:solidFill>
              <a:srgbClr val="B89650"/>
            </a:solidFill>
          </p:spPr>
        </p:sp>
      </p:grpSp>
      <p:sp>
        <p:nvSpPr>
          <p:cNvPr id="31" name="TextBox 31"/>
          <p:cNvSpPr txBox="1"/>
          <p:nvPr/>
        </p:nvSpPr>
        <p:spPr>
          <a:xfrm>
            <a:off x="12033685" y="2235298"/>
            <a:ext cx="5033277" cy="5201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42"/>
              </a:lnSpc>
            </a:pPr>
            <a:r>
              <a:rPr lang="en-US" sz="2702" b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THE BUYER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2233510" y="2949069"/>
            <a:ext cx="4648924" cy="733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18565" lvl="1" indent="-259283" algn="l">
              <a:lnSpc>
                <a:spcPts val="2882"/>
              </a:lnSpc>
              <a:buFont typeface="Arial"/>
              <a:buChar char="•"/>
            </a:pPr>
            <a:r>
              <a:rPr lang="en-US" sz="2401" b="1">
                <a:solidFill>
                  <a:srgbClr val="FFFFFF"/>
                </a:solidFill>
                <a:latin typeface="Garamond Bold"/>
                <a:ea typeface="Garamond Bold"/>
                <a:cs typeface="Garamond Bold"/>
                <a:sym typeface="Garamond Bold"/>
              </a:rPr>
              <a:t>Sudanese diaspora.</a:t>
            </a:r>
          </a:p>
          <a:p>
            <a:pPr marL="518565" lvl="1" indent="-259283" algn="l">
              <a:lnSpc>
                <a:spcPts val="2882"/>
              </a:lnSpc>
              <a:buFont typeface="Arial"/>
              <a:buChar char="•"/>
            </a:pPr>
            <a:r>
              <a:rPr lang="en-US" sz="2401" b="1">
                <a:solidFill>
                  <a:srgbClr val="FFFFFF"/>
                </a:solidFill>
                <a:latin typeface="Garamond Bold"/>
                <a:ea typeface="Garamond Bold"/>
                <a:cs typeface="Garamond Bold"/>
                <a:sym typeface="Garamond Bold"/>
              </a:rPr>
              <a:t>Anywhere in the world.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1948884" y="5570536"/>
            <a:ext cx="5118078" cy="552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40"/>
              </a:lnSpc>
            </a:pPr>
            <a:r>
              <a:rPr lang="en-US" sz="1700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Finds authentic Sudanese products. Orders online. Receives at home. No compromise on culture.</a:t>
            </a:r>
          </a:p>
        </p:txBody>
      </p:sp>
      <p:grpSp>
        <p:nvGrpSpPr>
          <p:cNvPr id="34" name="Group 34"/>
          <p:cNvGrpSpPr/>
          <p:nvPr/>
        </p:nvGrpSpPr>
        <p:grpSpPr>
          <a:xfrm>
            <a:off x="5559323" y="3484197"/>
            <a:ext cx="686333" cy="521618"/>
            <a:chOff x="0" y="0"/>
            <a:chExt cx="915111" cy="695490"/>
          </a:xfrm>
        </p:grpSpPr>
        <p:sp>
          <p:nvSpPr>
            <p:cNvPr id="35" name="Freeform 35"/>
            <p:cNvSpPr/>
            <p:nvPr/>
          </p:nvSpPr>
          <p:spPr>
            <a:xfrm>
              <a:off x="0" y="86995"/>
              <a:ext cx="915162" cy="608584"/>
            </a:xfrm>
            <a:custGeom>
              <a:avLst/>
              <a:gdLst/>
              <a:ahLst/>
              <a:cxnLst/>
              <a:rect l="l" t="t" r="r" b="b"/>
              <a:pathLst>
                <a:path w="915162" h="608584">
                  <a:moveTo>
                    <a:pt x="0" y="0"/>
                  </a:moveTo>
                  <a:cubicBezTo>
                    <a:pt x="0" y="48006"/>
                    <a:pt x="204851" y="86995"/>
                    <a:pt x="457581" y="86995"/>
                  </a:cubicBezTo>
                  <a:cubicBezTo>
                    <a:pt x="710311" y="86995"/>
                    <a:pt x="915162" y="48133"/>
                    <a:pt x="915162" y="0"/>
                  </a:cubicBezTo>
                  <a:lnTo>
                    <a:pt x="915162" y="521589"/>
                  </a:lnTo>
                  <a:cubicBezTo>
                    <a:pt x="915162" y="569595"/>
                    <a:pt x="710311" y="608584"/>
                    <a:pt x="457581" y="608584"/>
                  </a:cubicBezTo>
                  <a:cubicBezTo>
                    <a:pt x="204851" y="608584"/>
                    <a:pt x="0" y="569595"/>
                    <a:pt x="0" y="521589"/>
                  </a:cubicBezTo>
                  <a:close/>
                </a:path>
              </a:pathLst>
            </a:custGeom>
            <a:solidFill>
              <a:srgbClr val="B89650"/>
            </a:solidFill>
          </p:spPr>
        </p:sp>
        <p:sp>
          <p:nvSpPr>
            <p:cNvPr id="36" name="Freeform 36"/>
            <p:cNvSpPr/>
            <p:nvPr/>
          </p:nvSpPr>
          <p:spPr>
            <a:xfrm>
              <a:off x="0" y="0"/>
              <a:ext cx="915162" cy="173990"/>
            </a:xfrm>
            <a:custGeom>
              <a:avLst/>
              <a:gdLst/>
              <a:ahLst/>
              <a:cxnLst/>
              <a:rect l="l" t="t" r="r" b="b"/>
              <a:pathLst>
                <a:path w="915162" h="173990">
                  <a:moveTo>
                    <a:pt x="0" y="86995"/>
                  </a:moveTo>
                  <a:cubicBezTo>
                    <a:pt x="0" y="38862"/>
                    <a:pt x="204851" y="0"/>
                    <a:pt x="457581" y="0"/>
                  </a:cubicBezTo>
                  <a:cubicBezTo>
                    <a:pt x="710311" y="0"/>
                    <a:pt x="915162" y="38862"/>
                    <a:pt x="915162" y="86995"/>
                  </a:cubicBezTo>
                  <a:cubicBezTo>
                    <a:pt x="915162" y="135128"/>
                    <a:pt x="710311" y="173990"/>
                    <a:pt x="457581" y="173990"/>
                  </a:cubicBezTo>
                  <a:cubicBezTo>
                    <a:pt x="204851" y="173990"/>
                    <a:pt x="0" y="135001"/>
                    <a:pt x="0" y="86995"/>
                  </a:cubicBezTo>
                  <a:close/>
                </a:path>
              </a:pathLst>
            </a:custGeom>
            <a:solidFill>
              <a:srgbClr val="D4C096"/>
            </a:solidFill>
          </p:spPr>
        </p:sp>
        <p:sp>
          <p:nvSpPr>
            <p:cNvPr id="37" name="Freeform 37"/>
            <p:cNvSpPr/>
            <p:nvPr/>
          </p:nvSpPr>
          <p:spPr>
            <a:xfrm>
              <a:off x="0" y="0"/>
              <a:ext cx="915162" cy="695579"/>
            </a:xfrm>
            <a:custGeom>
              <a:avLst/>
              <a:gdLst/>
              <a:ahLst/>
              <a:cxnLst/>
              <a:rect l="l" t="t" r="r" b="b"/>
              <a:pathLst>
                <a:path w="915162" h="695579">
                  <a:moveTo>
                    <a:pt x="915162" y="86995"/>
                  </a:moveTo>
                  <a:cubicBezTo>
                    <a:pt x="915162" y="135001"/>
                    <a:pt x="710311" y="173990"/>
                    <a:pt x="457581" y="173990"/>
                  </a:cubicBezTo>
                  <a:cubicBezTo>
                    <a:pt x="204851" y="173990"/>
                    <a:pt x="0" y="135001"/>
                    <a:pt x="0" y="86995"/>
                  </a:cubicBezTo>
                  <a:cubicBezTo>
                    <a:pt x="0" y="38989"/>
                    <a:pt x="204851" y="0"/>
                    <a:pt x="457581" y="0"/>
                  </a:cubicBezTo>
                  <a:cubicBezTo>
                    <a:pt x="710311" y="0"/>
                    <a:pt x="915162" y="38862"/>
                    <a:pt x="915162" y="86995"/>
                  </a:cubicBezTo>
                  <a:lnTo>
                    <a:pt x="915162" y="608584"/>
                  </a:lnTo>
                  <a:cubicBezTo>
                    <a:pt x="915162" y="656590"/>
                    <a:pt x="710311" y="695579"/>
                    <a:pt x="457581" y="695579"/>
                  </a:cubicBezTo>
                  <a:cubicBezTo>
                    <a:pt x="204851" y="695579"/>
                    <a:pt x="0" y="656590"/>
                    <a:pt x="0" y="608584"/>
                  </a:cubicBezTo>
                  <a:lnTo>
                    <a:pt x="0" y="86995"/>
                  </a:lnTo>
                </a:path>
              </a:pathLst>
            </a:custGeom>
            <a:solidFill>
              <a:srgbClr val="D4C096"/>
            </a:solidFill>
          </p:spPr>
        </p:sp>
      </p:grpSp>
      <p:grpSp>
        <p:nvGrpSpPr>
          <p:cNvPr id="38" name="Group 38"/>
          <p:cNvGrpSpPr/>
          <p:nvPr/>
        </p:nvGrpSpPr>
        <p:grpSpPr>
          <a:xfrm>
            <a:off x="11318577" y="3484197"/>
            <a:ext cx="686333" cy="521618"/>
            <a:chOff x="0" y="0"/>
            <a:chExt cx="915111" cy="695490"/>
          </a:xfrm>
        </p:grpSpPr>
        <p:sp>
          <p:nvSpPr>
            <p:cNvPr id="39" name="Freeform 39"/>
            <p:cNvSpPr/>
            <p:nvPr/>
          </p:nvSpPr>
          <p:spPr>
            <a:xfrm>
              <a:off x="0" y="86995"/>
              <a:ext cx="915162" cy="608584"/>
            </a:xfrm>
            <a:custGeom>
              <a:avLst/>
              <a:gdLst/>
              <a:ahLst/>
              <a:cxnLst/>
              <a:rect l="l" t="t" r="r" b="b"/>
              <a:pathLst>
                <a:path w="915162" h="608584">
                  <a:moveTo>
                    <a:pt x="0" y="0"/>
                  </a:moveTo>
                  <a:cubicBezTo>
                    <a:pt x="0" y="48006"/>
                    <a:pt x="204851" y="86995"/>
                    <a:pt x="457581" y="86995"/>
                  </a:cubicBezTo>
                  <a:cubicBezTo>
                    <a:pt x="710311" y="86995"/>
                    <a:pt x="915162" y="48133"/>
                    <a:pt x="915162" y="0"/>
                  </a:cubicBezTo>
                  <a:lnTo>
                    <a:pt x="915162" y="521589"/>
                  </a:lnTo>
                  <a:cubicBezTo>
                    <a:pt x="915162" y="569595"/>
                    <a:pt x="710311" y="608584"/>
                    <a:pt x="457581" y="608584"/>
                  </a:cubicBezTo>
                  <a:cubicBezTo>
                    <a:pt x="204851" y="608584"/>
                    <a:pt x="0" y="569595"/>
                    <a:pt x="0" y="521589"/>
                  </a:cubicBezTo>
                  <a:close/>
                </a:path>
              </a:pathLst>
            </a:custGeom>
            <a:solidFill>
              <a:srgbClr val="B89650"/>
            </a:solidFill>
          </p:spPr>
        </p:sp>
        <p:sp>
          <p:nvSpPr>
            <p:cNvPr id="40" name="Freeform 40"/>
            <p:cNvSpPr/>
            <p:nvPr/>
          </p:nvSpPr>
          <p:spPr>
            <a:xfrm>
              <a:off x="0" y="0"/>
              <a:ext cx="915162" cy="173990"/>
            </a:xfrm>
            <a:custGeom>
              <a:avLst/>
              <a:gdLst/>
              <a:ahLst/>
              <a:cxnLst/>
              <a:rect l="l" t="t" r="r" b="b"/>
              <a:pathLst>
                <a:path w="915162" h="173990">
                  <a:moveTo>
                    <a:pt x="0" y="86995"/>
                  </a:moveTo>
                  <a:cubicBezTo>
                    <a:pt x="0" y="38862"/>
                    <a:pt x="204851" y="0"/>
                    <a:pt x="457581" y="0"/>
                  </a:cubicBezTo>
                  <a:cubicBezTo>
                    <a:pt x="710311" y="0"/>
                    <a:pt x="915162" y="38862"/>
                    <a:pt x="915162" y="86995"/>
                  </a:cubicBezTo>
                  <a:cubicBezTo>
                    <a:pt x="915162" y="135128"/>
                    <a:pt x="710311" y="173990"/>
                    <a:pt x="457581" y="173990"/>
                  </a:cubicBezTo>
                  <a:cubicBezTo>
                    <a:pt x="204851" y="173990"/>
                    <a:pt x="0" y="135001"/>
                    <a:pt x="0" y="86995"/>
                  </a:cubicBezTo>
                  <a:close/>
                </a:path>
              </a:pathLst>
            </a:custGeom>
            <a:solidFill>
              <a:srgbClr val="D4C096"/>
            </a:solidFill>
          </p:spPr>
        </p:sp>
        <p:sp>
          <p:nvSpPr>
            <p:cNvPr id="41" name="Freeform 41"/>
            <p:cNvSpPr/>
            <p:nvPr/>
          </p:nvSpPr>
          <p:spPr>
            <a:xfrm>
              <a:off x="0" y="0"/>
              <a:ext cx="915162" cy="695579"/>
            </a:xfrm>
            <a:custGeom>
              <a:avLst/>
              <a:gdLst/>
              <a:ahLst/>
              <a:cxnLst/>
              <a:rect l="l" t="t" r="r" b="b"/>
              <a:pathLst>
                <a:path w="915162" h="695579">
                  <a:moveTo>
                    <a:pt x="915162" y="86995"/>
                  </a:moveTo>
                  <a:cubicBezTo>
                    <a:pt x="915162" y="135001"/>
                    <a:pt x="710311" y="173990"/>
                    <a:pt x="457581" y="173990"/>
                  </a:cubicBezTo>
                  <a:cubicBezTo>
                    <a:pt x="204851" y="173990"/>
                    <a:pt x="0" y="135001"/>
                    <a:pt x="0" y="86995"/>
                  </a:cubicBezTo>
                  <a:cubicBezTo>
                    <a:pt x="0" y="38989"/>
                    <a:pt x="204851" y="0"/>
                    <a:pt x="457581" y="0"/>
                  </a:cubicBezTo>
                  <a:cubicBezTo>
                    <a:pt x="710311" y="0"/>
                    <a:pt x="915162" y="38862"/>
                    <a:pt x="915162" y="86995"/>
                  </a:cubicBezTo>
                  <a:lnTo>
                    <a:pt x="915162" y="608584"/>
                  </a:lnTo>
                  <a:cubicBezTo>
                    <a:pt x="915162" y="656590"/>
                    <a:pt x="710311" y="695579"/>
                    <a:pt x="457581" y="695579"/>
                  </a:cubicBezTo>
                  <a:cubicBezTo>
                    <a:pt x="204851" y="695579"/>
                    <a:pt x="0" y="656590"/>
                    <a:pt x="0" y="608584"/>
                  </a:cubicBezTo>
                  <a:lnTo>
                    <a:pt x="0" y="86995"/>
                  </a:lnTo>
                </a:path>
              </a:pathLst>
            </a:custGeom>
            <a:solidFill>
              <a:srgbClr val="D4C096"/>
            </a:solidFill>
          </p:spPr>
        </p:sp>
      </p:grpSp>
      <p:grpSp>
        <p:nvGrpSpPr>
          <p:cNvPr id="42" name="Group 42"/>
          <p:cNvGrpSpPr/>
          <p:nvPr/>
        </p:nvGrpSpPr>
        <p:grpSpPr>
          <a:xfrm>
            <a:off x="411804" y="6259382"/>
            <a:ext cx="17432941" cy="41177"/>
            <a:chOff x="0" y="0"/>
            <a:chExt cx="23243921" cy="54902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23243921" cy="54864"/>
            </a:xfrm>
            <a:custGeom>
              <a:avLst/>
              <a:gdLst/>
              <a:ahLst/>
              <a:cxnLst/>
              <a:rect l="l" t="t" r="r" b="b"/>
              <a:pathLst>
                <a:path w="23243921" h="54864">
                  <a:moveTo>
                    <a:pt x="0" y="0"/>
                  </a:moveTo>
                  <a:lnTo>
                    <a:pt x="23243921" y="0"/>
                  </a:lnTo>
                  <a:lnTo>
                    <a:pt x="23243921" y="54864"/>
                  </a:lnTo>
                  <a:lnTo>
                    <a:pt x="0" y="54864"/>
                  </a:lnTo>
                  <a:close/>
                </a:path>
              </a:pathLst>
            </a:custGeom>
            <a:solidFill>
              <a:srgbClr val="D8BE82"/>
            </a:solidFill>
          </p:spPr>
        </p:sp>
      </p:grpSp>
      <p:grpSp>
        <p:nvGrpSpPr>
          <p:cNvPr id="44" name="Group 44"/>
          <p:cNvGrpSpPr/>
          <p:nvPr/>
        </p:nvGrpSpPr>
        <p:grpSpPr>
          <a:xfrm>
            <a:off x="406079" y="6418383"/>
            <a:ext cx="5639391" cy="2509704"/>
            <a:chOff x="0" y="0"/>
            <a:chExt cx="7519187" cy="3346272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7519162" cy="3346323"/>
            </a:xfrm>
            <a:custGeom>
              <a:avLst/>
              <a:gdLst/>
              <a:ahLst/>
              <a:cxnLst/>
              <a:rect l="l" t="t" r="r" b="b"/>
              <a:pathLst>
                <a:path w="7519162" h="3346323">
                  <a:moveTo>
                    <a:pt x="0" y="0"/>
                  </a:moveTo>
                  <a:lnTo>
                    <a:pt x="7519162" y="0"/>
                  </a:lnTo>
                  <a:lnTo>
                    <a:pt x="7519162" y="3346323"/>
                  </a:lnTo>
                  <a:lnTo>
                    <a:pt x="0" y="3346323"/>
                  </a:lnTo>
                  <a:close/>
                </a:path>
              </a:pathLst>
            </a:custGeom>
            <a:solidFill>
              <a:srgbClr val="FFFFFF"/>
            </a:solidFill>
            <a:ln w="11439" cap="sq">
              <a:solidFill>
                <a:srgbClr val="D8BE82"/>
              </a:solidFill>
              <a:prstDash val="solid"/>
              <a:miter/>
            </a:ln>
          </p:spPr>
        </p:sp>
      </p:grpSp>
      <p:grpSp>
        <p:nvGrpSpPr>
          <p:cNvPr id="46" name="Group 46"/>
          <p:cNvGrpSpPr/>
          <p:nvPr/>
        </p:nvGrpSpPr>
        <p:grpSpPr>
          <a:xfrm>
            <a:off x="411804" y="6424108"/>
            <a:ext cx="5627951" cy="82363"/>
            <a:chOff x="0" y="0"/>
            <a:chExt cx="7503935" cy="109817"/>
          </a:xfrm>
        </p:grpSpPr>
        <p:sp>
          <p:nvSpPr>
            <p:cNvPr id="47" name="Freeform 47"/>
            <p:cNvSpPr/>
            <p:nvPr/>
          </p:nvSpPr>
          <p:spPr>
            <a:xfrm>
              <a:off x="0" y="0"/>
              <a:ext cx="7503922" cy="109855"/>
            </a:xfrm>
            <a:custGeom>
              <a:avLst/>
              <a:gdLst/>
              <a:ahLst/>
              <a:cxnLst/>
              <a:rect l="l" t="t" r="r" b="b"/>
              <a:pathLst>
                <a:path w="7503922" h="109855">
                  <a:moveTo>
                    <a:pt x="0" y="0"/>
                  </a:moveTo>
                  <a:lnTo>
                    <a:pt x="7503922" y="0"/>
                  </a:lnTo>
                  <a:lnTo>
                    <a:pt x="7503922" y="109855"/>
                  </a:lnTo>
                  <a:lnTo>
                    <a:pt x="0" y="109855"/>
                  </a:lnTo>
                  <a:close/>
                </a:path>
              </a:pathLst>
            </a:custGeom>
            <a:solidFill>
              <a:srgbClr val="B89650"/>
            </a:solidFill>
          </p:spPr>
        </p:sp>
      </p:grpSp>
      <p:sp>
        <p:nvSpPr>
          <p:cNvPr id="48" name="TextBox 48"/>
          <p:cNvSpPr txBox="1"/>
          <p:nvPr/>
        </p:nvSpPr>
        <p:spPr>
          <a:xfrm>
            <a:off x="750322" y="6541541"/>
            <a:ext cx="4964640" cy="454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2401" b="1">
                <a:solidFill>
                  <a:srgbClr val="1A1408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The Maker Wins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654234" y="7158085"/>
            <a:ext cx="4964640" cy="10650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>
                <a:solidFill>
                  <a:srgbClr val="3A2E1A"/>
                </a:solidFill>
                <a:latin typeface="Calibri (MS)"/>
                <a:ea typeface="Calibri (MS)"/>
                <a:cs typeface="Calibri (MS)"/>
                <a:sym typeface="Calibri (MS)"/>
              </a:rPr>
              <a:t>More customers, organized sales. Reaches diaspora she could never reach alone. We handle payments — she focuses on making.</a:t>
            </a:r>
          </a:p>
        </p:txBody>
      </p:sp>
      <p:grpSp>
        <p:nvGrpSpPr>
          <p:cNvPr id="50" name="Group 50"/>
          <p:cNvGrpSpPr/>
          <p:nvPr/>
        </p:nvGrpSpPr>
        <p:grpSpPr>
          <a:xfrm>
            <a:off x="6239942" y="6418383"/>
            <a:ext cx="5639391" cy="2509704"/>
            <a:chOff x="0" y="0"/>
            <a:chExt cx="7519187" cy="3346272"/>
          </a:xfrm>
        </p:grpSpPr>
        <p:sp>
          <p:nvSpPr>
            <p:cNvPr id="51" name="Freeform 51"/>
            <p:cNvSpPr/>
            <p:nvPr/>
          </p:nvSpPr>
          <p:spPr>
            <a:xfrm>
              <a:off x="0" y="0"/>
              <a:ext cx="7519162" cy="3346323"/>
            </a:xfrm>
            <a:custGeom>
              <a:avLst/>
              <a:gdLst/>
              <a:ahLst/>
              <a:cxnLst/>
              <a:rect l="l" t="t" r="r" b="b"/>
              <a:pathLst>
                <a:path w="7519162" h="3346323">
                  <a:moveTo>
                    <a:pt x="0" y="0"/>
                  </a:moveTo>
                  <a:lnTo>
                    <a:pt x="7519162" y="0"/>
                  </a:lnTo>
                  <a:lnTo>
                    <a:pt x="7519162" y="3346323"/>
                  </a:lnTo>
                  <a:lnTo>
                    <a:pt x="0" y="3346323"/>
                  </a:lnTo>
                  <a:close/>
                </a:path>
              </a:pathLst>
            </a:custGeom>
            <a:solidFill>
              <a:srgbClr val="FFFFFF"/>
            </a:solidFill>
            <a:ln w="11439" cap="sq">
              <a:solidFill>
                <a:srgbClr val="D8BE82"/>
              </a:solidFill>
              <a:prstDash val="solid"/>
              <a:miter/>
            </a:ln>
          </p:spPr>
        </p:sp>
      </p:grpSp>
      <p:grpSp>
        <p:nvGrpSpPr>
          <p:cNvPr id="52" name="Group 52"/>
          <p:cNvGrpSpPr/>
          <p:nvPr/>
        </p:nvGrpSpPr>
        <p:grpSpPr>
          <a:xfrm>
            <a:off x="6245657" y="6424108"/>
            <a:ext cx="5627951" cy="82363"/>
            <a:chOff x="0" y="0"/>
            <a:chExt cx="7503935" cy="109817"/>
          </a:xfrm>
        </p:grpSpPr>
        <p:sp>
          <p:nvSpPr>
            <p:cNvPr id="53" name="Freeform 53"/>
            <p:cNvSpPr/>
            <p:nvPr/>
          </p:nvSpPr>
          <p:spPr>
            <a:xfrm>
              <a:off x="0" y="0"/>
              <a:ext cx="7503922" cy="109855"/>
            </a:xfrm>
            <a:custGeom>
              <a:avLst/>
              <a:gdLst/>
              <a:ahLst/>
              <a:cxnLst/>
              <a:rect l="l" t="t" r="r" b="b"/>
              <a:pathLst>
                <a:path w="7503922" h="109855">
                  <a:moveTo>
                    <a:pt x="0" y="0"/>
                  </a:moveTo>
                  <a:lnTo>
                    <a:pt x="7503922" y="0"/>
                  </a:lnTo>
                  <a:lnTo>
                    <a:pt x="7503922" y="109855"/>
                  </a:lnTo>
                  <a:lnTo>
                    <a:pt x="0" y="109855"/>
                  </a:lnTo>
                  <a:close/>
                </a:path>
              </a:pathLst>
            </a:custGeom>
            <a:solidFill>
              <a:srgbClr val="B89650"/>
            </a:solidFill>
          </p:spPr>
        </p:sp>
      </p:grpSp>
      <p:sp>
        <p:nvSpPr>
          <p:cNvPr id="54" name="TextBox 54"/>
          <p:cNvSpPr txBox="1"/>
          <p:nvPr/>
        </p:nvSpPr>
        <p:spPr>
          <a:xfrm>
            <a:off x="6584185" y="6541541"/>
            <a:ext cx="4964640" cy="454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2401" b="1">
                <a:solidFill>
                  <a:srgbClr val="1A1408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The Buyer Wins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6584185" y="7040242"/>
            <a:ext cx="4964640" cy="10650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>
                <a:solidFill>
                  <a:srgbClr val="3A2E1A"/>
                </a:solidFill>
                <a:latin typeface="Calibri (MS)"/>
                <a:ea typeface="Calibri (MS)"/>
                <a:cs typeface="Calibri (MS)"/>
                <a:sym typeface="Calibri (MS)"/>
              </a:rPr>
              <a:t>Authentic Sudanese products delivered to their door. Trusted platform. No more unreliable WhatsApp sellers.</a:t>
            </a:r>
          </a:p>
        </p:txBody>
      </p:sp>
      <p:grpSp>
        <p:nvGrpSpPr>
          <p:cNvPr id="56" name="Group 56"/>
          <p:cNvGrpSpPr/>
          <p:nvPr/>
        </p:nvGrpSpPr>
        <p:grpSpPr>
          <a:xfrm>
            <a:off x="12073795" y="6418383"/>
            <a:ext cx="5639391" cy="2509704"/>
            <a:chOff x="0" y="0"/>
            <a:chExt cx="7519187" cy="3346272"/>
          </a:xfrm>
        </p:grpSpPr>
        <p:sp>
          <p:nvSpPr>
            <p:cNvPr id="57" name="Freeform 57"/>
            <p:cNvSpPr/>
            <p:nvPr/>
          </p:nvSpPr>
          <p:spPr>
            <a:xfrm>
              <a:off x="0" y="0"/>
              <a:ext cx="7519162" cy="3346323"/>
            </a:xfrm>
            <a:custGeom>
              <a:avLst/>
              <a:gdLst/>
              <a:ahLst/>
              <a:cxnLst/>
              <a:rect l="l" t="t" r="r" b="b"/>
              <a:pathLst>
                <a:path w="7519162" h="3346323">
                  <a:moveTo>
                    <a:pt x="0" y="0"/>
                  </a:moveTo>
                  <a:lnTo>
                    <a:pt x="7519162" y="0"/>
                  </a:lnTo>
                  <a:lnTo>
                    <a:pt x="7519162" y="3346323"/>
                  </a:lnTo>
                  <a:lnTo>
                    <a:pt x="0" y="3346323"/>
                  </a:lnTo>
                  <a:close/>
                </a:path>
              </a:pathLst>
            </a:custGeom>
            <a:solidFill>
              <a:srgbClr val="FFFFFF"/>
            </a:solidFill>
            <a:ln w="11439" cap="sq">
              <a:solidFill>
                <a:srgbClr val="D8BE82"/>
              </a:solidFill>
              <a:prstDash val="solid"/>
              <a:miter/>
            </a:ln>
          </p:spPr>
        </p:sp>
      </p:grpSp>
      <p:grpSp>
        <p:nvGrpSpPr>
          <p:cNvPr id="58" name="Group 58"/>
          <p:cNvGrpSpPr/>
          <p:nvPr/>
        </p:nvGrpSpPr>
        <p:grpSpPr>
          <a:xfrm>
            <a:off x="12079519" y="6424108"/>
            <a:ext cx="5627951" cy="82363"/>
            <a:chOff x="0" y="0"/>
            <a:chExt cx="7503935" cy="109817"/>
          </a:xfrm>
        </p:grpSpPr>
        <p:sp>
          <p:nvSpPr>
            <p:cNvPr id="59" name="Freeform 59"/>
            <p:cNvSpPr/>
            <p:nvPr/>
          </p:nvSpPr>
          <p:spPr>
            <a:xfrm>
              <a:off x="0" y="0"/>
              <a:ext cx="7503922" cy="109855"/>
            </a:xfrm>
            <a:custGeom>
              <a:avLst/>
              <a:gdLst/>
              <a:ahLst/>
              <a:cxnLst/>
              <a:rect l="l" t="t" r="r" b="b"/>
              <a:pathLst>
                <a:path w="7503922" h="109855">
                  <a:moveTo>
                    <a:pt x="0" y="0"/>
                  </a:moveTo>
                  <a:lnTo>
                    <a:pt x="7503922" y="0"/>
                  </a:lnTo>
                  <a:lnTo>
                    <a:pt x="7503922" y="109855"/>
                  </a:lnTo>
                  <a:lnTo>
                    <a:pt x="0" y="109855"/>
                  </a:lnTo>
                  <a:close/>
                </a:path>
              </a:pathLst>
            </a:custGeom>
            <a:solidFill>
              <a:srgbClr val="B89650"/>
            </a:solidFill>
          </p:spPr>
        </p:sp>
      </p:grpSp>
      <p:sp>
        <p:nvSpPr>
          <p:cNvPr id="60" name="TextBox 60"/>
          <p:cNvSpPr txBox="1"/>
          <p:nvPr/>
        </p:nvSpPr>
        <p:spPr>
          <a:xfrm>
            <a:off x="12418038" y="6541541"/>
            <a:ext cx="4964640" cy="454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2401" b="1">
                <a:solidFill>
                  <a:srgbClr val="1A1408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249Souq.com Wins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12418038" y="7158085"/>
            <a:ext cx="4964640" cy="10650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>
                <a:solidFill>
                  <a:srgbClr val="3A2E1A"/>
                </a:solidFill>
                <a:latin typeface="Calibri (MS)"/>
                <a:ea typeface="Calibri (MS)"/>
                <a:cs typeface="Calibri (MS)"/>
                <a:sym typeface="Calibri (MS)"/>
              </a:rPr>
              <a:t>10–15% commission on every sale. Zero inventory. Zero warehouse. Grows with every new maker and buyer added.</a:t>
            </a:r>
          </a:p>
        </p:txBody>
      </p:sp>
      <p:grpSp>
        <p:nvGrpSpPr>
          <p:cNvPr id="62" name="Group 62"/>
          <p:cNvGrpSpPr/>
          <p:nvPr/>
        </p:nvGrpSpPr>
        <p:grpSpPr>
          <a:xfrm>
            <a:off x="54907" y="9361627"/>
            <a:ext cx="18233093" cy="920877"/>
            <a:chOff x="0" y="0"/>
            <a:chExt cx="24310791" cy="1227836"/>
          </a:xfrm>
        </p:grpSpPr>
        <p:sp>
          <p:nvSpPr>
            <p:cNvPr id="63" name="Freeform 63"/>
            <p:cNvSpPr/>
            <p:nvPr/>
          </p:nvSpPr>
          <p:spPr>
            <a:xfrm>
              <a:off x="0" y="0"/>
              <a:ext cx="24310766" cy="1227874"/>
            </a:xfrm>
            <a:custGeom>
              <a:avLst/>
              <a:gdLst/>
              <a:ahLst/>
              <a:cxnLst/>
              <a:rect l="l" t="t" r="r" b="b"/>
              <a:pathLst>
                <a:path w="24310766" h="1227874">
                  <a:moveTo>
                    <a:pt x="0" y="0"/>
                  </a:moveTo>
                  <a:lnTo>
                    <a:pt x="24310766" y="0"/>
                  </a:lnTo>
                  <a:lnTo>
                    <a:pt x="24310766" y="1227874"/>
                  </a:lnTo>
                  <a:lnTo>
                    <a:pt x="0" y="1227874"/>
                  </a:lnTo>
                  <a:close/>
                </a:path>
              </a:pathLst>
            </a:custGeom>
            <a:solidFill>
              <a:srgbClr val="B89650"/>
            </a:solidFill>
          </p:spPr>
        </p:sp>
        <p:sp>
          <p:nvSpPr>
            <p:cNvPr id="64" name="TextBox 64"/>
            <p:cNvSpPr txBox="1"/>
            <p:nvPr/>
          </p:nvSpPr>
          <p:spPr>
            <a:xfrm>
              <a:off x="0" y="-19050"/>
              <a:ext cx="24310791" cy="124688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01"/>
                </a:lnSpc>
              </a:pPr>
              <a:r>
                <a:rPr lang="en-US" sz="3001" b="1" i="1">
                  <a:solidFill>
                    <a:srgbClr val="FFFFFF"/>
                  </a:solidFill>
                  <a:latin typeface="Garamond Bold Italics"/>
                  <a:ea typeface="Garamond Bold Italics"/>
                  <a:cs typeface="Garamond Bold Italics"/>
                  <a:sym typeface="Garamond Bold Italics"/>
                </a:rPr>
                <a:t>249Souq.com						The taste of home, wherever you are		</a:t>
              </a:r>
              <a:r>
                <a:rPr lang="ar-EG" sz="3001" b="1" i="1">
                  <a:solidFill>
                    <a:srgbClr val="FFFFFF"/>
                  </a:solidFill>
                  <a:latin typeface="Garamond Bold Italics"/>
                  <a:ea typeface="Garamond Bold Italics"/>
                  <a:cs typeface="Garamond Bold Italics"/>
                  <a:sym typeface="Garamond Bold Italics"/>
                  <a:rtl/>
                </a:rPr>
                <a:t>طعم البيت، وين ما مشيت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:fade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9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 descr="Blend mode: screen"/>
          <p:cNvSpPr/>
          <p:nvPr/>
        </p:nvSpPr>
        <p:spPr>
          <a:xfrm>
            <a:off x="0" y="0"/>
            <a:ext cx="18288000" cy="10292469"/>
          </a:xfrm>
          <a:custGeom>
            <a:avLst/>
            <a:gdLst/>
            <a:ahLst/>
            <a:cxnLst/>
            <a:rect l="l" t="t" r="r" b="b"/>
            <a:pathLst>
              <a:path w="18288000" h="10292469">
                <a:moveTo>
                  <a:pt x="0" y="0"/>
                </a:moveTo>
                <a:lnTo>
                  <a:pt x="18288000" y="0"/>
                </a:lnTo>
                <a:lnTo>
                  <a:pt x="18288000" y="10292469"/>
                </a:lnTo>
                <a:lnTo>
                  <a:pt x="0" y="1029246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5017050" y="0"/>
            <a:ext cx="13270950" cy="10287000"/>
            <a:chOff x="0" y="0"/>
            <a:chExt cx="38357575" cy="29732941"/>
          </a:xfrm>
        </p:grpSpPr>
        <p:sp>
          <p:nvSpPr>
            <p:cNvPr id="4" name="Freeform 4" descr="Blend mode: screen"/>
            <p:cNvSpPr/>
            <p:nvPr/>
          </p:nvSpPr>
          <p:spPr>
            <a:xfrm>
              <a:off x="0" y="0"/>
              <a:ext cx="38357575" cy="29732942"/>
            </a:xfrm>
            <a:custGeom>
              <a:avLst/>
              <a:gdLst/>
              <a:ahLst/>
              <a:cxnLst/>
              <a:rect l="l" t="t" r="r" b="b"/>
              <a:pathLst>
                <a:path w="38357575" h="29732942">
                  <a:moveTo>
                    <a:pt x="38357575" y="498039"/>
                  </a:moveTo>
                  <a:lnTo>
                    <a:pt x="38357575" y="29234901"/>
                  </a:lnTo>
                  <a:cubicBezTo>
                    <a:pt x="38357575" y="29510069"/>
                    <a:pt x="37945944" y="29732942"/>
                    <a:pt x="37437727" y="29732942"/>
                  </a:cubicBezTo>
                  <a:lnTo>
                    <a:pt x="919846" y="29732942"/>
                  </a:lnTo>
                  <a:cubicBezTo>
                    <a:pt x="411631" y="29732942"/>
                    <a:pt x="0" y="29510069"/>
                    <a:pt x="0" y="29234901"/>
                  </a:cubicBezTo>
                  <a:lnTo>
                    <a:pt x="0" y="498039"/>
                  </a:lnTo>
                  <a:cubicBezTo>
                    <a:pt x="0" y="222873"/>
                    <a:pt x="411631" y="0"/>
                    <a:pt x="919846" y="0"/>
                  </a:cubicBezTo>
                  <a:lnTo>
                    <a:pt x="37437727" y="0"/>
                  </a:lnTo>
                  <a:cubicBezTo>
                    <a:pt x="37945944" y="0"/>
                    <a:pt x="38357575" y="222873"/>
                    <a:pt x="38357575" y="498039"/>
                  </a:cubicBezTo>
                  <a:close/>
                </a:path>
              </a:pathLst>
            </a:custGeom>
            <a:blipFill>
              <a:blip r:embed="rId2"/>
              <a:stretch>
                <a:fillRect l="-18865" r="-18865"/>
              </a:stretch>
            </a:blipFill>
          </p:spPr>
        </p:sp>
      </p:grpSp>
      <p:sp>
        <p:nvSpPr>
          <p:cNvPr id="5" name="TextBox 5"/>
          <p:cNvSpPr txBox="1"/>
          <p:nvPr/>
        </p:nvSpPr>
        <p:spPr>
          <a:xfrm>
            <a:off x="3959220" y="200025"/>
            <a:ext cx="2439661" cy="102981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725"/>
              </a:lnSpc>
            </a:pPr>
            <a:r>
              <a:rPr lang="en-US" sz="10906">
                <a:solidFill>
                  <a:srgbClr val="FFFFFF"/>
                </a:solidFill>
                <a:latin typeface="Impact"/>
                <a:ea typeface="Impact"/>
                <a:cs typeface="Impact"/>
                <a:sym typeface="Impact"/>
              </a:rPr>
              <a:t>I</a:t>
            </a:r>
          </a:p>
          <a:p>
            <a:pPr algn="ctr">
              <a:lnSpc>
                <a:spcPts val="8725"/>
              </a:lnSpc>
            </a:pPr>
            <a:r>
              <a:rPr lang="en-US" sz="10906">
                <a:solidFill>
                  <a:srgbClr val="FFFFFF"/>
                </a:solidFill>
                <a:latin typeface="Impact"/>
                <a:ea typeface="Impact"/>
                <a:cs typeface="Impact"/>
                <a:sym typeface="Impact"/>
              </a:rPr>
              <a:t>V</a:t>
            </a:r>
          </a:p>
          <a:p>
            <a:pPr algn="ctr">
              <a:lnSpc>
                <a:spcPts val="8725"/>
              </a:lnSpc>
            </a:pPr>
            <a:r>
              <a:rPr lang="en-US" sz="10906">
                <a:solidFill>
                  <a:srgbClr val="FFFFFF"/>
                </a:solidFill>
                <a:latin typeface="Impact"/>
                <a:ea typeface="Impact"/>
                <a:cs typeface="Impact"/>
                <a:sym typeface="Impact"/>
              </a:rPr>
              <a:t>E</a:t>
            </a:r>
          </a:p>
          <a:p>
            <a:pPr algn="ctr">
              <a:lnSpc>
                <a:spcPts val="8725"/>
              </a:lnSpc>
            </a:pPr>
            <a:r>
              <a:rPr lang="en-US" sz="10906">
                <a:solidFill>
                  <a:srgbClr val="FFFFFF"/>
                </a:solidFill>
                <a:latin typeface="Impact"/>
                <a:ea typeface="Impact"/>
                <a:cs typeface="Impact"/>
                <a:sym typeface="Impact"/>
              </a:rPr>
              <a:t>S</a:t>
            </a:r>
          </a:p>
          <a:p>
            <a:pPr algn="ctr">
              <a:lnSpc>
                <a:spcPts val="8725"/>
              </a:lnSpc>
            </a:pPr>
            <a:r>
              <a:rPr lang="en-US" sz="10906">
                <a:solidFill>
                  <a:srgbClr val="FFFFFF"/>
                </a:solidFill>
                <a:latin typeface="Impact"/>
                <a:ea typeface="Impact"/>
                <a:cs typeface="Impact"/>
                <a:sym typeface="Impact"/>
              </a:rPr>
              <a:t>T</a:t>
            </a:r>
          </a:p>
          <a:p>
            <a:pPr algn="ctr">
              <a:lnSpc>
                <a:spcPts val="8725"/>
              </a:lnSpc>
            </a:pPr>
            <a:r>
              <a:rPr lang="en-US" sz="10906">
                <a:solidFill>
                  <a:srgbClr val="FFFFFF"/>
                </a:solidFill>
                <a:latin typeface="Impact"/>
                <a:ea typeface="Impact"/>
                <a:cs typeface="Impact"/>
                <a:sym typeface="Impact"/>
              </a:rPr>
              <a:t>M</a:t>
            </a:r>
          </a:p>
          <a:p>
            <a:pPr algn="ctr">
              <a:lnSpc>
                <a:spcPts val="8725"/>
              </a:lnSpc>
            </a:pPr>
            <a:r>
              <a:rPr lang="en-US" sz="10906">
                <a:solidFill>
                  <a:srgbClr val="FFFFFF"/>
                </a:solidFill>
                <a:latin typeface="Impact"/>
                <a:ea typeface="Impact"/>
                <a:cs typeface="Impact"/>
                <a:sym typeface="Impact"/>
              </a:rPr>
              <a:t>E</a:t>
            </a:r>
          </a:p>
          <a:p>
            <a:pPr algn="ctr">
              <a:lnSpc>
                <a:spcPts val="8725"/>
              </a:lnSpc>
            </a:pPr>
            <a:r>
              <a:rPr lang="en-US" sz="10906">
                <a:solidFill>
                  <a:srgbClr val="FFFFFF"/>
                </a:solidFill>
                <a:latin typeface="Impact"/>
                <a:ea typeface="Impact"/>
                <a:cs typeface="Impact"/>
                <a:sym typeface="Impact"/>
              </a:rPr>
              <a:t>N</a:t>
            </a:r>
          </a:p>
          <a:p>
            <a:pPr algn="ctr">
              <a:lnSpc>
                <a:spcPts val="8725"/>
              </a:lnSpc>
            </a:pPr>
            <a:r>
              <a:rPr lang="en-US" sz="10906">
                <a:solidFill>
                  <a:srgbClr val="FFFFFF"/>
                </a:solidFill>
                <a:latin typeface="Impact"/>
                <a:ea typeface="Impact"/>
                <a:cs typeface="Impact"/>
                <a:sym typeface="Impact"/>
              </a:rPr>
              <a:t>T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:fade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9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09814" cy="10295039"/>
            <a:chOff x="0" y="0"/>
            <a:chExt cx="146418" cy="1372671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46431" cy="13726668"/>
            </a:xfrm>
            <a:custGeom>
              <a:avLst/>
              <a:gdLst/>
              <a:ahLst/>
              <a:cxnLst/>
              <a:rect l="l" t="t" r="r" b="b"/>
              <a:pathLst>
                <a:path w="146431" h="13726668">
                  <a:moveTo>
                    <a:pt x="0" y="0"/>
                  </a:moveTo>
                  <a:lnTo>
                    <a:pt x="146431" y="0"/>
                  </a:lnTo>
                  <a:lnTo>
                    <a:pt x="146431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B89650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109814" y="9675552"/>
            <a:ext cx="18187911" cy="576520"/>
            <a:chOff x="0" y="0"/>
            <a:chExt cx="24250548" cy="768693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250523" cy="768731"/>
            </a:xfrm>
            <a:custGeom>
              <a:avLst/>
              <a:gdLst/>
              <a:ahLst/>
              <a:cxnLst/>
              <a:rect l="l" t="t" r="r" b="b"/>
              <a:pathLst>
                <a:path w="24250523" h="768731">
                  <a:moveTo>
                    <a:pt x="0" y="0"/>
                  </a:moveTo>
                  <a:lnTo>
                    <a:pt x="24250523" y="0"/>
                  </a:lnTo>
                  <a:lnTo>
                    <a:pt x="24250523" y="768731"/>
                  </a:lnTo>
                  <a:lnTo>
                    <a:pt x="0" y="768731"/>
                  </a:lnTo>
                  <a:close/>
                </a:path>
              </a:pathLst>
            </a:custGeom>
            <a:solidFill>
              <a:srgbClr val="B89650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661006" y="9677038"/>
            <a:ext cx="16975522" cy="3801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 b="1" i="1">
                <a:solidFill>
                  <a:srgbClr val="FFFFFF"/>
                </a:solidFill>
                <a:latin typeface="Garamond Bold Italics"/>
                <a:ea typeface="Garamond Bold Italics"/>
                <a:cs typeface="Garamond Bold Italics"/>
                <a:sym typeface="Garamond Bold Italics"/>
              </a:rPr>
              <a:t>249Souq.com						The taste of home, wherever you are		</a:t>
            </a:r>
            <a:r>
              <a:rPr lang="ar-EG" sz="2101" b="1" i="1">
                <a:solidFill>
                  <a:srgbClr val="FFFFFF"/>
                </a:solidFill>
                <a:latin typeface="Garamond Bold Italics"/>
                <a:ea typeface="Garamond Bold Italics"/>
                <a:cs typeface="Garamond Bold Italics"/>
                <a:sym typeface="Garamond Bold Italics"/>
                <a:rtl/>
              </a:rPr>
              <a:t>طعم البيت، وين ما مشيت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7387116" y="9841278"/>
            <a:ext cx="572091" cy="3119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441"/>
              </a:lnSpc>
            </a:pPr>
            <a:r>
              <a:rPr lang="en-US" sz="1200">
                <a:solidFill>
                  <a:srgbClr val="8A7A60"/>
                </a:solidFill>
                <a:latin typeface="Calibri (MS)"/>
                <a:ea typeface="Calibri (MS)"/>
                <a:cs typeface="Calibri (MS)"/>
                <a:sym typeface="Calibri (MS)"/>
              </a:rPr>
              <a:t>10 / 11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503244" y="282159"/>
            <a:ext cx="10798502" cy="3035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 b="1">
                <a:solidFill>
                  <a:srgbClr val="B8965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THE INVESTMENT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03244" y="649700"/>
            <a:ext cx="4004098" cy="8488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688"/>
              </a:lnSpc>
            </a:pPr>
            <a:r>
              <a:rPr lang="en-US" sz="5573" b="1">
                <a:solidFill>
                  <a:srgbClr val="1A1408"/>
                </a:solidFill>
                <a:latin typeface="Garamond Bold"/>
                <a:ea typeface="Garamond Bold"/>
                <a:cs typeface="Garamond Bold"/>
                <a:sym typeface="Garamond Bold"/>
              </a:rPr>
              <a:t>AED 150,000.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03244" y="1555661"/>
            <a:ext cx="13543845" cy="4629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 b="1">
                <a:solidFill>
                  <a:srgbClr val="7A5C1E"/>
                </a:solidFill>
                <a:latin typeface="Garamond Bold"/>
                <a:ea typeface="Garamond Bold"/>
                <a:cs typeface="Garamond Bold"/>
                <a:sym typeface="Garamond Bold"/>
              </a:rPr>
              <a:t>What we require, and what you get back.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411804" y="2086461"/>
            <a:ext cx="3019882" cy="82363"/>
            <a:chOff x="0" y="0"/>
            <a:chExt cx="4026510" cy="109817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4026535" cy="109855"/>
            </a:xfrm>
            <a:custGeom>
              <a:avLst/>
              <a:gdLst/>
              <a:ahLst/>
              <a:cxnLst/>
              <a:rect l="l" t="t" r="r" b="b"/>
              <a:pathLst>
                <a:path w="4026535" h="109855">
                  <a:moveTo>
                    <a:pt x="0" y="0"/>
                  </a:moveTo>
                  <a:lnTo>
                    <a:pt x="4026535" y="0"/>
                  </a:lnTo>
                  <a:lnTo>
                    <a:pt x="4026535" y="109855"/>
                  </a:lnTo>
                  <a:lnTo>
                    <a:pt x="0" y="109855"/>
                  </a:lnTo>
                  <a:close/>
                </a:path>
              </a:pathLst>
            </a:custGeom>
            <a:solidFill>
              <a:srgbClr val="B89650"/>
            </a:solidFill>
          </p:spPr>
        </p:sp>
      </p:grpSp>
      <p:grpSp>
        <p:nvGrpSpPr>
          <p:cNvPr id="13" name="Group 13"/>
          <p:cNvGrpSpPr/>
          <p:nvPr/>
        </p:nvGrpSpPr>
        <p:grpSpPr>
          <a:xfrm>
            <a:off x="403222" y="2297506"/>
            <a:ext cx="5301948" cy="6688350"/>
            <a:chOff x="0" y="0"/>
            <a:chExt cx="7069264" cy="8917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7069201" cy="8917813"/>
            </a:xfrm>
            <a:custGeom>
              <a:avLst/>
              <a:gdLst/>
              <a:ahLst/>
              <a:cxnLst/>
              <a:rect l="l" t="t" r="r" b="b"/>
              <a:pathLst>
                <a:path w="7069201" h="8917813">
                  <a:moveTo>
                    <a:pt x="0" y="0"/>
                  </a:moveTo>
                  <a:lnTo>
                    <a:pt x="7069201" y="0"/>
                  </a:lnTo>
                  <a:lnTo>
                    <a:pt x="7069201" y="8917813"/>
                  </a:lnTo>
                  <a:lnTo>
                    <a:pt x="0" y="8917813"/>
                  </a:lnTo>
                  <a:close/>
                </a:path>
              </a:pathLst>
            </a:custGeom>
            <a:solidFill>
              <a:srgbClr val="E8F4E8"/>
            </a:solidFill>
            <a:ln w="17158" cap="sq">
              <a:solidFill>
                <a:srgbClr val="2E5E2E"/>
              </a:solidFill>
              <a:prstDash val="solid"/>
              <a:miter/>
            </a:ln>
          </p:spPr>
        </p:sp>
      </p:grpSp>
      <p:grpSp>
        <p:nvGrpSpPr>
          <p:cNvPr id="15" name="Group 15"/>
          <p:cNvGrpSpPr/>
          <p:nvPr/>
        </p:nvGrpSpPr>
        <p:grpSpPr>
          <a:xfrm>
            <a:off x="411804" y="2306088"/>
            <a:ext cx="5284784" cy="576520"/>
            <a:chOff x="0" y="0"/>
            <a:chExt cx="7046379" cy="768693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7046341" cy="768731"/>
            </a:xfrm>
            <a:custGeom>
              <a:avLst/>
              <a:gdLst/>
              <a:ahLst/>
              <a:cxnLst/>
              <a:rect l="l" t="t" r="r" b="b"/>
              <a:pathLst>
                <a:path w="7046341" h="768731">
                  <a:moveTo>
                    <a:pt x="0" y="0"/>
                  </a:moveTo>
                  <a:lnTo>
                    <a:pt x="7046341" y="0"/>
                  </a:lnTo>
                  <a:lnTo>
                    <a:pt x="7046341" y="768731"/>
                  </a:lnTo>
                  <a:lnTo>
                    <a:pt x="0" y="768731"/>
                  </a:lnTo>
                  <a:close/>
                </a:path>
              </a:pathLst>
            </a:custGeom>
            <a:solidFill>
              <a:srgbClr val="2E5E2E"/>
            </a:solidFill>
          </p:spPr>
        </p:sp>
      </p:grpSp>
      <p:sp>
        <p:nvSpPr>
          <p:cNvPr id="17" name="TextBox 17"/>
          <p:cNvSpPr txBox="1"/>
          <p:nvPr/>
        </p:nvSpPr>
        <p:spPr>
          <a:xfrm>
            <a:off x="372837" y="2308870"/>
            <a:ext cx="5101904" cy="4182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1"/>
              </a:lnSpc>
            </a:pPr>
            <a:r>
              <a:rPr lang="en-US" sz="2101" b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ALREADY IN PLACE — AED 0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750322" y="3100330"/>
            <a:ext cx="4648924" cy="4228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>
                <a:solidFill>
                  <a:srgbClr val="2E5E2E"/>
                </a:solidFill>
                <a:latin typeface="Calibri (MS)"/>
                <a:ea typeface="Calibri (MS)"/>
                <a:cs typeface="Calibri (MS)"/>
                <a:sym typeface="Calibri (MS)"/>
              </a:rPr>
              <a:t>✓  UAE Trade License — active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750322" y="3759213"/>
            <a:ext cx="4648924" cy="4228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>
                <a:solidFill>
                  <a:srgbClr val="2E5E2E"/>
                </a:solidFill>
                <a:latin typeface="Calibri (MS)"/>
                <a:ea typeface="Calibri (MS)"/>
                <a:cs typeface="Calibri (MS)"/>
                <a:sym typeface="Calibri (MS)"/>
              </a:rPr>
              <a:t>✓  Multi-currency bank account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750322" y="4418105"/>
            <a:ext cx="4648924" cy="4228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>
                <a:solidFill>
                  <a:srgbClr val="2E5E2E"/>
                </a:solidFill>
                <a:latin typeface="Calibri (MS)"/>
                <a:ea typeface="Calibri (MS)"/>
                <a:cs typeface="Calibri (MS)"/>
                <a:sym typeface="Calibri (MS)"/>
              </a:rPr>
              <a:t>✓  Shopify store — ready to build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750322" y="5076977"/>
            <a:ext cx="4648924" cy="4228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>
                <a:solidFill>
                  <a:srgbClr val="2E5E2E"/>
                </a:solidFill>
                <a:latin typeface="Calibri (MS)"/>
                <a:ea typeface="Calibri (MS)"/>
                <a:cs typeface="Calibri (MS)"/>
                <a:sym typeface="Calibri (MS)"/>
              </a:rPr>
              <a:t>✓  Domain: 249souq.com — secured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750322" y="5735860"/>
            <a:ext cx="4648924" cy="4228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>
                <a:solidFill>
                  <a:srgbClr val="2E5E2E"/>
                </a:solidFill>
                <a:latin typeface="Calibri (MS)"/>
                <a:ea typeface="Calibri (MS)"/>
                <a:cs typeface="Calibri (MS)"/>
                <a:sym typeface="Calibri (MS)"/>
              </a:rPr>
              <a:t>✓  Sudanese community network</a:t>
            </a:r>
          </a:p>
        </p:txBody>
      </p:sp>
      <p:grpSp>
        <p:nvGrpSpPr>
          <p:cNvPr id="23" name="Group 23"/>
          <p:cNvGrpSpPr/>
          <p:nvPr/>
        </p:nvGrpSpPr>
        <p:grpSpPr>
          <a:xfrm>
            <a:off x="658882" y="6533921"/>
            <a:ext cx="4529823" cy="41177"/>
            <a:chOff x="0" y="0"/>
            <a:chExt cx="6039764" cy="54902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6039739" cy="54864"/>
            </a:xfrm>
            <a:custGeom>
              <a:avLst/>
              <a:gdLst/>
              <a:ahLst/>
              <a:cxnLst/>
              <a:rect l="l" t="t" r="r" b="b"/>
              <a:pathLst>
                <a:path w="6039739" h="54864">
                  <a:moveTo>
                    <a:pt x="0" y="0"/>
                  </a:moveTo>
                  <a:lnTo>
                    <a:pt x="6039739" y="0"/>
                  </a:lnTo>
                  <a:lnTo>
                    <a:pt x="6039739" y="54864"/>
                  </a:lnTo>
                  <a:lnTo>
                    <a:pt x="0" y="54864"/>
                  </a:lnTo>
                  <a:close/>
                </a:path>
              </a:pathLst>
            </a:custGeom>
            <a:solidFill>
              <a:srgbClr val="2E5E2E"/>
            </a:solidFill>
          </p:spPr>
        </p:sp>
      </p:grpSp>
      <p:sp>
        <p:nvSpPr>
          <p:cNvPr id="25" name="TextBox 25"/>
          <p:cNvSpPr txBox="1"/>
          <p:nvPr/>
        </p:nvSpPr>
        <p:spPr>
          <a:xfrm>
            <a:off x="613058" y="6669281"/>
            <a:ext cx="4827375" cy="7416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1"/>
              </a:lnSpc>
            </a:pPr>
            <a:r>
              <a:rPr lang="en-US" sz="2101" i="1">
                <a:solidFill>
                  <a:srgbClr val="2E5E2E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You are not funding a dream.</a:t>
            </a:r>
          </a:p>
          <a:p>
            <a:pPr algn="ctr">
              <a:lnSpc>
                <a:spcPts val="2521"/>
              </a:lnSpc>
            </a:pPr>
            <a:r>
              <a:rPr lang="en-US" sz="2101" i="1">
                <a:solidFill>
                  <a:srgbClr val="2E5E2E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You are accelerating what already exists.</a:t>
            </a:r>
          </a:p>
        </p:txBody>
      </p:sp>
      <p:grpSp>
        <p:nvGrpSpPr>
          <p:cNvPr id="26" name="Group 26"/>
          <p:cNvGrpSpPr/>
          <p:nvPr/>
        </p:nvGrpSpPr>
        <p:grpSpPr>
          <a:xfrm>
            <a:off x="5963498" y="2298468"/>
            <a:ext cx="6027553" cy="6686436"/>
            <a:chOff x="0" y="0"/>
            <a:chExt cx="8036738" cy="8915248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036687" cy="8915273"/>
            </a:xfrm>
            <a:custGeom>
              <a:avLst/>
              <a:gdLst/>
              <a:ahLst/>
              <a:cxnLst/>
              <a:rect l="l" t="t" r="r" b="b"/>
              <a:pathLst>
                <a:path w="8036687" h="8915273">
                  <a:moveTo>
                    <a:pt x="0" y="0"/>
                  </a:moveTo>
                  <a:lnTo>
                    <a:pt x="8036687" y="0"/>
                  </a:lnTo>
                  <a:lnTo>
                    <a:pt x="8036687" y="8915273"/>
                  </a:lnTo>
                  <a:lnTo>
                    <a:pt x="0" y="8915273"/>
                  </a:lnTo>
                  <a:close/>
                </a:path>
              </a:pathLst>
            </a:custGeom>
            <a:solidFill>
              <a:srgbClr val="FFFFFF"/>
            </a:solidFill>
            <a:ln w="15252" cap="sq">
              <a:solidFill>
                <a:srgbClr val="D8BE82"/>
              </a:solidFill>
              <a:prstDash val="solid"/>
              <a:miter/>
            </a:ln>
          </p:spPr>
        </p:sp>
      </p:grpSp>
      <p:grpSp>
        <p:nvGrpSpPr>
          <p:cNvPr id="28" name="Group 28"/>
          <p:cNvGrpSpPr/>
          <p:nvPr/>
        </p:nvGrpSpPr>
        <p:grpSpPr>
          <a:xfrm>
            <a:off x="5971127" y="2306088"/>
            <a:ext cx="6012304" cy="576520"/>
            <a:chOff x="0" y="0"/>
            <a:chExt cx="8016405" cy="768693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016367" cy="768731"/>
            </a:xfrm>
            <a:custGeom>
              <a:avLst/>
              <a:gdLst/>
              <a:ahLst/>
              <a:cxnLst/>
              <a:rect l="l" t="t" r="r" b="b"/>
              <a:pathLst>
                <a:path w="8016367" h="768731">
                  <a:moveTo>
                    <a:pt x="0" y="0"/>
                  </a:moveTo>
                  <a:lnTo>
                    <a:pt x="8016367" y="0"/>
                  </a:lnTo>
                  <a:lnTo>
                    <a:pt x="8016367" y="768731"/>
                  </a:lnTo>
                  <a:lnTo>
                    <a:pt x="0" y="768731"/>
                  </a:lnTo>
                  <a:close/>
                </a:path>
              </a:pathLst>
            </a:custGeom>
            <a:solidFill>
              <a:srgbClr val="B89650"/>
            </a:solidFill>
          </p:spPr>
        </p:sp>
      </p:grpSp>
      <p:sp>
        <p:nvSpPr>
          <p:cNvPr id="30" name="TextBox 30"/>
          <p:cNvSpPr txBox="1"/>
          <p:nvPr/>
        </p:nvSpPr>
        <p:spPr>
          <a:xfrm>
            <a:off x="6035107" y="2339902"/>
            <a:ext cx="5829424" cy="4182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1"/>
              </a:lnSpc>
            </a:pPr>
            <a:r>
              <a:rPr lang="en-US" sz="2101" b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AED 150,000 GOES INTO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6295920" y="3059154"/>
            <a:ext cx="2562463" cy="4182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 b="1">
                <a:solidFill>
                  <a:srgbClr val="1A1408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Platform Build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9013812" y="3059154"/>
            <a:ext cx="2562463" cy="4182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521"/>
              </a:lnSpc>
            </a:pPr>
            <a:r>
              <a:rPr lang="en-US" sz="2101" b="1">
                <a:solidFill>
                  <a:srgbClr val="7A5C1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AED 25,000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6295920" y="3462557"/>
            <a:ext cx="5239179" cy="3298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8A7A60"/>
                </a:solidFill>
                <a:latin typeface="Calibri (MS)"/>
                <a:ea typeface="Calibri (MS)"/>
                <a:cs typeface="Calibri (MS)"/>
                <a:sym typeface="Calibri (MS)"/>
              </a:rPr>
              <a:t>Shopify marketplace + multi-vendor setup</a:t>
            </a:r>
          </a:p>
        </p:txBody>
      </p:sp>
      <p:grpSp>
        <p:nvGrpSpPr>
          <p:cNvPr id="34" name="Group 34"/>
          <p:cNvGrpSpPr/>
          <p:nvPr/>
        </p:nvGrpSpPr>
        <p:grpSpPr>
          <a:xfrm>
            <a:off x="6108392" y="3829755"/>
            <a:ext cx="5627951" cy="24708"/>
            <a:chOff x="0" y="0"/>
            <a:chExt cx="7503935" cy="32944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7503922" cy="32893"/>
            </a:xfrm>
            <a:custGeom>
              <a:avLst/>
              <a:gdLst/>
              <a:ahLst/>
              <a:cxnLst/>
              <a:rect l="l" t="t" r="r" b="b"/>
              <a:pathLst>
                <a:path w="7503922" h="32893">
                  <a:moveTo>
                    <a:pt x="0" y="0"/>
                  </a:moveTo>
                  <a:lnTo>
                    <a:pt x="7503922" y="0"/>
                  </a:lnTo>
                  <a:lnTo>
                    <a:pt x="7503922" y="32893"/>
                  </a:lnTo>
                  <a:lnTo>
                    <a:pt x="0" y="32893"/>
                  </a:lnTo>
                  <a:close/>
                </a:path>
              </a:pathLst>
            </a:custGeom>
            <a:solidFill>
              <a:srgbClr val="D8BE82"/>
            </a:solidFill>
          </p:spPr>
        </p:sp>
      </p:grpSp>
      <p:sp>
        <p:nvSpPr>
          <p:cNvPr id="36" name="TextBox 36"/>
          <p:cNvSpPr txBox="1"/>
          <p:nvPr/>
        </p:nvSpPr>
        <p:spPr>
          <a:xfrm>
            <a:off x="6295920" y="3992575"/>
            <a:ext cx="2562463" cy="4182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 b="1">
                <a:solidFill>
                  <a:srgbClr val="1A1408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Content &amp; Branding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9013812" y="3992575"/>
            <a:ext cx="2562463" cy="4182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521"/>
              </a:lnSpc>
            </a:pPr>
            <a:r>
              <a:rPr lang="en-US" sz="2101" b="1">
                <a:solidFill>
                  <a:srgbClr val="7A5C1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AED 30,000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6295920" y="4395968"/>
            <a:ext cx="5239179" cy="3298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8A7A60"/>
                </a:solidFill>
                <a:latin typeface="Calibri (MS)"/>
                <a:ea typeface="Calibri (MS)"/>
                <a:cs typeface="Calibri (MS)"/>
                <a:sym typeface="Calibri (MS)"/>
              </a:rPr>
              <a:t>TikTok, Instagram, brand identity</a:t>
            </a:r>
          </a:p>
        </p:txBody>
      </p:sp>
      <p:grpSp>
        <p:nvGrpSpPr>
          <p:cNvPr id="39" name="Group 39"/>
          <p:cNvGrpSpPr/>
          <p:nvPr/>
        </p:nvGrpSpPr>
        <p:grpSpPr>
          <a:xfrm>
            <a:off x="6108392" y="4763176"/>
            <a:ext cx="5627951" cy="24708"/>
            <a:chOff x="0" y="0"/>
            <a:chExt cx="7503935" cy="32944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7503922" cy="32893"/>
            </a:xfrm>
            <a:custGeom>
              <a:avLst/>
              <a:gdLst/>
              <a:ahLst/>
              <a:cxnLst/>
              <a:rect l="l" t="t" r="r" b="b"/>
              <a:pathLst>
                <a:path w="7503922" h="32893">
                  <a:moveTo>
                    <a:pt x="0" y="0"/>
                  </a:moveTo>
                  <a:lnTo>
                    <a:pt x="7503922" y="0"/>
                  </a:lnTo>
                  <a:lnTo>
                    <a:pt x="7503922" y="32893"/>
                  </a:lnTo>
                  <a:lnTo>
                    <a:pt x="0" y="32893"/>
                  </a:lnTo>
                  <a:close/>
                </a:path>
              </a:pathLst>
            </a:custGeom>
            <a:solidFill>
              <a:srgbClr val="D8BE82"/>
            </a:solidFill>
          </p:spPr>
        </p:sp>
      </p:grpSp>
      <p:sp>
        <p:nvSpPr>
          <p:cNvPr id="41" name="TextBox 41"/>
          <p:cNvSpPr txBox="1"/>
          <p:nvPr/>
        </p:nvSpPr>
        <p:spPr>
          <a:xfrm>
            <a:off x="6295920" y="4925987"/>
            <a:ext cx="2562463" cy="4182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 b="1">
                <a:solidFill>
                  <a:srgbClr val="1A1408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Paid Marketing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9013812" y="4925987"/>
            <a:ext cx="2562463" cy="4182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521"/>
              </a:lnSpc>
            </a:pPr>
            <a:r>
              <a:rPr lang="en-US" sz="2101" b="1">
                <a:solidFill>
                  <a:srgbClr val="7A5C1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AED 15,000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6295920" y="5329390"/>
            <a:ext cx="5239179" cy="3298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8A7A60"/>
                </a:solidFill>
                <a:latin typeface="Calibri (MS)"/>
                <a:ea typeface="Calibri (MS)"/>
                <a:cs typeface="Calibri (MS)"/>
                <a:sym typeface="Calibri (MS)"/>
              </a:rPr>
              <a:t>Targeted ads to Sudanese diaspora</a:t>
            </a:r>
          </a:p>
        </p:txBody>
      </p:sp>
      <p:grpSp>
        <p:nvGrpSpPr>
          <p:cNvPr id="44" name="Group 44"/>
          <p:cNvGrpSpPr/>
          <p:nvPr/>
        </p:nvGrpSpPr>
        <p:grpSpPr>
          <a:xfrm>
            <a:off x="6108392" y="5696588"/>
            <a:ext cx="5627951" cy="24708"/>
            <a:chOff x="0" y="0"/>
            <a:chExt cx="7503935" cy="32944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7503922" cy="32893"/>
            </a:xfrm>
            <a:custGeom>
              <a:avLst/>
              <a:gdLst/>
              <a:ahLst/>
              <a:cxnLst/>
              <a:rect l="l" t="t" r="r" b="b"/>
              <a:pathLst>
                <a:path w="7503922" h="32893">
                  <a:moveTo>
                    <a:pt x="0" y="0"/>
                  </a:moveTo>
                  <a:lnTo>
                    <a:pt x="7503922" y="0"/>
                  </a:lnTo>
                  <a:lnTo>
                    <a:pt x="7503922" y="32893"/>
                  </a:lnTo>
                  <a:lnTo>
                    <a:pt x="0" y="32893"/>
                  </a:lnTo>
                  <a:close/>
                </a:path>
              </a:pathLst>
            </a:custGeom>
            <a:solidFill>
              <a:srgbClr val="D8BE82"/>
            </a:solidFill>
          </p:spPr>
        </p:sp>
      </p:grpSp>
      <p:sp>
        <p:nvSpPr>
          <p:cNvPr id="46" name="TextBox 46"/>
          <p:cNvSpPr txBox="1"/>
          <p:nvPr/>
        </p:nvSpPr>
        <p:spPr>
          <a:xfrm>
            <a:off x="6295920" y="5859409"/>
            <a:ext cx="2562463" cy="4182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 b="1">
                <a:solidFill>
                  <a:srgbClr val="1A1408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Maker Onboarding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9013812" y="5859409"/>
            <a:ext cx="2562463" cy="4182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521"/>
              </a:lnSpc>
            </a:pPr>
            <a:r>
              <a:rPr lang="en-US" sz="2101" b="1">
                <a:solidFill>
                  <a:srgbClr val="7A5C1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AED 20,000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6295920" y="6262802"/>
            <a:ext cx="5239179" cy="3298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8A7A60"/>
                </a:solidFill>
                <a:latin typeface="Calibri (MS)"/>
                <a:ea typeface="Calibri (MS)"/>
                <a:cs typeface="Calibri (MS)"/>
                <a:sym typeface="Calibri (MS)"/>
              </a:rPr>
              <a:t>Agreements, logistics, seller support</a:t>
            </a:r>
          </a:p>
        </p:txBody>
      </p:sp>
      <p:grpSp>
        <p:nvGrpSpPr>
          <p:cNvPr id="49" name="Group 49"/>
          <p:cNvGrpSpPr/>
          <p:nvPr/>
        </p:nvGrpSpPr>
        <p:grpSpPr>
          <a:xfrm>
            <a:off x="6108392" y="6630010"/>
            <a:ext cx="5627951" cy="24708"/>
            <a:chOff x="0" y="0"/>
            <a:chExt cx="7503935" cy="32944"/>
          </a:xfrm>
        </p:grpSpPr>
        <p:sp>
          <p:nvSpPr>
            <p:cNvPr id="50" name="Freeform 50"/>
            <p:cNvSpPr/>
            <p:nvPr/>
          </p:nvSpPr>
          <p:spPr>
            <a:xfrm>
              <a:off x="0" y="0"/>
              <a:ext cx="7503922" cy="32893"/>
            </a:xfrm>
            <a:custGeom>
              <a:avLst/>
              <a:gdLst/>
              <a:ahLst/>
              <a:cxnLst/>
              <a:rect l="l" t="t" r="r" b="b"/>
              <a:pathLst>
                <a:path w="7503922" h="32893">
                  <a:moveTo>
                    <a:pt x="0" y="0"/>
                  </a:moveTo>
                  <a:lnTo>
                    <a:pt x="7503922" y="0"/>
                  </a:lnTo>
                  <a:lnTo>
                    <a:pt x="7503922" y="32893"/>
                  </a:lnTo>
                  <a:lnTo>
                    <a:pt x="0" y="32893"/>
                  </a:lnTo>
                  <a:close/>
                </a:path>
              </a:pathLst>
            </a:custGeom>
            <a:solidFill>
              <a:srgbClr val="D8BE82"/>
            </a:solidFill>
          </p:spPr>
        </p:sp>
      </p:grpSp>
      <p:sp>
        <p:nvSpPr>
          <p:cNvPr id="51" name="TextBox 51"/>
          <p:cNvSpPr txBox="1"/>
          <p:nvPr/>
        </p:nvSpPr>
        <p:spPr>
          <a:xfrm>
            <a:off x="6295920" y="6792820"/>
            <a:ext cx="2562463" cy="4182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 b="1">
                <a:solidFill>
                  <a:srgbClr val="1A1408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Legal &amp; Ops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9013812" y="6792820"/>
            <a:ext cx="2562463" cy="4182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521"/>
              </a:lnSpc>
            </a:pPr>
            <a:r>
              <a:rPr lang="en-US" sz="2101" b="1">
                <a:solidFill>
                  <a:srgbClr val="7A5C1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AED 15,000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6295920" y="7196223"/>
            <a:ext cx="5239179" cy="3298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8A7A60"/>
                </a:solidFill>
                <a:latin typeface="Calibri (MS)"/>
                <a:ea typeface="Calibri (MS)"/>
                <a:cs typeface="Calibri (MS)"/>
                <a:sym typeface="Calibri (MS)"/>
              </a:rPr>
              <a:t>Contracts, payments, customer service</a:t>
            </a:r>
          </a:p>
        </p:txBody>
      </p:sp>
      <p:grpSp>
        <p:nvGrpSpPr>
          <p:cNvPr id="54" name="Group 54"/>
          <p:cNvGrpSpPr/>
          <p:nvPr/>
        </p:nvGrpSpPr>
        <p:grpSpPr>
          <a:xfrm>
            <a:off x="6108392" y="7563421"/>
            <a:ext cx="5627951" cy="24708"/>
            <a:chOff x="0" y="0"/>
            <a:chExt cx="7503935" cy="32944"/>
          </a:xfrm>
        </p:grpSpPr>
        <p:sp>
          <p:nvSpPr>
            <p:cNvPr id="55" name="Freeform 55"/>
            <p:cNvSpPr/>
            <p:nvPr/>
          </p:nvSpPr>
          <p:spPr>
            <a:xfrm>
              <a:off x="0" y="0"/>
              <a:ext cx="7503922" cy="32893"/>
            </a:xfrm>
            <a:custGeom>
              <a:avLst/>
              <a:gdLst/>
              <a:ahLst/>
              <a:cxnLst/>
              <a:rect l="l" t="t" r="r" b="b"/>
              <a:pathLst>
                <a:path w="7503922" h="32893">
                  <a:moveTo>
                    <a:pt x="0" y="0"/>
                  </a:moveTo>
                  <a:lnTo>
                    <a:pt x="7503922" y="0"/>
                  </a:lnTo>
                  <a:lnTo>
                    <a:pt x="7503922" y="32893"/>
                  </a:lnTo>
                  <a:lnTo>
                    <a:pt x="0" y="32893"/>
                  </a:lnTo>
                  <a:close/>
                </a:path>
              </a:pathLst>
            </a:custGeom>
            <a:solidFill>
              <a:srgbClr val="D8BE82"/>
            </a:solidFill>
          </p:spPr>
        </p:sp>
      </p:grpSp>
      <p:sp>
        <p:nvSpPr>
          <p:cNvPr id="56" name="TextBox 56"/>
          <p:cNvSpPr txBox="1"/>
          <p:nvPr/>
        </p:nvSpPr>
        <p:spPr>
          <a:xfrm>
            <a:off x="6295920" y="7726242"/>
            <a:ext cx="2562463" cy="4182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 b="1">
                <a:solidFill>
                  <a:srgbClr val="1A1408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Reserve Buffer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9013812" y="7726242"/>
            <a:ext cx="2562463" cy="4182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521"/>
              </a:lnSpc>
            </a:pPr>
            <a:r>
              <a:rPr lang="en-US" sz="2101" b="1">
                <a:solidFill>
                  <a:srgbClr val="7A5C1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AED 45,000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6295920" y="8129635"/>
            <a:ext cx="5239179" cy="3298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8A7A60"/>
                </a:solidFill>
                <a:latin typeface="Calibri (MS)"/>
                <a:ea typeface="Calibri (MS)"/>
                <a:cs typeface="Calibri (MS)"/>
                <a:sym typeface="Calibri (MS)"/>
              </a:rPr>
              <a:t>6-month operations + founder costs</a:t>
            </a:r>
          </a:p>
        </p:txBody>
      </p:sp>
      <p:grpSp>
        <p:nvGrpSpPr>
          <p:cNvPr id="59" name="Group 59"/>
          <p:cNvGrpSpPr/>
          <p:nvPr/>
        </p:nvGrpSpPr>
        <p:grpSpPr>
          <a:xfrm>
            <a:off x="6108392" y="8496843"/>
            <a:ext cx="5627951" cy="24708"/>
            <a:chOff x="0" y="0"/>
            <a:chExt cx="7503935" cy="32944"/>
          </a:xfrm>
        </p:grpSpPr>
        <p:sp>
          <p:nvSpPr>
            <p:cNvPr id="60" name="Freeform 60"/>
            <p:cNvSpPr/>
            <p:nvPr/>
          </p:nvSpPr>
          <p:spPr>
            <a:xfrm>
              <a:off x="0" y="0"/>
              <a:ext cx="7503922" cy="32893"/>
            </a:xfrm>
            <a:custGeom>
              <a:avLst/>
              <a:gdLst/>
              <a:ahLst/>
              <a:cxnLst/>
              <a:rect l="l" t="t" r="r" b="b"/>
              <a:pathLst>
                <a:path w="7503922" h="32893">
                  <a:moveTo>
                    <a:pt x="0" y="0"/>
                  </a:moveTo>
                  <a:lnTo>
                    <a:pt x="7503922" y="0"/>
                  </a:lnTo>
                  <a:lnTo>
                    <a:pt x="7503922" y="32893"/>
                  </a:lnTo>
                  <a:lnTo>
                    <a:pt x="0" y="32893"/>
                  </a:lnTo>
                  <a:close/>
                </a:path>
              </a:pathLst>
            </a:custGeom>
            <a:solidFill>
              <a:srgbClr val="D8BE82"/>
            </a:solidFill>
          </p:spPr>
        </p:sp>
      </p:grpSp>
      <p:grpSp>
        <p:nvGrpSpPr>
          <p:cNvPr id="61" name="Group 61"/>
          <p:cNvGrpSpPr/>
          <p:nvPr/>
        </p:nvGrpSpPr>
        <p:grpSpPr>
          <a:xfrm>
            <a:off x="12250341" y="2298468"/>
            <a:ext cx="5643210" cy="6686436"/>
            <a:chOff x="0" y="0"/>
            <a:chExt cx="7524280" cy="8915248"/>
          </a:xfrm>
        </p:grpSpPr>
        <p:sp>
          <p:nvSpPr>
            <p:cNvPr id="62" name="Freeform 62"/>
            <p:cNvSpPr/>
            <p:nvPr/>
          </p:nvSpPr>
          <p:spPr>
            <a:xfrm>
              <a:off x="0" y="0"/>
              <a:ext cx="7524242" cy="8915273"/>
            </a:xfrm>
            <a:custGeom>
              <a:avLst/>
              <a:gdLst/>
              <a:ahLst/>
              <a:cxnLst/>
              <a:rect l="l" t="t" r="r" b="b"/>
              <a:pathLst>
                <a:path w="7524242" h="8915273">
                  <a:moveTo>
                    <a:pt x="0" y="0"/>
                  </a:moveTo>
                  <a:lnTo>
                    <a:pt x="7524242" y="0"/>
                  </a:lnTo>
                  <a:lnTo>
                    <a:pt x="7524242" y="8915273"/>
                  </a:lnTo>
                  <a:lnTo>
                    <a:pt x="0" y="8915273"/>
                  </a:lnTo>
                  <a:close/>
                </a:path>
              </a:pathLst>
            </a:custGeom>
            <a:solidFill>
              <a:srgbClr val="B89650"/>
            </a:solidFill>
            <a:ln w="15252" cap="sq">
              <a:solidFill>
                <a:srgbClr val="7A5C1E"/>
              </a:solidFill>
              <a:prstDash val="solid"/>
              <a:miter/>
            </a:ln>
          </p:spPr>
        </p:sp>
      </p:grpSp>
      <p:grpSp>
        <p:nvGrpSpPr>
          <p:cNvPr id="63" name="Group 63"/>
          <p:cNvGrpSpPr/>
          <p:nvPr/>
        </p:nvGrpSpPr>
        <p:grpSpPr>
          <a:xfrm>
            <a:off x="12257961" y="2306088"/>
            <a:ext cx="5627951" cy="576520"/>
            <a:chOff x="0" y="0"/>
            <a:chExt cx="7503935" cy="768693"/>
          </a:xfrm>
        </p:grpSpPr>
        <p:sp>
          <p:nvSpPr>
            <p:cNvPr id="64" name="Freeform 64"/>
            <p:cNvSpPr/>
            <p:nvPr/>
          </p:nvSpPr>
          <p:spPr>
            <a:xfrm>
              <a:off x="0" y="0"/>
              <a:ext cx="7503922" cy="768731"/>
            </a:xfrm>
            <a:custGeom>
              <a:avLst/>
              <a:gdLst/>
              <a:ahLst/>
              <a:cxnLst/>
              <a:rect l="l" t="t" r="r" b="b"/>
              <a:pathLst>
                <a:path w="7503922" h="768731">
                  <a:moveTo>
                    <a:pt x="0" y="0"/>
                  </a:moveTo>
                  <a:lnTo>
                    <a:pt x="7503922" y="0"/>
                  </a:lnTo>
                  <a:lnTo>
                    <a:pt x="7503922" y="768731"/>
                  </a:lnTo>
                  <a:lnTo>
                    <a:pt x="0" y="768731"/>
                  </a:lnTo>
                  <a:close/>
                </a:path>
              </a:pathLst>
            </a:custGeom>
            <a:solidFill>
              <a:srgbClr val="5A4210"/>
            </a:solidFill>
          </p:spPr>
        </p:sp>
      </p:grpSp>
      <p:sp>
        <p:nvSpPr>
          <p:cNvPr id="65" name="TextBox 65"/>
          <p:cNvSpPr txBox="1"/>
          <p:nvPr/>
        </p:nvSpPr>
        <p:spPr>
          <a:xfrm>
            <a:off x="12349401" y="2354570"/>
            <a:ext cx="5445071" cy="4182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1"/>
              </a:lnSpc>
            </a:pPr>
            <a:r>
              <a:rPr lang="en-US" sz="2101" b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YOUR RETURN</a:t>
            </a:r>
          </a:p>
        </p:txBody>
      </p:sp>
      <p:sp>
        <p:nvSpPr>
          <p:cNvPr id="66" name="TextBox 66"/>
          <p:cNvSpPr txBox="1"/>
          <p:nvPr/>
        </p:nvSpPr>
        <p:spPr>
          <a:xfrm>
            <a:off x="12445489" y="3138430"/>
            <a:ext cx="5239179" cy="7142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764"/>
              </a:lnSpc>
            </a:pPr>
            <a:r>
              <a:rPr lang="en-US" sz="4803" b="1">
                <a:solidFill>
                  <a:srgbClr val="FFFFFF"/>
                </a:solidFill>
                <a:latin typeface="Garamond Bold"/>
                <a:ea typeface="Garamond Bold"/>
                <a:cs typeface="Garamond Bold"/>
                <a:sym typeface="Garamond Bold"/>
              </a:rPr>
              <a:t>15% Equity</a:t>
            </a:r>
          </a:p>
        </p:txBody>
      </p:sp>
      <p:sp>
        <p:nvSpPr>
          <p:cNvPr id="67" name="TextBox 67"/>
          <p:cNvSpPr txBox="1"/>
          <p:nvPr/>
        </p:nvSpPr>
        <p:spPr>
          <a:xfrm>
            <a:off x="12445489" y="3869026"/>
            <a:ext cx="5239179" cy="4182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1"/>
              </a:lnSpc>
            </a:pPr>
            <a:r>
              <a:rPr lang="en-US" sz="2101" b="1">
                <a:solidFill>
                  <a:srgbClr val="FFF0C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for AED 150,000</a:t>
            </a:r>
          </a:p>
        </p:txBody>
      </p:sp>
      <p:grpSp>
        <p:nvGrpSpPr>
          <p:cNvPr id="68" name="Group 68"/>
          <p:cNvGrpSpPr/>
          <p:nvPr/>
        </p:nvGrpSpPr>
        <p:grpSpPr>
          <a:xfrm>
            <a:off x="12628588" y="4420010"/>
            <a:ext cx="4872990" cy="41177"/>
            <a:chOff x="0" y="0"/>
            <a:chExt cx="6497320" cy="54902"/>
          </a:xfrm>
        </p:grpSpPr>
        <p:sp>
          <p:nvSpPr>
            <p:cNvPr id="69" name="Freeform 69"/>
            <p:cNvSpPr/>
            <p:nvPr/>
          </p:nvSpPr>
          <p:spPr>
            <a:xfrm>
              <a:off x="0" y="0"/>
              <a:ext cx="6497320" cy="54864"/>
            </a:xfrm>
            <a:custGeom>
              <a:avLst/>
              <a:gdLst/>
              <a:ahLst/>
              <a:cxnLst/>
              <a:rect l="l" t="t" r="r" b="b"/>
              <a:pathLst>
                <a:path w="6497320" h="54864">
                  <a:moveTo>
                    <a:pt x="0" y="0"/>
                  </a:moveTo>
                  <a:lnTo>
                    <a:pt x="6497320" y="0"/>
                  </a:lnTo>
                  <a:lnTo>
                    <a:pt x="6497320" y="54864"/>
                  </a:lnTo>
                  <a:lnTo>
                    <a:pt x="0" y="54864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70" name="TextBox 70"/>
          <p:cNvSpPr txBox="1"/>
          <p:nvPr/>
        </p:nvSpPr>
        <p:spPr>
          <a:xfrm>
            <a:off x="12445489" y="4578620"/>
            <a:ext cx="5239179" cy="3310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01"/>
              </a:lnSpc>
            </a:pPr>
            <a:r>
              <a:rPr lang="en-US" sz="1501" b="1">
                <a:solidFill>
                  <a:srgbClr val="FFE8A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PROJECTED RETURNS</a:t>
            </a:r>
          </a:p>
        </p:txBody>
      </p:sp>
      <p:sp>
        <p:nvSpPr>
          <p:cNvPr id="71" name="TextBox 71"/>
          <p:cNvSpPr txBox="1"/>
          <p:nvPr/>
        </p:nvSpPr>
        <p:spPr>
          <a:xfrm>
            <a:off x="12514126" y="5059051"/>
            <a:ext cx="983894" cy="3624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 b="1">
                <a:solidFill>
                  <a:srgbClr val="FFE8A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Year 1</a:t>
            </a:r>
          </a:p>
        </p:txBody>
      </p:sp>
      <p:sp>
        <p:nvSpPr>
          <p:cNvPr id="72" name="TextBox 72"/>
          <p:cNvSpPr txBox="1"/>
          <p:nvPr/>
        </p:nvSpPr>
        <p:spPr>
          <a:xfrm>
            <a:off x="13653440" y="5059051"/>
            <a:ext cx="1738865" cy="3624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AED 500K GMV</a:t>
            </a:r>
          </a:p>
        </p:txBody>
      </p:sp>
      <p:sp>
        <p:nvSpPr>
          <p:cNvPr id="73" name="TextBox 73"/>
          <p:cNvSpPr txBox="1"/>
          <p:nvPr/>
        </p:nvSpPr>
        <p:spPr>
          <a:xfrm>
            <a:off x="15534008" y="5059051"/>
            <a:ext cx="2082032" cy="3624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161"/>
              </a:lnSpc>
            </a:pPr>
            <a:r>
              <a:rPr lang="en-US" sz="1801" b="1">
                <a:solidFill>
                  <a:srgbClr val="FFE8A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~AED 60K to you</a:t>
            </a:r>
          </a:p>
        </p:txBody>
      </p:sp>
      <p:grpSp>
        <p:nvGrpSpPr>
          <p:cNvPr id="74" name="Group 74"/>
          <p:cNvGrpSpPr/>
          <p:nvPr/>
        </p:nvGrpSpPr>
        <p:grpSpPr>
          <a:xfrm>
            <a:off x="12422686" y="5573049"/>
            <a:ext cx="5147520" cy="24708"/>
            <a:chOff x="0" y="0"/>
            <a:chExt cx="6863359" cy="32944"/>
          </a:xfrm>
        </p:grpSpPr>
        <p:sp>
          <p:nvSpPr>
            <p:cNvPr id="75" name="Freeform 75"/>
            <p:cNvSpPr/>
            <p:nvPr/>
          </p:nvSpPr>
          <p:spPr>
            <a:xfrm>
              <a:off x="0" y="0"/>
              <a:ext cx="6863334" cy="32893"/>
            </a:xfrm>
            <a:custGeom>
              <a:avLst/>
              <a:gdLst/>
              <a:ahLst/>
              <a:cxnLst/>
              <a:rect l="l" t="t" r="r" b="b"/>
              <a:pathLst>
                <a:path w="6863334" h="32893">
                  <a:moveTo>
                    <a:pt x="0" y="0"/>
                  </a:moveTo>
                  <a:lnTo>
                    <a:pt x="6863334" y="0"/>
                  </a:lnTo>
                  <a:lnTo>
                    <a:pt x="6863334" y="32893"/>
                  </a:lnTo>
                  <a:lnTo>
                    <a:pt x="0" y="3289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76" name="TextBox 76"/>
          <p:cNvSpPr txBox="1"/>
          <p:nvPr/>
        </p:nvSpPr>
        <p:spPr>
          <a:xfrm>
            <a:off x="12514126" y="5827747"/>
            <a:ext cx="983894" cy="3624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 b="1">
                <a:solidFill>
                  <a:srgbClr val="FFE8A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Year 2</a:t>
            </a:r>
          </a:p>
        </p:txBody>
      </p:sp>
      <p:sp>
        <p:nvSpPr>
          <p:cNvPr id="77" name="TextBox 77"/>
          <p:cNvSpPr txBox="1"/>
          <p:nvPr/>
        </p:nvSpPr>
        <p:spPr>
          <a:xfrm>
            <a:off x="13653440" y="5827747"/>
            <a:ext cx="1738865" cy="3624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AED 2M GMV</a:t>
            </a:r>
          </a:p>
        </p:txBody>
      </p:sp>
      <p:sp>
        <p:nvSpPr>
          <p:cNvPr id="78" name="TextBox 78"/>
          <p:cNvSpPr txBox="1"/>
          <p:nvPr/>
        </p:nvSpPr>
        <p:spPr>
          <a:xfrm>
            <a:off x="15534008" y="5827747"/>
            <a:ext cx="2082032" cy="3624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161"/>
              </a:lnSpc>
            </a:pPr>
            <a:r>
              <a:rPr lang="en-US" sz="1801" b="1">
                <a:solidFill>
                  <a:srgbClr val="FFE8A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~AED 240K to you</a:t>
            </a:r>
          </a:p>
        </p:txBody>
      </p:sp>
      <p:grpSp>
        <p:nvGrpSpPr>
          <p:cNvPr id="79" name="Group 79"/>
          <p:cNvGrpSpPr/>
          <p:nvPr/>
        </p:nvGrpSpPr>
        <p:grpSpPr>
          <a:xfrm>
            <a:off x="12422686" y="6341745"/>
            <a:ext cx="5147520" cy="24708"/>
            <a:chOff x="0" y="0"/>
            <a:chExt cx="6863359" cy="32944"/>
          </a:xfrm>
        </p:grpSpPr>
        <p:sp>
          <p:nvSpPr>
            <p:cNvPr id="80" name="Freeform 80"/>
            <p:cNvSpPr/>
            <p:nvPr/>
          </p:nvSpPr>
          <p:spPr>
            <a:xfrm>
              <a:off x="0" y="0"/>
              <a:ext cx="6863334" cy="32893"/>
            </a:xfrm>
            <a:custGeom>
              <a:avLst/>
              <a:gdLst/>
              <a:ahLst/>
              <a:cxnLst/>
              <a:rect l="l" t="t" r="r" b="b"/>
              <a:pathLst>
                <a:path w="6863334" h="32893">
                  <a:moveTo>
                    <a:pt x="0" y="0"/>
                  </a:moveTo>
                  <a:lnTo>
                    <a:pt x="6863334" y="0"/>
                  </a:lnTo>
                  <a:lnTo>
                    <a:pt x="6863334" y="32893"/>
                  </a:lnTo>
                  <a:lnTo>
                    <a:pt x="0" y="3289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81" name="TextBox 81"/>
          <p:cNvSpPr txBox="1"/>
          <p:nvPr/>
        </p:nvSpPr>
        <p:spPr>
          <a:xfrm>
            <a:off x="12514126" y="6596444"/>
            <a:ext cx="983894" cy="3624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 b="1">
                <a:solidFill>
                  <a:srgbClr val="FFE8A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Year 3</a:t>
            </a:r>
          </a:p>
        </p:txBody>
      </p:sp>
      <p:sp>
        <p:nvSpPr>
          <p:cNvPr id="82" name="TextBox 82"/>
          <p:cNvSpPr txBox="1"/>
          <p:nvPr/>
        </p:nvSpPr>
        <p:spPr>
          <a:xfrm>
            <a:off x="13653440" y="6596444"/>
            <a:ext cx="1738865" cy="3624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AED 5M GMV</a:t>
            </a:r>
          </a:p>
        </p:txBody>
      </p:sp>
      <p:sp>
        <p:nvSpPr>
          <p:cNvPr id="83" name="TextBox 83"/>
          <p:cNvSpPr txBox="1"/>
          <p:nvPr/>
        </p:nvSpPr>
        <p:spPr>
          <a:xfrm>
            <a:off x="15534008" y="6596444"/>
            <a:ext cx="2082032" cy="3624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161"/>
              </a:lnSpc>
            </a:pPr>
            <a:r>
              <a:rPr lang="en-US" sz="1801" b="1">
                <a:solidFill>
                  <a:srgbClr val="FFE8A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~AED 600K to you</a:t>
            </a:r>
          </a:p>
        </p:txBody>
      </p:sp>
      <p:grpSp>
        <p:nvGrpSpPr>
          <p:cNvPr id="84" name="Group 84"/>
          <p:cNvGrpSpPr/>
          <p:nvPr/>
        </p:nvGrpSpPr>
        <p:grpSpPr>
          <a:xfrm>
            <a:off x="12422686" y="7110441"/>
            <a:ext cx="5147520" cy="24708"/>
            <a:chOff x="0" y="0"/>
            <a:chExt cx="6863359" cy="32944"/>
          </a:xfrm>
        </p:grpSpPr>
        <p:sp>
          <p:nvSpPr>
            <p:cNvPr id="85" name="Freeform 85"/>
            <p:cNvSpPr/>
            <p:nvPr/>
          </p:nvSpPr>
          <p:spPr>
            <a:xfrm>
              <a:off x="0" y="0"/>
              <a:ext cx="6863334" cy="32893"/>
            </a:xfrm>
            <a:custGeom>
              <a:avLst/>
              <a:gdLst/>
              <a:ahLst/>
              <a:cxnLst/>
              <a:rect l="l" t="t" r="r" b="b"/>
              <a:pathLst>
                <a:path w="6863334" h="32893">
                  <a:moveTo>
                    <a:pt x="0" y="0"/>
                  </a:moveTo>
                  <a:lnTo>
                    <a:pt x="6863334" y="0"/>
                  </a:lnTo>
                  <a:lnTo>
                    <a:pt x="6863334" y="32893"/>
                  </a:lnTo>
                  <a:lnTo>
                    <a:pt x="0" y="3289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86" name="Group 86"/>
          <p:cNvGrpSpPr/>
          <p:nvPr/>
        </p:nvGrpSpPr>
        <p:grpSpPr>
          <a:xfrm>
            <a:off x="12628588" y="7494794"/>
            <a:ext cx="4872990" cy="41177"/>
            <a:chOff x="0" y="0"/>
            <a:chExt cx="6497320" cy="54902"/>
          </a:xfrm>
        </p:grpSpPr>
        <p:sp>
          <p:nvSpPr>
            <p:cNvPr id="87" name="Freeform 87"/>
            <p:cNvSpPr/>
            <p:nvPr/>
          </p:nvSpPr>
          <p:spPr>
            <a:xfrm>
              <a:off x="0" y="0"/>
              <a:ext cx="6497320" cy="54864"/>
            </a:xfrm>
            <a:custGeom>
              <a:avLst/>
              <a:gdLst/>
              <a:ahLst/>
              <a:cxnLst/>
              <a:rect l="l" t="t" r="r" b="b"/>
              <a:pathLst>
                <a:path w="6497320" h="54864">
                  <a:moveTo>
                    <a:pt x="0" y="0"/>
                  </a:moveTo>
                  <a:lnTo>
                    <a:pt x="6497320" y="0"/>
                  </a:lnTo>
                  <a:lnTo>
                    <a:pt x="6497320" y="54864"/>
                  </a:lnTo>
                  <a:lnTo>
                    <a:pt x="0" y="54864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88" name="TextBox 88"/>
          <p:cNvSpPr txBox="1"/>
          <p:nvPr/>
        </p:nvSpPr>
        <p:spPr>
          <a:xfrm>
            <a:off x="12445489" y="7630154"/>
            <a:ext cx="5239179" cy="10650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1"/>
              </a:lnSpc>
            </a:pPr>
            <a:r>
              <a:rPr lang="en-US" sz="2101" b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Year 1: recover costs</a:t>
            </a:r>
          </a:p>
          <a:p>
            <a:pPr algn="ctr">
              <a:lnSpc>
                <a:spcPts val="2521"/>
              </a:lnSpc>
            </a:pPr>
            <a:r>
              <a:rPr lang="en-US" sz="2101" b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Year 2: double your money</a:t>
            </a:r>
          </a:p>
          <a:p>
            <a:pPr algn="ctr">
              <a:lnSpc>
                <a:spcPts val="2521"/>
              </a:lnSpc>
            </a:pPr>
            <a:r>
              <a:rPr lang="en-US" sz="2101" b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Year 3: 4x your investment</a:t>
            </a:r>
          </a:p>
        </p:txBody>
      </p:sp>
      <p:sp>
        <p:nvSpPr>
          <p:cNvPr id="89" name="TextBox 89"/>
          <p:cNvSpPr txBox="1"/>
          <p:nvPr/>
        </p:nvSpPr>
        <p:spPr>
          <a:xfrm>
            <a:off x="503244" y="9120540"/>
            <a:ext cx="17250061" cy="426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82"/>
              </a:lnSpc>
            </a:pPr>
            <a:r>
              <a:rPr lang="en-US" sz="2401" b="1">
                <a:solidFill>
                  <a:srgbClr val="7A5C1E"/>
                </a:solidFill>
                <a:latin typeface="Garamond Bold"/>
                <a:ea typeface="Garamond Bold"/>
                <a:cs typeface="Garamond Bold"/>
                <a:sym typeface="Garamond Bold"/>
              </a:rPr>
              <a:t>"5 million Sudanese. Zero competitors. A founder who is one of them. AED 150,000 today, for a platform no one else is building."</a:t>
            </a:r>
          </a:p>
        </p:txBody>
      </p:sp>
      <p:grpSp>
        <p:nvGrpSpPr>
          <p:cNvPr id="90" name="Group 90"/>
          <p:cNvGrpSpPr/>
          <p:nvPr/>
        </p:nvGrpSpPr>
        <p:grpSpPr>
          <a:xfrm>
            <a:off x="54907" y="9602988"/>
            <a:ext cx="18233093" cy="679516"/>
            <a:chOff x="0" y="0"/>
            <a:chExt cx="24310791" cy="906022"/>
          </a:xfrm>
        </p:grpSpPr>
        <p:sp>
          <p:nvSpPr>
            <p:cNvPr id="91" name="Freeform 91"/>
            <p:cNvSpPr/>
            <p:nvPr/>
          </p:nvSpPr>
          <p:spPr>
            <a:xfrm>
              <a:off x="0" y="0"/>
              <a:ext cx="24310766" cy="906060"/>
            </a:xfrm>
            <a:custGeom>
              <a:avLst/>
              <a:gdLst/>
              <a:ahLst/>
              <a:cxnLst/>
              <a:rect l="l" t="t" r="r" b="b"/>
              <a:pathLst>
                <a:path w="24310766" h="906060">
                  <a:moveTo>
                    <a:pt x="0" y="0"/>
                  </a:moveTo>
                  <a:lnTo>
                    <a:pt x="24310766" y="0"/>
                  </a:lnTo>
                  <a:lnTo>
                    <a:pt x="24310766" y="906060"/>
                  </a:lnTo>
                  <a:lnTo>
                    <a:pt x="0" y="906060"/>
                  </a:lnTo>
                  <a:close/>
                </a:path>
              </a:pathLst>
            </a:custGeom>
            <a:solidFill>
              <a:srgbClr val="B89650"/>
            </a:solidFill>
          </p:spPr>
        </p:sp>
        <p:sp>
          <p:nvSpPr>
            <p:cNvPr id="92" name="TextBox 92"/>
            <p:cNvSpPr txBox="1"/>
            <p:nvPr/>
          </p:nvSpPr>
          <p:spPr>
            <a:xfrm>
              <a:off x="0" y="-19050"/>
              <a:ext cx="24310791" cy="9250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01"/>
                </a:lnSpc>
              </a:pPr>
              <a:r>
                <a:rPr lang="en-US" sz="3001" b="1" i="1">
                  <a:solidFill>
                    <a:srgbClr val="FFFFFF"/>
                  </a:solidFill>
                  <a:latin typeface="Garamond Bold Italics"/>
                  <a:ea typeface="Garamond Bold Italics"/>
                  <a:cs typeface="Garamond Bold Italics"/>
                  <a:sym typeface="Garamond Bold Italics"/>
                </a:rPr>
                <a:t>249Souq.com						The taste of home, wherever you are		</a:t>
              </a:r>
              <a:r>
                <a:rPr lang="ar-EG" sz="3001" b="1" i="1">
                  <a:solidFill>
                    <a:srgbClr val="FFFFFF"/>
                  </a:solidFill>
                  <a:latin typeface="Garamond Bold Italics"/>
                  <a:ea typeface="Garamond Bold Italics"/>
                  <a:cs typeface="Garamond Bold Italics"/>
                  <a:sym typeface="Garamond Bold Italics"/>
                  <a:rtl/>
                </a:rPr>
                <a:t>طعم البيت، وين ما مشيت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:fade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9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09814" cy="10295039"/>
            <a:chOff x="0" y="0"/>
            <a:chExt cx="146418" cy="1372671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46431" cy="13726668"/>
            </a:xfrm>
            <a:custGeom>
              <a:avLst/>
              <a:gdLst/>
              <a:ahLst/>
              <a:cxnLst/>
              <a:rect l="l" t="t" r="r" b="b"/>
              <a:pathLst>
                <a:path w="146431" h="13726668">
                  <a:moveTo>
                    <a:pt x="0" y="0"/>
                  </a:moveTo>
                  <a:lnTo>
                    <a:pt x="146431" y="0"/>
                  </a:lnTo>
                  <a:lnTo>
                    <a:pt x="146431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B89650"/>
            </a:solidFill>
          </p:spPr>
        </p:sp>
      </p:grpSp>
      <p:sp>
        <p:nvSpPr>
          <p:cNvPr id="4" name="Freeform 4"/>
          <p:cNvSpPr/>
          <p:nvPr/>
        </p:nvSpPr>
        <p:spPr>
          <a:xfrm>
            <a:off x="5768597" y="0"/>
            <a:ext cx="12519403" cy="10287000"/>
          </a:xfrm>
          <a:custGeom>
            <a:avLst/>
            <a:gdLst/>
            <a:ahLst/>
            <a:cxnLst/>
            <a:rect l="l" t="t" r="r" b="b"/>
            <a:pathLst>
              <a:path w="12519403" h="10287000">
                <a:moveTo>
                  <a:pt x="0" y="0"/>
                </a:moveTo>
                <a:lnTo>
                  <a:pt x="12519403" y="0"/>
                </a:lnTo>
                <a:lnTo>
                  <a:pt x="12519403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6077" t="-26" b="-26"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89221" y="9516019"/>
            <a:ext cx="18187911" cy="779020"/>
            <a:chOff x="0" y="0"/>
            <a:chExt cx="24250548" cy="103869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4250523" cy="1038731"/>
            </a:xfrm>
            <a:custGeom>
              <a:avLst/>
              <a:gdLst/>
              <a:ahLst/>
              <a:cxnLst/>
              <a:rect l="l" t="t" r="r" b="b"/>
              <a:pathLst>
                <a:path w="24250523" h="1038731">
                  <a:moveTo>
                    <a:pt x="0" y="0"/>
                  </a:moveTo>
                  <a:lnTo>
                    <a:pt x="24250523" y="0"/>
                  </a:lnTo>
                  <a:lnTo>
                    <a:pt x="24250523" y="1038731"/>
                  </a:lnTo>
                  <a:lnTo>
                    <a:pt x="0" y="1038731"/>
                  </a:lnTo>
                  <a:close/>
                </a:path>
              </a:pathLst>
            </a:custGeom>
            <a:solidFill>
              <a:srgbClr val="B89650"/>
            </a:solidFill>
          </p:spPr>
        </p:sp>
      </p:grpSp>
      <p:grpSp>
        <p:nvGrpSpPr>
          <p:cNvPr id="7" name="Group 7"/>
          <p:cNvGrpSpPr/>
          <p:nvPr/>
        </p:nvGrpSpPr>
        <p:grpSpPr>
          <a:xfrm>
            <a:off x="54907" y="0"/>
            <a:ext cx="5743496" cy="10295039"/>
            <a:chOff x="0" y="0"/>
            <a:chExt cx="16600663" cy="29756177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6600664" cy="29756178"/>
            </a:xfrm>
            <a:custGeom>
              <a:avLst/>
              <a:gdLst/>
              <a:ahLst/>
              <a:cxnLst/>
              <a:rect l="l" t="t" r="r" b="b"/>
              <a:pathLst>
                <a:path w="16600664" h="29756178">
                  <a:moveTo>
                    <a:pt x="16600664" y="498428"/>
                  </a:moveTo>
                  <a:lnTo>
                    <a:pt x="16600664" y="29257749"/>
                  </a:lnTo>
                  <a:cubicBezTo>
                    <a:pt x="16600664" y="29533131"/>
                    <a:pt x="16422515" y="29756178"/>
                    <a:pt x="16202566" y="29756178"/>
                  </a:cubicBezTo>
                  <a:lnTo>
                    <a:pt x="398097" y="29756178"/>
                  </a:lnTo>
                  <a:cubicBezTo>
                    <a:pt x="178149" y="29756178"/>
                    <a:pt x="0" y="29533131"/>
                    <a:pt x="0" y="29257749"/>
                  </a:cubicBezTo>
                  <a:lnTo>
                    <a:pt x="0" y="498428"/>
                  </a:lnTo>
                  <a:cubicBezTo>
                    <a:pt x="0" y="223047"/>
                    <a:pt x="178149" y="0"/>
                    <a:pt x="398097" y="0"/>
                  </a:cubicBezTo>
                  <a:lnTo>
                    <a:pt x="16202566" y="0"/>
                  </a:lnTo>
                  <a:cubicBezTo>
                    <a:pt x="16422515" y="0"/>
                    <a:pt x="16600664" y="223047"/>
                    <a:pt x="16600664" y="498428"/>
                  </a:cubicBezTo>
                  <a:close/>
                </a:path>
              </a:pathLst>
            </a:custGeom>
            <a:blipFill>
              <a:blip r:embed="rId2">
                <a:alphaModFix amt="19999"/>
              </a:blip>
              <a:stretch>
                <a:fillRect l="-1762" r="-217285"/>
              </a:stretch>
            </a:blipFill>
          </p:spPr>
        </p:sp>
      </p:grpSp>
      <p:grpSp>
        <p:nvGrpSpPr>
          <p:cNvPr id="9" name="Group 9"/>
          <p:cNvGrpSpPr/>
          <p:nvPr/>
        </p:nvGrpSpPr>
        <p:grpSpPr>
          <a:xfrm>
            <a:off x="3979155" y="0"/>
            <a:ext cx="1819248" cy="3168936"/>
            <a:chOff x="0" y="0"/>
            <a:chExt cx="1958340" cy="341122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958340" cy="3411220"/>
            </a:xfrm>
            <a:custGeom>
              <a:avLst/>
              <a:gdLst/>
              <a:ahLst/>
              <a:cxnLst/>
              <a:rect l="l" t="t" r="r" b="b"/>
              <a:pathLst>
                <a:path w="1958340" h="3411220">
                  <a:moveTo>
                    <a:pt x="999490" y="2647950"/>
                  </a:moveTo>
                  <a:cubicBezTo>
                    <a:pt x="1065530" y="2567940"/>
                    <a:pt x="1136650" y="2482850"/>
                    <a:pt x="1214120" y="2392680"/>
                  </a:cubicBezTo>
                  <a:cubicBezTo>
                    <a:pt x="1292860" y="2299970"/>
                    <a:pt x="1375410" y="2199640"/>
                    <a:pt x="1459230" y="2092960"/>
                  </a:cubicBezTo>
                  <a:cubicBezTo>
                    <a:pt x="1545590" y="1983740"/>
                    <a:pt x="1624330" y="1868170"/>
                    <a:pt x="1695450" y="1746250"/>
                  </a:cubicBezTo>
                  <a:cubicBezTo>
                    <a:pt x="1767840" y="1623060"/>
                    <a:pt x="1827530" y="1492250"/>
                    <a:pt x="1873250" y="1357630"/>
                  </a:cubicBezTo>
                  <a:cubicBezTo>
                    <a:pt x="1921510" y="1219200"/>
                    <a:pt x="1945640" y="1071880"/>
                    <a:pt x="1945640" y="922020"/>
                  </a:cubicBezTo>
                  <a:cubicBezTo>
                    <a:pt x="1945640" y="764540"/>
                    <a:pt x="1921510" y="624840"/>
                    <a:pt x="1873250" y="509270"/>
                  </a:cubicBezTo>
                  <a:cubicBezTo>
                    <a:pt x="1824990" y="392430"/>
                    <a:pt x="1756410" y="293370"/>
                    <a:pt x="1671320" y="217170"/>
                  </a:cubicBezTo>
                  <a:cubicBezTo>
                    <a:pt x="1586230" y="143510"/>
                    <a:pt x="1485900" y="87630"/>
                    <a:pt x="1371600" y="52070"/>
                  </a:cubicBezTo>
                  <a:cubicBezTo>
                    <a:pt x="1261110" y="17780"/>
                    <a:pt x="1144270" y="0"/>
                    <a:pt x="1021080" y="0"/>
                  </a:cubicBezTo>
                  <a:cubicBezTo>
                    <a:pt x="891540" y="0"/>
                    <a:pt x="765810" y="20320"/>
                    <a:pt x="647700" y="59690"/>
                  </a:cubicBezTo>
                  <a:cubicBezTo>
                    <a:pt x="527050" y="100330"/>
                    <a:pt x="417830" y="165100"/>
                    <a:pt x="325120" y="252730"/>
                  </a:cubicBezTo>
                  <a:cubicBezTo>
                    <a:pt x="232410" y="340360"/>
                    <a:pt x="158750" y="453390"/>
                    <a:pt x="105410" y="586740"/>
                  </a:cubicBezTo>
                  <a:cubicBezTo>
                    <a:pt x="52070" y="720090"/>
                    <a:pt x="25400" y="878840"/>
                    <a:pt x="25400" y="1060450"/>
                  </a:cubicBezTo>
                  <a:cubicBezTo>
                    <a:pt x="25400" y="1122680"/>
                    <a:pt x="27940" y="1169670"/>
                    <a:pt x="33020" y="1206500"/>
                  </a:cubicBezTo>
                  <a:cubicBezTo>
                    <a:pt x="34290" y="1226820"/>
                    <a:pt x="36830" y="1247140"/>
                    <a:pt x="40640" y="1264920"/>
                  </a:cubicBezTo>
                  <a:lnTo>
                    <a:pt x="57150" y="1352550"/>
                  </a:lnTo>
                  <a:lnTo>
                    <a:pt x="800100" y="1352550"/>
                  </a:lnTo>
                  <a:lnTo>
                    <a:pt x="800100" y="1055370"/>
                  </a:lnTo>
                  <a:cubicBezTo>
                    <a:pt x="800100" y="998220"/>
                    <a:pt x="805180" y="943610"/>
                    <a:pt x="814070" y="892810"/>
                  </a:cubicBezTo>
                  <a:cubicBezTo>
                    <a:pt x="822960" y="847090"/>
                    <a:pt x="836930" y="807720"/>
                    <a:pt x="854710" y="774700"/>
                  </a:cubicBezTo>
                  <a:cubicBezTo>
                    <a:pt x="871220" y="745490"/>
                    <a:pt x="891540" y="723900"/>
                    <a:pt x="915670" y="707390"/>
                  </a:cubicBezTo>
                  <a:cubicBezTo>
                    <a:pt x="937260" y="693420"/>
                    <a:pt x="962660" y="687070"/>
                    <a:pt x="996950" y="687070"/>
                  </a:cubicBezTo>
                  <a:cubicBezTo>
                    <a:pt x="1031240" y="687070"/>
                    <a:pt x="1059180" y="693420"/>
                    <a:pt x="1078230" y="703580"/>
                  </a:cubicBezTo>
                  <a:cubicBezTo>
                    <a:pt x="1099820" y="716280"/>
                    <a:pt x="1116330" y="731520"/>
                    <a:pt x="1127760" y="750570"/>
                  </a:cubicBezTo>
                  <a:cubicBezTo>
                    <a:pt x="1141730" y="773430"/>
                    <a:pt x="1151890" y="798830"/>
                    <a:pt x="1158240" y="825500"/>
                  </a:cubicBezTo>
                  <a:cubicBezTo>
                    <a:pt x="1165860" y="857250"/>
                    <a:pt x="1168400" y="887730"/>
                    <a:pt x="1168400" y="916940"/>
                  </a:cubicBezTo>
                  <a:cubicBezTo>
                    <a:pt x="1168400" y="1010920"/>
                    <a:pt x="1153160" y="1102360"/>
                    <a:pt x="1123950" y="1184910"/>
                  </a:cubicBezTo>
                  <a:cubicBezTo>
                    <a:pt x="1093470" y="1272540"/>
                    <a:pt x="1052830" y="1357630"/>
                    <a:pt x="1002030" y="1440180"/>
                  </a:cubicBezTo>
                  <a:cubicBezTo>
                    <a:pt x="952500" y="1526540"/>
                    <a:pt x="892810" y="1609090"/>
                    <a:pt x="825500" y="1689100"/>
                  </a:cubicBezTo>
                  <a:cubicBezTo>
                    <a:pt x="756920" y="1771650"/>
                    <a:pt x="684530" y="1856740"/>
                    <a:pt x="612140" y="1939290"/>
                  </a:cubicBezTo>
                  <a:cubicBezTo>
                    <a:pt x="537210" y="2024380"/>
                    <a:pt x="463550" y="2113280"/>
                    <a:pt x="393700" y="2200910"/>
                  </a:cubicBezTo>
                  <a:cubicBezTo>
                    <a:pt x="320040" y="2292350"/>
                    <a:pt x="254000" y="2390140"/>
                    <a:pt x="196850" y="2490470"/>
                  </a:cubicBezTo>
                  <a:cubicBezTo>
                    <a:pt x="138430" y="2593340"/>
                    <a:pt x="90170" y="2702560"/>
                    <a:pt x="55880" y="2816860"/>
                  </a:cubicBezTo>
                  <a:cubicBezTo>
                    <a:pt x="19050" y="2934970"/>
                    <a:pt x="0" y="3061970"/>
                    <a:pt x="0" y="3194050"/>
                  </a:cubicBezTo>
                  <a:lnTo>
                    <a:pt x="0" y="3411220"/>
                  </a:lnTo>
                  <a:lnTo>
                    <a:pt x="1958340" y="3411220"/>
                  </a:lnTo>
                  <a:lnTo>
                    <a:pt x="1958340" y="2683510"/>
                  </a:lnTo>
                  <a:lnTo>
                    <a:pt x="971550" y="2683510"/>
                  </a:lnTo>
                  <a:cubicBezTo>
                    <a:pt x="980440" y="2672080"/>
                    <a:pt x="989330" y="2660650"/>
                    <a:pt x="999490" y="2647950"/>
                  </a:cubicBezTo>
                  <a:close/>
                </a:path>
              </a:pathLst>
            </a:custGeom>
            <a:blipFill>
              <a:blip r:embed="rId2"/>
              <a:stretch>
                <a:fillRect l="-217222" r="-687382" b="-224018"/>
              </a:stretch>
            </a:blipFill>
          </p:spPr>
        </p:sp>
      </p:grpSp>
      <p:grpSp>
        <p:nvGrpSpPr>
          <p:cNvPr id="11" name="Group 11"/>
          <p:cNvGrpSpPr/>
          <p:nvPr/>
        </p:nvGrpSpPr>
        <p:grpSpPr>
          <a:xfrm>
            <a:off x="3795107" y="3563051"/>
            <a:ext cx="2003296" cy="3168936"/>
            <a:chOff x="0" y="0"/>
            <a:chExt cx="2156460" cy="341122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156460" cy="3412490"/>
            </a:xfrm>
            <a:custGeom>
              <a:avLst/>
              <a:gdLst/>
              <a:ahLst/>
              <a:cxnLst/>
              <a:rect l="l" t="t" r="r" b="b"/>
              <a:pathLst>
                <a:path w="2156460" h="3412490">
                  <a:moveTo>
                    <a:pt x="1846580" y="467360"/>
                  </a:moveTo>
                  <a:lnTo>
                    <a:pt x="1431290" y="467360"/>
                  </a:lnTo>
                  <a:cubicBezTo>
                    <a:pt x="1464310" y="353060"/>
                    <a:pt x="1493520" y="240030"/>
                    <a:pt x="1515110" y="129540"/>
                  </a:cubicBezTo>
                  <a:lnTo>
                    <a:pt x="1540510" y="0"/>
                  </a:lnTo>
                  <a:lnTo>
                    <a:pt x="793750" y="0"/>
                  </a:lnTo>
                  <a:lnTo>
                    <a:pt x="773430" y="81280"/>
                  </a:lnTo>
                  <a:cubicBezTo>
                    <a:pt x="728980" y="252730"/>
                    <a:pt x="679450" y="430530"/>
                    <a:pt x="623570" y="608330"/>
                  </a:cubicBezTo>
                  <a:cubicBezTo>
                    <a:pt x="568960" y="784860"/>
                    <a:pt x="509270" y="963930"/>
                    <a:pt x="444500" y="1137920"/>
                  </a:cubicBezTo>
                  <a:cubicBezTo>
                    <a:pt x="381000" y="1311910"/>
                    <a:pt x="311150" y="1482090"/>
                    <a:pt x="238760" y="1645920"/>
                  </a:cubicBezTo>
                  <a:cubicBezTo>
                    <a:pt x="166370" y="1808480"/>
                    <a:pt x="91440" y="1962150"/>
                    <a:pt x="12700" y="2103120"/>
                  </a:cubicBezTo>
                  <a:lnTo>
                    <a:pt x="0" y="2127250"/>
                  </a:lnTo>
                  <a:lnTo>
                    <a:pt x="0" y="2703830"/>
                  </a:lnTo>
                  <a:lnTo>
                    <a:pt x="1097280" y="2703830"/>
                  </a:lnTo>
                  <a:lnTo>
                    <a:pt x="1097280" y="3412490"/>
                  </a:lnTo>
                  <a:lnTo>
                    <a:pt x="1846580" y="3412490"/>
                  </a:lnTo>
                  <a:lnTo>
                    <a:pt x="1846580" y="2703830"/>
                  </a:lnTo>
                  <a:lnTo>
                    <a:pt x="2156460" y="2703830"/>
                  </a:lnTo>
                  <a:lnTo>
                    <a:pt x="2156460" y="2025650"/>
                  </a:lnTo>
                  <a:lnTo>
                    <a:pt x="1846580" y="2025650"/>
                  </a:lnTo>
                  <a:lnTo>
                    <a:pt x="1846580" y="467360"/>
                  </a:lnTo>
                  <a:close/>
                  <a:moveTo>
                    <a:pt x="1343660" y="746760"/>
                  </a:moveTo>
                  <a:cubicBezTo>
                    <a:pt x="1323340" y="817880"/>
                    <a:pt x="1299210" y="891540"/>
                    <a:pt x="1272540" y="967740"/>
                  </a:cubicBezTo>
                  <a:cubicBezTo>
                    <a:pt x="1245870" y="1042670"/>
                    <a:pt x="1219200" y="1116330"/>
                    <a:pt x="1191260" y="1187450"/>
                  </a:cubicBezTo>
                  <a:cubicBezTo>
                    <a:pt x="1163320" y="1257300"/>
                    <a:pt x="1135380" y="1322070"/>
                    <a:pt x="1107440" y="1379220"/>
                  </a:cubicBezTo>
                  <a:lnTo>
                    <a:pt x="1096010" y="1402080"/>
                  </a:lnTo>
                  <a:lnTo>
                    <a:pt x="1096010" y="2024380"/>
                  </a:lnTo>
                  <a:lnTo>
                    <a:pt x="762000" y="2024380"/>
                  </a:lnTo>
                  <a:cubicBezTo>
                    <a:pt x="765810" y="2018030"/>
                    <a:pt x="768350" y="2012950"/>
                    <a:pt x="772160" y="2006600"/>
                  </a:cubicBezTo>
                  <a:cubicBezTo>
                    <a:pt x="817880" y="1926590"/>
                    <a:pt x="867410" y="1833880"/>
                    <a:pt x="920750" y="1728470"/>
                  </a:cubicBezTo>
                  <a:cubicBezTo>
                    <a:pt x="974090" y="1624330"/>
                    <a:pt x="1029970" y="1506220"/>
                    <a:pt x="1087120" y="1379220"/>
                  </a:cubicBezTo>
                  <a:cubicBezTo>
                    <a:pt x="1144270" y="1252220"/>
                    <a:pt x="1200150" y="1118870"/>
                    <a:pt x="1254760" y="980440"/>
                  </a:cubicBezTo>
                  <a:cubicBezTo>
                    <a:pt x="1294130" y="880110"/>
                    <a:pt x="1329690" y="778510"/>
                    <a:pt x="1365250" y="675640"/>
                  </a:cubicBezTo>
                  <a:cubicBezTo>
                    <a:pt x="1358900" y="697230"/>
                    <a:pt x="1351280" y="721360"/>
                    <a:pt x="1343660" y="746760"/>
                  </a:cubicBezTo>
                  <a:close/>
                </a:path>
              </a:pathLst>
            </a:custGeom>
            <a:blipFill>
              <a:blip r:embed="rId2"/>
              <a:stretch>
                <a:fillRect l="-188478" t="-112433" r="-623495" b="-111345"/>
              </a:stretch>
            </a:blipFill>
          </p:spPr>
        </p:sp>
      </p:grpSp>
      <p:grpSp>
        <p:nvGrpSpPr>
          <p:cNvPr id="13" name="Group 13"/>
          <p:cNvGrpSpPr/>
          <p:nvPr/>
        </p:nvGrpSpPr>
        <p:grpSpPr>
          <a:xfrm>
            <a:off x="3994547" y="6931856"/>
            <a:ext cx="1803856" cy="3168936"/>
            <a:chOff x="0" y="0"/>
            <a:chExt cx="1973580" cy="34671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972310" cy="3468370"/>
            </a:xfrm>
            <a:custGeom>
              <a:avLst/>
              <a:gdLst/>
              <a:ahLst/>
              <a:cxnLst/>
              <a:rect l="l" t="t" r="r" b="b"/>
              <a:pathLst>
                <a:path w="1972310" h="3468370">
                  <a:moveTo>
                    <a:pt x="1711960" y="379730"/>
                  </a:moveTo>
                  <a:cubicBezTo>
                    <a:pt x="1621790" y="243840"/>
                    <a:pt x="1510030" y="144780"/>
                    <a:pt x="1377950" y="86360"/>
                  </a:cubicBezTo>
                  <a:cubicBezTo>
                    <a:pt x="1250950" y="29210"/>
                    <a:pt x="1106170" y="0"/>
                    <a:pt x="948690" y="0"/>
                  </a:cubicBezTo>
                  <a:cubicBezTo>
                    <a:pt x="812800" y="0"/>
                    <a:pt x="684530" y="26670"/>
                    <a:pt x="567690" y="80010"/>
                  </a:cubicBezTo>
                  <a:cubicBezTo>
                    <a:pt x="450850" y="133350"/>
                    <a:pt x="349250" y="210820"/>
                    <a:pt x="264160" y="312420"/>
                  </a:cubicBezTo>
                  <a:cubicBezTo>
                    <a:pt x="180340" y="410210"/>
                    <a:pt x="114300" y="530860"/>
                    <a:pt x="68580" y="668020"/>
                  </a:cubicBezTo>
                  <a:cubicBezTo>
                    <a:pt x="22860" y="803910"/>
                    <a:pt x="0" y="957580"/>
                    <a:pt x="0" y="1125220"/>
                  </a:cubicBezTo>
                  <a:cubicBezTo>
                    <a:pt x="0" y="1278890"/>
                    <a:pt x="16510" y="1423670"/>
                    <a:pt x="48260" y="1554480"/>
                  </a:cubicBezTo>
                  <a:cubicBezTo>
                    <a:pt x="81280" y="1689100"/>
                    <a:pt x="133350" y="1808480"/>
                    <a:pt x="201930" y="1910080"/>
                  </a:cubicBezTo>
                  <a:cubicBezTo>
                    <a:pt x="273050" y="2015490"/>
                    <a:pt x="363220" y="2098040"/>
                    <a:pt x="469900" y="2156460"/>
                  </a:cubicBezTo>
                  <a:cubicBezTo>
                    <a:pt x="533400" y="2192020"/>
                    <a:pt x="604520" y="2216150"/>
                    <a:pt x="680720" y="2231390"/>
                  </a:cubicBezTo>
                  <a:lnTo>
                    <a:pt x="80010" y="2231390"/>
                  </a:lnTo>
                  <a:lnTo>
                    <a:pt x="80010" y="2339340"/>
                  </a:lnTo>
                  <a:cubicBezTo>
                    <a:pt x="80010" y="2493010"/>
                    <a:pt x="96520" y="2637790"/>
                    <a:pt x="128270" y="2769870"/>
                  </a:cubicBezTo>
                  <a:cubicBezTo>
                    <a:pt x="161290" y="2907030"/>
                    <a:pt x="215900" y="3027680"/>
                    <a:pt x="288290" y="3130550"/>
                  </a:cubicBezTo>
                  <a:cubicBezTo>
                    <a:pt x="363220" y="3234690"/>
                    <a:pt x="459740" y="3318510"/>
                    <a:pt x="574040" y="3378200"/>
                  </a:cubicBezTo>
                  <a:cubicBezTo>
                    <a:pt x="689610" y="3437890"/>
                    <a:pt x="828040" y="3468370"/>
                    <a:pt x="986790" y="3468370"/>
                  </a:cubicBezTo>
                  <a:cubicBezTo>
                    <a:pt x="1140460" y="3468370"/>
                    <a:pt x="1281430" y="3436620"/>
                    <a:pt x="1405890" y="3373120"/>
                  </a:cubicBezTo>
                  <a:cubicBezTo>
                    <a:pt x="1534160" y="3308350"/>
                    <a:pt x="1642110" y="3197860"/>
                    <a:pt x="1727200" y="3046730"/>
                  </a:cubicBezTo>
                  <a:cubicBezTo>
                    <a:pt x="1808480" y="2903220"/>
                    <a:pt x="1869440" y="2713990"/>
                    <a:pt x="1911350" y="2482850"/>
                  </a:cubicBezTo>
                  <a:cubicBezTo>
                    <a:pt x="1951990" y="2258060"/>
                    <a:pt x="1972310" y="1976120"/>
                    <a:pt x="1972310" y="1644650"/>
                  </a:cubicBezTo>
                  <a:cubicBezTo>
                    <a:pt x="1972310" y="1347470"/>
                    <a:pt x="1950720" y="1094740"/>
                    <a:pt x="1907540" y="891540"/>
                  </a:cubicBezTo>
                  <a:cubicBezTo>
                    <a:pt x="1864360" y="680720"/>
                    <a:pt x="1798320" y="509270"/>
                    <a:pt x="1711960" y="379730"/>
                  </a:cubicBezTo>
                  <a:close/>
                  <a:moveTo>
                    <a:pt x="1159510" y="1333500"/>
                  </a:moveTo>
                  <a:cubicBezTo>
                    <a:pt x="1148080" y="1391920"/>
                    <a:pt x="1132840" y="1441450"/>
                    <a:pt x="1111250" y="1480820"/>
                  </a:cubicBezTo>
                  <a:cubicBezTo>
                    <a:pt x="1093470" y="1515110"/>
                    <a:pt x="1071880" y="1540510"/>
                    <a:pt x="1046480" y="1558290"/>
                  </a:cubicBezTo>
                  <a:cubicBezTo>
                    <a:pt x="1026160" y="1572260"/>
                    <a:pt x="1000760" y="1579880"/>
                    <a:pt x="970280" y="1579880"/>
                  </a:cubicBezTo>
                  <a:cubicBezTo>
                    <a:pt x="939800" y="1579880"/>
                    <a:pt x="914400" y="1572260"/>
                    <a:pt x="894080" y="1558290"/>
                  </a:cubicBezTo>
                  <a:cubicBezTo>
                    <a:pt x="868680" y="1540510"/>
                    <a:pt x="847090" y="1515110"/>
                    <a:pt x="829310" y="1480820"/>
                  </a:cubicBezTo>
                  <a:cubicBezTo>
                    <a:pt x="808990" y="1441450"/>
                    <a:pt x="792480" y="1393190"/>
                    <a:pt x="782320" y="1334770"/>
                  </a:cubicBezTo>
                  <a:cubicBezTo>
                    <a:pt x="770890" y="1272540"/>
                    <a:pt x="765810" y="1201420"/>
                    <a:pt x="765810" y="1123950"/>
                  </a:cubicBezTo>
                  <a:cubicBezTo>
                    <a:pt x="765810" y="1051560"/>
                    <a:pt x="770890" y="984250"/>
                    <a:pt x="782320" y="923290"/>
                  </a:cubicBezTo>
                  <a:cubicBezTo>
                    <a:pt x="792480" y="867410"/>
                    <a:pt x="807720" y="817880"/>
                    <a:pt x="829310" y="779780"/>
                  </a:cubicBezTo>
                  <a:cubicBezTo>
                    <a:pt x="847090" y="745490"/>
                    <a:pt x="868680" y="718820"/>
                    <a:pt x="895350" y="701040"/>
                  </a:cubicBezTo>
                  <a:cubicBezTo>
                    <a:pt x="915670" y="685800"/>
                    <a:pt x="939800" y="679450"/>
                    <a:pt x="970280" y="679450"/>
                  </a:cubicBezTo>
                  <a:cubicBezTo>
                    <a:pt x="1000760" y="679450"/>
                    <a:pt x="1024890" y="687070"/>
                    <a:pt x="1045210" y="701040"/>
                  </a:cubicBezTo>
                  <a:cubicBezTo>
                    <a:pt x="1070610" y="720090"/>
                    <a:pt x="1092200" y="745490"/>
                    <a:pt x="1111250" y="779780"/>
                  </a:cubicBezTo>
                  <a:cubicBezTo>
                    <a:pt x="1131570" y="819150"/>
                    <a:pt x="1148080" y="867410"/>
                    <a:pt x="1159510" y="924560"/>
                  </a:cubicBezTo>
                  <a:cubicBezTo>
                    <a:pt x="1170940" y="985520"/>
                    <a:pt x="1177290" y="1052830"/>
                    <a:pt x="1177290" y="1123950"/>
                  </a:cubicBezTo>
                  <a:cubicBezTo>
                    <a:pt x="1177290" y="1201420"/>
                    <a:pt x="1170940" y="1271270"/>
                    <a:pt x="1159510" y="1333500"/>
                  </a:cubicBezTo>
                  <a:close/>
                  <a:moveTo>
                    <a:pt x="1167130" y="2167890"/>
                  </a:moveTo>
                  <a:cubicBezTo>
                    <a:pt x="1178560" y="2161540"/>
                    <a:pt x="1188720" y="2156460"/>
                    <a:pt x="1200150" y="2148840"/>
                  </a:cubicBezTo>
                  <a:cubicBezTo>
                    <a:pt x="1197610" y="2202180"/>
                    <a:pt x="1196340" y="2251710"/>
                    <a:pt x="1193800" y="2299970"/>
                  </a:cubicBezTo>
                  <a:cubicBezTo>
                    <a:pt x="1187450" y="2416810"/>
                    <a:pt x="1174750" y="2517140"/>
                    <a:pt x="1155700" y="2597150"/>
                  </a:cubicBezTo>
                  <a:cubicBezTo>
                    <a:pt x="1139190" y="2668270"/>
                    <a:pt x="1115060" y="2721610"/>
                    <a:pt x="1087120" y="2755900"/>
                  </a:cubicBezTo>
                  <a:cubicBezTo>
                    <a:pt x="1073150" y="2772410"/>
                    <a:pt x="1054100" y="2788920"/>
                    <a:pt x="1005840" y="2788920"/>
                  </a:cubicBezTo>
                  <a:cubicBezTo>
                    <a:pt x="977900" y="2788920"/>
                    <a:pt x="957580" y="2783840"/>
                    <a:pt x="941070" y="2772410"/>
                  </a:cubicBezTo>
                  <a:cubicBezTo>
                    <a:pt x="922020" y="2758440"/>
                    <a:pt x="905510" y="2736850"/>
                    <a:pt x="892810" y="2706370"/>
                  </a:cubicBezTo>
                  <a:cubicBezTo>
                    <a:pt x="876300" y="2668270"/>
                    <a:pt x="863600" y="2618740"/>
                    <a:pt x="855980" y="2560320"/>
                  </a:cubicBezTo>
                  <a:cubicBezTo>
                    <a:pt x="847090" y="2496820"/>
                    <a:pt x="843280" y="2421890"/>
                    <a:pt x="843280" y="2339340"/>
                  </a:cubicBezTo>
                  <a:lnTo>
                    <a:pt x="843280" y="2246630"/>
                  </a:lnTo>
                  <a:lnTo>
                    <a:pt x="845820" y="2246630"/>
                  </a:lnTo>
                  <a:cubicBezTo>
                    <a:pt x="961390" y="2245360"/>
                    <a:pt x="1070610" y="2218690"/>
                    <a:pt x="1167130" y="2167890"/>
                  </a:cubicBezTo>
                  <a:close/>
                </a:path>
              </a:pathLst>
            </a:custGeom>
            <a:blipFill>
              <a:blip r:embed="rId2"/>
              <a:stretch>
                <a:fillRect l="-219724" t="-218484" r="-693618" b="-5259"/>
              </a:stretch>
            </a:blipFill>
          </p:spPr>
        </p:sp>
      </p:grpSp>
      <p:sp>
        <p:nvSpPr>
          <p:cNvPr id="15" name="TextBox 15"/>
          <p:cNvSpPr txBox="1"/>
          <p:nvPr/>
        </p:nvSpPr>
        <p:spPr>
          <a:xfrm>
            <a:off x="17387116" y="9841278"/>
            <a:ext cx="572091" cy="3119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441"/>
              </a:lnSpc>
            </a:pPr>
            <a:r>
              <a:rPr lang="en-US" sz="12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11 / 11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265976" y="9653117"/>
            <a:ext cx="3843972" cy="447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119"/>
              </a:lnSpc>
            </a:pPr>
            <a:r>
              <a:rPr lang="en-US" sz="2599" b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THANK YOU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7488826" y="156268"/>
            <a:ext cx="10470380" cy="7419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792"/>
              </a:lnSpc>
            </a:pPr>
            <a:r>
              <a:rPr lang="en-US" sz="4826" b="1">
                <a:solidFill>
                  <a:srgbClr val="FFFFFF"/>
                </a:solidFill>
                <a:latin typeface="Garamond Bold"/>
                <a:ea typeface="Garamond Bold"/>
                <a:cs typeface="Garamond Bold"/>
                <a:sym typeface="Garamond Bold"/>
              </a:rPr>
              <a:t>Let's Connect &amp; Build Together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7036653" y="9743665"/>
            <a:ext cx="10350463" cy="409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20"/>
              </a:lnSpc>
            </a:pPr>
            <a:r>
              <a:rPr lang="en-US" sz="2600" b="1" i="1">
                <a:solidFill>
                  <a:srgbClr val="FFFFFF"/>
                </a:solidFill>
                <a:latin typeface="Garamond Bold Italics"/>
                <a:ea typeface="Garamond Bold Italics"/>
                <a:cs typeface="Garamond Bold Italics"/>
                <a:sym typeface="Garamond Bold Italics"/>
              </a:rPr>
              <a:t>"The Taste of Home, Wherever You Are" 		 </a:t>
            </a:r>
            <a:r>
              <a:rPr lang="ar-EG" sz="2600" b="1" i="1">
                <a:solidFill>
                  <a:srgbClr val="FFFFFF"/>
                </a:solidFill>
                <a:latin typeface="Garamond Bold Italics"/>
                <a:ea typeface="Garamond Bold Italics"/>
                <a:cs typeface="Garamond Bold Italics"/>
                <a:sym typeface="Garamond Bold Italics"/>
                <a:rtl/>
              </a:rPr>
              <a:t>طعم البيت، وين ما مشيت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:fade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52</TotalTime>
  <Words>1920</Words>
  <Application>Microsoft Office PowerPoint</Application>
  <PresentationFormat>Custom</PresentationFormat>
  <Paragraphs>293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3" baseType="lpstr">
      <vt:lpstr>Arial</vt:lpstr>
      <vt:lpstr>Calibri (MS) Bold</vt:lpstr>
      <vt:lpstr>Calibri (MS)</vt:lpstr>
      <vt:lpstr>Calibri (MS) Bold Italics</vt:lpstr>
      <vt:lpstr>Garamond Bold Italics</vt:lpstr>
      <vt:lpstr>Impact</vt:lpstr>
      <vt:lpstr>Garamond Bold</vt:lpstr>
      <vt:lpstr>Garamond Italics</vt:lpstr>
      <vt:lpstr>Calibri (MS) Italics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taste of home, wherever you are طعم البيت، وين ما مشيت</dc:title>
  <dc:creator>HP</dc:creator>
  <cp:lastModifiedBy>Salwa Ahmed</cp:lastModifiedBy>
  <cp:revision>3</cp:revision>
  <dcterms:created xsi:type="dcterms:W3CDTF">2006-08-16T00:00:00Z</dcterms:created>
  <dcterms:modified xsi:type="dcterms:W3CDTF">2026-05-22T02:35:43Z</dcterms:modified>
  <dc:identifier>DAHKUlg1_L8</dc:identifier>
</cp:coreProperties>
</file>